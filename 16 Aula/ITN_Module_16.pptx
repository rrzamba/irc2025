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tags/tag12.xml" ContentType="application/vnd.openxmlformats-officedocument.presentationml.tags+xml"/>
  <Override PartName="/ppt/notesSlides/notesSlide33.xml" ContentType="application/vnd.openxmlformats-officedocument.presentationml.notesSlide+xml"/>
  <Override PartName="/ppt/tags/tag13.xml" ContentType="application/vnd.openxmlformats-officedocument.presentationml.tags+xml"/>
  <Override PartName="/ppt/notesSlides/notesSlide34.xml" ContentType="application/vnd.openxmlformats-officedocument.presentationml.notesSlide+xml"/>
  <Override PartName="/ppt/tags/tag14.xml" ContentType="application/vnd.openxmlformats-officedocument.presentationml.tags+xml"/>
  <Override PartName="/ppt/notesSlides/notesSlide35.xml" ContentType="application/vnd.openxmlformats-officedocument.presentationml.notesSlide+xml"/>
  <Override PartName="/ppt/tags/tag15.xml" ContentType="application/vnd.openxmlformats-officedocument.presentationml.tags+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8"/>
  </p:notesMasterIdLst>
  <p:sldIdLst>
    <p:sldId id="876" r:id="rId2"/>
    <p:sldId id="860" r:id="rId3"/>
    <p:sldId id="759" r:id="rId4"/>
    <p:sldId id="1108" r:id="rId5"/>
    <p:sldId id="1119" r:id="rId6"/>
    <p:sldId id="1120" r:id="rId7"/>
    <p:sldId id="1056" r:id="rId8"/>
    <p:sldId id="1097" r:id="rId9"/>
    <p:sldId id="1121" r:id="rId10"/>
    <p:sldId id="1122" r:id="rId11"/>
    <p:sldId id="1123" r:id="rId12"/>
    <p:sldId id="1124" r:id="rId13"/>
    <p:sldId id="1103" r:id="rId14"/>
    <p:sldId id="1115" r:id="rId15"/>
    <p:sldId id="1125" r:id="rId16"/>
    <p:sldId id="1126" r:id="rId17"/>
    <p:sldId id="1127" r:id="rId18"/>
    <p:sldId id="1128" r:id="rId19"/>
    <p:sldId id="1129" r:id="rId20"/>
    <p:sldId id="1130" r:id="rId21"/>
    <p:sldId id="1104" r:id="rId22"/>
    <p:sldId id="1118" r:id="rId23"/>
    <p:sldId id="1131" r:id="rId24"/>
    <p:sldId id="1132" r:id="rId25"/>
    <p:sldId id="1133" r:id="rId26"/>
    <p:sldId id="1134" r:id="rId27"/>
    <p:sldId id="1135" r:id="rId28"/>
    <p:sldId id="1136" r:id="rId29"/>
    <p:sldId id="957" r:id="rId30"/>
    <p:sldId id="958" r:id="rId31"/>
    <p:sldId id="1139" r:id="rId32"/>
    <p:sldId id="1137" r:id="rId33"/>
    <p:sldId id="1138" r:id="rId34"/>
    <p:sldId id="1141" r:id="rId35"/>
    <p:sldId id="874" r:id="rId36"/>
    <p:sldId id="291" r:id="rId37"/>
  </p:sldIdLst>
  <p:sldSz cx="9144000" cy="5143500" type="screen16x9"/>
  <p:notesSz cx="6858000" cy="9144000"/>
  <p:custDataLst>
    <p:tags r:id="rId3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CF3771-9F43-BA7F-2D07-64B9DF8D50E4}" v="7" dt="2020-06-28T23:27:25.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7" autoAdjust="0"/>
    <p:restoredTop sz="75163" autoAdjust="0"/>
  </p:normalViewPr>
  <p:slideViewPr>
    <p:cSldViewPr snapToGrid="0" showGuides="1">
      <p:cViewPr varScale="1">
        <p:scale>
          <a:sx n="85" d="100"/>
          <a:sy n="85" d="100"/>
        </p:scale>
        <p:origin x="1488" y="53"/>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EECF3771-9F43-BA7F-2D07-64B9DF8D50E4}"/>
    <pc:docChg chg="modSld">
      <pc:chgData name="Gilberto Neves Sudre Filho" userId="S::gilberto.neves@faesa.br::d3375f58-c24b-48d7-baef-871d87266953" providerId="AD" clId="Web-{EECF3771-9F43-BA7F-2D07-64B9DF8D50E4}" dt="2020-06-28T23:27:25.030" v="6" actId="1076"/>
      <pc:docMkLst>
        <pc:docMk/>
      </pc:docMkLst>
      <pc:sldChg chg="modSp">
        <pc:chgData name="Gilberto Neves Sudre Filho" userId="S::gilberto.neves@faesa.br::d3375f58-c24b-48d7-baef-871d87266953" providerId="AD" clId="Web-{EECF3771-9F43-BA7F-2D07-64B9DF8D50E4}" dt="2020-06-28T23:26:34.468" v="1" actId="20577"/>
        <pc:sldMkLst>
          <pc:docMk/>
          <pc:sldMk cId="2484421068" sldId="1115"/>
        </pc:sldMkLst>
        <pc:spChg chg="mod">
          <ac:chgData name="Gilberto Neves Sudre Filho" userId="S::gilberto.neves@faesa.br::d3375f58-c24b-48d7-baef-871d87266953" providerId="AD" clId="Web-{EECF3771-9F43-BA7F-2D07-64B9DF8D50E4}" dt="2020-06-28T23:26:34.468" v="1" actId="20577"/>
          <ac:spMkLst>
            <pc:docMk/>
            <pc:sldMk cId="2484421068" sldId="1115"/>
            <ac:spMk id="6" creationId="{29E8BC15-1425-E14F-991C-4BB9051652DA}"/>
          </ac:spMkLst>
        </pc:spChg>
      </pc:sldChg>
      <pc:sldChg chg="modSp">
        <pc:chgData name="Gilberto Neves Sudre Filho" userId="S::gilberto.neves@faesa.br::d3375f58-c24b-48d7-baef-871d87266953" providerId="AD" clId="Web-{EECF3771-9F43-BA7F-2D07-64B9DF8D50E4}" dt="2020-06-28T23:26:42.984" v="3" actId="1076"/>
        <pc:sldMkLst>
          <pc:docMk/>
          <pc:sldMk cId="1474856319" sldId="1125"/>
        </pc:sldMkLst>
        <pc:graphicFrameChg chg="mod">
          <ac:chgData name="Gilberto Neves Sudre Filho" userId="S::gilberto.neves@faesa.br::d3375f58-c24b-48d7-baef-871d87266953" providerId="AD" clId="Web-{EECF3771-9F43-BA7F-2D07-64B9DF8D50E4}" dt="2020-06-28T23:26:42.984" v="3" actId="1076"/>
          <ac:graphicFrameMkLst>
            <pc:docMk/>
            <pc:sldMk cId="1474856319" sldId="1125"/>
            <ac:graphicFrameMk id="7" creationId="{BFDDB9CF-5732-B04F-9B5F-86F9581E9B8C}"/>
          </ac:graphicFrameMkLst>
        </pc:graphicFrameChg>
      </pc:sldChg>
      <pc:sldChg chg="modSp">
        <pc:chgData name="Gilberto Neves Sudre Filho" userId="S::gilberto.neves@faesa.br::d3375f58-c24b-48d7-baef-871d87266953" providerId="AD" clId="Web-{EECF3771-9F43-BA7F-2D07-64B9DF8D50E4}" dt="2020-06-28T23:26:57.327" v="4" actId="20577"/>
        <pc:sldMkLst>
          <pc:docMk/>
          <pc:sldMk cId="3376162931" sldId="1131"/>
        </pc:sldMkLst>
        <pc:spChg chg="mod">
          <ac:chgData name="Gilberto Neves Sudre Filho" userId="S::gilberto.neves@faesa.br::d3375f58-c24b-48d7-baef-871d87266953" providerId="AD" clId="Web-{EECF3771-9F43-BA7F-2D07-64B9DF8D50E4}" dt="2020-06-28T23:26:57.327" v="4" actId="20577"/>
          <ac:spMkLst>
            <pc:docMk/>
            <pc:sldMk cId="3376162931" sldId="1131"/>
            <ac:spMk id="4" creationId="{6F289C2A-4C2A-774B-84F0-F2FF0A7AC295}"/>
          </ac:spMkLst>
        </pc:spChg>
      </pc:sldChg>
      <pc:sldChg chg="modSp">
        <pc:chgData name="Gilberto Neves Sudre Filho" userId="S::gilberto.neves@faesa.br::d3375f58-c24b-48d7-baef-871d87266953" providerId="AD" clId="Web-{EECF3771-9F43-BA7F-2D07-64B9DF8D50E4}" dt="2020-06-28T23:27:06.061" v="5" actId="20577"/>
        <pc:sldMkLst>
          <pc:docMk/>
          <pc:sldMk cId="1392835321" sldId="1132"/>
        </pc:sldMkLst>
        <pc:spChg chg="mod">
          <ac:chgData name="Gilberto Neves Sudre Filho" userId="S::gilberto.neves@faesa.br::d3375f58-c24b-48d7-baef-871d87266953" providerId="AD" clId="Web-{EECF3771-9F43-BA7F-2D07-64B9DF8D50E4}" dt="2020-06-28T23:27:06.061" v="5" actId="20577"/>
          <ac:spMkLst>
            <pc:docMk/>
            <pc:sldMk cId="1392835321" sldId="1132"/>
            <ac:spMk id="5" creationId="{5E5CFD92-7DEA-E848-9393-FBAD0175F59C}"/>
          </ac:spMkLst>
        </pc:spChg>
      </pc:sldChg>
      <pc:sldChg chg="modSp">
        <pc:chgData name="Gilberto Neves Sudre Filho" userId="S::gilberto.neves@faesa.br::d3375f58-c24b-48d7-baef-871d87266953" providerId="AD" clId="Web-{EECF3771-9F43-BA7F-2D07-64B9DF8D50E4}" dt="2020-06-28T23:27:25.030" v="6" actId="1076"/>
        <pc:sldMkLst>
          <pc:docMk/>
          <pc:sldMk cId="2375646353" sldId="1139"/>
        </pc:sldMkLst>
        <pc:spChg chg="mod">
          <ac:chgData name="Gilberto Neves Sudre Filho" userId="S::gilberto.neves@faesa.br::d3375f58-c24b-48d7-baef-871d87266953" providerId="AD" clId="Web-{EECF3771-9F43-BA7F-2D07-64B9DF8D50E4}" dt="2020-06-28T23:27:25.030" v="6" actId="1076"/>
          <ac:spMkLst>
            <pc:docMk/>
            <pc:sldMk cId="2375646353" sldId="1139"/>
            <ac:spMk id="2" creationId="{5A089923-7B5D-9F43-A978-2B3049869B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baseline="0"/>
              <a:t>Introdução às redes v</a:t>
            </a:r>
            <a:r>
              <a:rPr lang="pt-BR" b="0"/>
              <a:t>7.0 (ITN)</a:t>
            </a:r>
          </a:p>
          <a:p>
            <a:pPr rtl="0"/>
            <a:r>
              <a:rPr lang="pt-BR"/>
              <a:t>Módulo 16: Fundamentos de segurança de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16 - Fundamentos de segurança de rede</a:t>
            </a:r>
          </a:p>
          <a:p>
            <a:pPr rtl="0">
              <a:buFontTx/>
              <a:buNone/>
            </a:pPr>
            <a:r>
              <a:rPr lang="pt-BR"/>
              <a:t>16.0.2 - O que vou aprender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16.1 Ameaças à segurança e vulnerabilidades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16.1.1 - Tipos de ameaças</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16.1.2 – Tipos de Vulnerabilidades</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2155378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16.1.3 - Segurança física</a:t>
            </a:r>
          </a:p>
          <a:p>
            <a:pPr rtl="0"/>
            <a:r>
              <a:rPr lang="pt-BR"/>
              <a:t>16.1.4 - Verifique sua compreensão - ameaças e vulnerabilidades de segurança</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187076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16.2 Ataques à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16.2.1 - Tipos de Malware</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16.2.2 – Ataques de Reconhecimento</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1500344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16.2.3 – Ataques de acesso</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325797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16.2.4 — Ataques de negação de serviço</a:t>
            </a:r>
          </a:p>
          <a:p>
            <a:pPr rtl="0"/>
            <a:r>
              <a:rPr lang="pt-BR"/>
              <a:t>16.2.5 - Verifique sua compreensão - ataques de rede</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1752577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16.2.6 - Laboratório - Ameaças à segurança da rede de pesquisa</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991173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16.3 Mitigações de ataque à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16.3.1 - A abordagem de defesa em profundidade</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4225716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16.3.2 Manter backups</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291881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16.3.3  – Backups, atualizações e patches</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795586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16.3.4 – Autenticação, autorização e accounting</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538774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16.3.5 - Firewalls</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487567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16.3.6 — Tipos de firewalls</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28751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16.3.7 - Segurança de endpoints</a:t>
            </a:r>
          </a:p>
          <a:p>
            <a:pPr rtl="0"/>
            <a:r>
              <a:rPr lang="pt-BR"/>
              <a:t>16.3.8 — Verifique o seu entendimento — Mitigação de ataques de rede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432976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16.4 Segurança de dispositivos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16.4.1 — Cisco AutoSecure</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101571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16.4.2 - Senhas</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1705086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16.4.3 - Segurança de Senha Adicional</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343978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16.4.4 – Ativação do SSH</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340388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16.4.5 — Desativar serviços não utilizados</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042522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16.4.6 - Packet Tracer - Configurar Senhas Seguras e SSH</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346494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16.4.7 — Laboratório — Configurar dispositivos de rede com SSH</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873381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16.5 -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16.5.1 — Tracer de Pacotes — Dispositivos de Rede Segura</a:t>
            </a:r>
          </a:p>
        </p:txBody>
      </p:sp>
    </p:spTree>
    <p:extLst>
      <p:ext uri="{BB962C8B-B14F-4D97-AF65-F5344CB8AC3E}">
        <p14:creationId xmlns:p14="http://schemas.microsoft.com/office/powerpoint/2010/main" val="1476824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16.5.2 - Laboratório - Dispositivos de rede seguros</a:t>
            </a:r>
          </a:p>
        </p:txBody>
      </p:sp>
    </p:spTree>
    <p:extLst>
      <p:ext uri="{BB962C8B-B14F-4D97-AF65-F5344CB8AC3E}">
        <p14:creationId xmlns:p14="http://schemas.microsoft.com/office/powerpoint/2010/main" val="37459142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a:t>
            </a:r>
          </a:p>
        </p:txBody>
      </p:sp>
    </p:spTree>
    <p:extLst>
      <p:ext uri="{BB962C8B-B14F-4D97-AF65-F5344CB8AC3E}">
        <p14:creationId xmlns:p14="http://schemas.microsoft.com/office/powerpoint/2010/main" val="1139241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 (continuação)</a:t>
            </a:r>
          </a:p>
          <a:p>
            <a:pPr rtl="0"/>
            <a:r>
              <a:rPr lang="pt-BR" sz="1200"/>
              <a:t>16.5.4 Teste do módulo - Fundamentos de segurança de rede</a:t>
            </a:r>
          </a:p>
        </p:txBody>
      </p:sp>
    </p:spTree>
    <p:extLst>
      <p:ext uri="{BB962C8B-B14F-4D97-AF65-F5344CB8AC3E}">
        <p14:creationId xmlns:p14="http://schemas.microsoft.com/office/powerpoint/2010/main" val="2527915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 (continuação)</a:t>
            </a:r>
          </a:p>
          <a:p>
            <a:pPr rtl="0"/>
            <a:r>
              <a:rPr lang="pt-BR" sz="1200"/>
              <a:t>16.5.4 Teste do módulo - Fundamentos de segurança de rede</a:t>
            </a:r>
          </a:p>
        </p:txBody>
      </p:sp>
    </p:spTree>
    <p:extLst>
      <p:ext uri="{BB962C8B-B14F-4D97-AF65-F5344CB8AC3E}">
        <p14:creationId xmlns:p14="http://schemas.microsoft.com/office/powerpoint/2010/main" val="601181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35</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16: Fundamentos de segurança de rede</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Título do Módulo: </a:t>
            </a:r>
            <a:r>
              <a:rPr lang="pt-BR" sz="1400">
                <a:solidFill>
                  <a:schemeClr val="tx1"/>
                </a:solidFill>
                <a:ea typeface="Calibri" panose="020F0502020204030204" pitchFamily="34" charset="0"/>
                <a:cs typeface="Calibri" panose="020F0502020204030204" pitchFamily="34" charset="0"/>
              </a:rPr>
              <a:t>Fundamentos de segurança de rede</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Objetivo do Módulo</a:t>
            </a:r>
            <a:r>
              <a:rPr lang="pt-BR" sz="1400">
                <a:solidFill>
                  <a:schemeClr val="tx1"/>
                </a:solidFill>
                <a:ea typeface="Calibri" panose="020F0502020204030204" pitchFamily="34" charset="0"/>
                <a:cs typeface="Calibri" panose="020F0502020204030204" pitchFamily="34" charset="0"/>
              </a:rPr>
              <a:t>:</a:t>
            </a:r>
            <a:r>
              <a:rPr lang="pt-BR" sz="1400"/>
              <a:t>Configurar switches e roteadores com recursos de proteção de dispositivo para aumentar a segurança.</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870007306"/>
              </p:ext>
            </p:extLst>
          </p:nvPr>
        </p:nvGraphicFramePr>
        <p:xfrm>
          <a:off x="692252" y="2036966"/>
          <a:ext cx="7756912" cy="2369820"/>
        </p:xfrm>
        <a:graphic>
          <a:graphicData uri="http://schemas.openxmlformats.org/drawingml/2006/table">
            <a:tbl>
              <a:tblPr firstRow="1" bandRow="1">
                <a:tableStyleId>{5C22544A-7EE6-4342-B048-85BDC9FD1C3A}</a:tableStyleId>
              </a:tblPr>
              <a:tblGrid>
                <a:gridCol w="3427672">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pt-BR" b="1">
                          <a:effectLst/>
                        </a:rPr>
                        <a:t>Título do Tópico</a:t>
                      </a:r>
                    </a:p>
                  </a:txBody>
                  <a:tcPr marL="47625" marR="47625" marT="47625" marB="47625" anchor="ctr"/>
                </a:tc>
                <a:tc>
                  <a:txBody>
                    <a:bodyPr/>
                    <a:lstStyle/>
                    <a:p>
                      <a:pPr algn="l" rtl="0" fontAlgn="ctr"/>
                      <a:r>
                        <a:rPr lang="pt-BR" b="1">
                          <a:effectLst/>
                        </a:rPr>
                        <a:t>Objetivo do Tópico</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pt-BR" b="1">
                          <a:solidFill>
                            <a:schemeClr val="bg1"/>
                          </a:solidFill>
                          <a:effectLst/>
                        </a:rPr>
                        <a:t>Ameaças à segurança e vulnerabilidades</a:t>
                      </a:r>
                    </a:p>
                  </a:txBody>
                  <a:tcPr marL="47625" marR="47625" marT="47625" marB="47625" anchor="ctr">
                    <a:solidFill>
                      <a:schemeClr val="accent1"/>
                    </a:solidFill>
                  </a:tcPr>
                </a:tc>
                <a:tc>
                  <a:txBody>
                    <a:bodyPr/>
                    <a:lstStyle/>
                    <a:p>
                      <a:pPr rtl="0" fontAlgn="ctr"/>
                      <a:r>
                        <a:rPr lang="pt-BR" b="0">
                          <a:effectLst/>
                        </a:rPr>
                        <a:t>Explicar a necessidade de medidas básicas de segurança nos dispositivos de rede.</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pt-BR" b="1">
                          <a:solidFill>
                            <a:schemeClr val="bg1"/>
                          </a:solidFill>
                          <a:effectLst/>
                        </a:rPr>
                        <a:t>Ataques à rede</a:t>
                      </a:r>
                    </a:p>
                  </a:txBody>
                  <a:tcPr marL="47625" marR="47625" marT="47625" marB="47625" anchor="ctr">
                    <a:solidFill>
                      <a:schemeClr val="accent1"/>
                    </a:solidFill>
                  </a:tcPr>
                </a:tc>
                <a:tc>
                  <a:txBody>
                    <a:bodyPr/>
                    <a:lstStyle/>
                    <a:p>
                      <a:pPr rtl="0" fontAlgn="ctr"/>
                      <a:r>
                        <a:rPr lang="pt-BR" b="0">
                          <a:effectLst/>
                        </a:rPr>
                        <a:t>Identificar vulnerabilidades de segurança.</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pt-BR" b="1">
                          <a:solidFill>
                            <a:schemeClr val="bg1"/>
                          </a:solidFill>
                          <a:effectLst/>
                        </a:rPr>
                        <a:t>Mitigação de ataques à rede</a:t>
                      </a:r>
                    </a:p>
                  </a:txBody>
                  <a:tcPr marL="47625" marR="47625" marT="47625" marB="47625" anchor="ctr">
                    <a:solidFill>
                      <a:schemeClr val="accent1"/>
                    </a:solidFill>
                  </a:tcPr>
                </a:tc>
                <a:tc>
                  <a:txBody>
                    <a:bodyPr/>
                    <a:lstStyle/>
                    <a:p>
                      <a:pPr rtl="0" fontAlgn="ctr"/>
                      <a:r>
                        <a:rPr lang="pt-BR" b="0">
                          <a:effectLst/>
                        </a:rPr>
                        <a:t>Identificar técnicas gerais de atenuação.</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pt-BR" b="1">
                          <a:solidFill>
                            <a:schemeClr val="bg1"/>
                          </a:solidFill>
                          <a:effectLst/>
                        </a:rPr>
                        <a:t>Segurança de dispositivos</a:t>
                      </a:r>
                    </a:p>
                  </a:txBody>
                  <a:tcPr marL="47625" marR="47625" marT="47625" marB="47625" anchor="ctr">
                    <a:solidFill>
                      <a:schemeClr val="accent1"/>
                    </a:solidFill>
                  </a:tcPr>
                </a:tc>
                <a:tc>
                  <a:txBody>
                    <a:bodyPr/>
                    <a:lstStyle/>
                    <a:p>
                      <a:pPr rtl="0" fontAlgn="ctr"/>
                      <a:r>
                        <a:rPr lang="pt-BR" b="0">
                          <a:effectLst/>
                        </a:rPr>
                        <a:t>Configurar os dispositivos de rede com recursos de proteção de dispositivo para atenuar ameaças à segurança.</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16.1 - Ameaças à segurança e vulnerabilidades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Tipos de ameaças</a:t>
            </a:r>
          </a:p>
        </p:txBody>
      </p:sp>
      <p:sp>
        <p:nvSpPr>
          <p:cNvPr id="4" name="Content Placeholder 3">
            <a:extLst>
              <a:ext uri="{FF2B5EF4-FFF2-40B4-BE49-F238E27FC236}">
                <a16:creationId xmlns:a16="http://schemas.microsoft.com/office/drawing/2014/main" id="{1F842ADA-E5AB-0E45-818A-AEC8B90B410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Ataques em uma rede podem ser devastadores e resultar em perda de tempo e dinheiro devido a danos ou roubo de informações ou ativos importantes. Os invasores podem obter acesso a uma rede através de vulnerabilidades de software, ataques de hardware ou adivinhando o nome de usuário e a senha de alguém. Os invasores que obtêm acesso modificando o software ou explorando vulnerabilidades são chamados de agentes de ameaças.</a:t>
            </a:r>
          </a:p>
          <a:p>
            <a:pPr marL="0" indent="0" algn="l"/>
            <a:endParaRPr lang="en-US" sz="1600" dirty="0">
              <a:solidFill>
                <a:srgbClr val="000000"/>
              </a:solidFill>
            </a:endParaRPr>
          </a:p>
          <a:p>
            <a:pPr marL="0" indent="0" algn="l" rtl="0"/>
            <a:r>
              <a:rPr lang="pt-BR" sz="1600">
                <a:solidFill>
                  <a:srgbClr val="000000"/>
                </a:solidFill>
              </a:rPr>
              <a:t>Depois que o agente da ameaça obtém acesso à rede, quatro tipos de ameaças podem surgir.</a:t>
            </a:r>
          </a:p>
          <a:p>
            <a:pPr marL="415985" lvl="1" indent="-342900" rtl="0">
              <a:buFont typeface="Arial" panose="020B0604020202020204" pitchFamily="34" charset="0"/>
              <a:buChar char="•"/>
            </a:pPr>
            <a:r>
              <a:rPr lang="pt-BR" sz="1600">
                <a:solidFill>
                  <a:srgbClr val="000000"/>
                </a:solidFill>
              </a:rPr>
              <a:t>Roubo de informações</a:t>
            </a:r>
          </a:p>
          <a:p>
            <a:pPr marL="415985" lvl="1" indent="-342900" rtl="0">
              <a:buFont typeface="Arial" panose="020B0604020202020204" pitchFamily="34" charset="0"/>
              <a:buChar char="•"/>
            </a:pPr>
            <a:r>
              <a:rPr lang="pt-BR" sz="1600">
                <a:solidFill>
                  <a:srgbClr val="000000"/>
                </a:solidFill>
              </a:rPr>
              <a:t>Perda e manipulação de dados</a:t>
            </a:r>
          </a:p>
          <a:p>
            <a:pPr marL="415985" lvl="1" indent="-342900" rtl="0">
              <a:buFont typeface="Arial" panose="020B0604020202020204" pitchFamily="34" charset="0"/>
              <a:buChar char="•"/>
            </a:pPr>
            <a:r>
              <a:rPr lang="pt-BR" sz="1600">
                <a:solidFill>
                  <a:srgbClr val="000000"/>
                </a:solidFill>
              </a:rPr>
              <a:t>Roubo de identidade</a:t>
            </a:r>
          </a:p>
          <a:p>
            <a:pPr marL="415985" lvl="1" indent="-342900" rtl="0">
              <a:buFont typeface="Arial" panose="020B0604020202020204" pitchFamily="34" charset="0"/>
              <a:buChar char="•"/>
            </a:pPr>
            <a:r>
              <a:rPr lang="pt-BR" sz="1600">
                <a:solidFill>
                  <a:srgbClr val="000000"/>
                </a:solidFill>
              </a:rPr>
              <a:t>Interrupção do serviço</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Tipos de vulnerabilidades</a:t>
            </a:r>
          </a:p>
        </p:txBody>
      </p:sp>
      <p:sp>
        <p:nvSpPr>
          <p:cNvPr id="5" name="Content Placeholder 4">
            <a:extLst>
              <a:ext uri="{FF2B5EF4-FFF2-40B4-BE49-F238E27FC236}">
                <a16:creationId xmlns:a16="http://schemas.microsoft.com/office/drawing/2014/main" id="{FA41A9FF-8CDE-E44C-BE13-FAE40B97A3EE}"/>
              </a:ext>
            </a:extLst>
          </p:cNvPr>
          <p:cNvSpPr>
            <a:spLocks noGrp="1"/>
          </p:cNvSpPr>
          <p:nvPr>
            <p:ph idx="1"/>
          </p:nvPr>
        </p:nvSpPr>
        <p:spPr>
          <a:xfrm>
            <a:off x="123825" y="638175"/>
            <a:ext cx="8588203" cy="3923165"/>
          </a:xfrm>
        </p:spPr>
        <p:txBody>
          <a:bodyPr/>
          <a:lstStyle/>
          <a:p>
            <a:pPr marL="0" indent="0" algn="l" rtl="0"/>
            <a:r>
              <a:rPr lang="pt-BR" sz="1600">
                <a:solidFill>
                  <a:srgbClr val="000000"/>
                </a:solidFill>
              </a:rPr>
              <a:t>Vulnerabilidade é o grau de fraqueza em uma rede ou dispositivo. Algum grau de vulnerabilidade é inerente a roteadores, switches, desktops, servidores e até dispositivos de segurança. Normalmente, os dispositivo de rede sob ataque são os endpoints como servidores e computadores desktop. </a:t>
            </a:r>
          </a:p>
          <a:p>
            <a:pPr marL="0" indent="0" algn="l" rtl="0"/>
            <a:r>
              <a:rPr lang="pt-BR" sz="1600">
                <a:solidFill>
                  <a:srgbClr val="000000"/>
                </a:solidFill>
              </a:rPr>
              <a:t>Há três tipos principais de vulnerabilidades ou pontos fracos:</a:t>
            </a:r>
          </a:p>
          <a:p>
            <a:pPr marL="342900" indent="-342900" algn="l" rtl="0">
              <a:buFont typeface="Arial" panose="020B0604020202020204" pitchFamily="34" charset="0"/>
              <a:buChar char="•"/>
            </a:pPr>
            <a:r>
              <a:rPr lang="pt-BR" sz="1600">
                <a:solidFill>
                  <a:srgbClr val="000000"/>
                </a:solidFill>
              </a:rPr>
              <a:t>Vulnerabilidades tecnológicas podem incluir fraquezas do Protocolo TCP/IP, Deficiências do Sistema Operacional e Deficiências do Equipamento de Rede.</a:t>
            </a:r>
          </a:p>
          <a:p>
            <a:pPr marL="358835" lvl="1" indent="-285750" rtl="0">
              <a:buFont typeface="Arial" panose="020B0604020202020204" pitchFamily="34" charset="0"/>
              <a:buChar char="•"/>
            </a:pPr>
            <a:r>
              <a:rPr lang="pt-BR" sz="1600">
                <a:solidFill>
                  <a:srgbClr val="000000"/>
                </a:solidFill>
              </a:rPr>
              <a:t>As vulnerabilidades de configuração podem incluir contas de usuário não seguras, contas do sistema com senhas fáceis de adivinhar, serviços de Internet mal configurados, configurações padrão não seguras e equipamentos de rede mal configurados.</a:t>
            </a:r>
          </a:p>
          <a:p>
            <a:pPr marL="358835" lvl="1" indent="-285750" rtl="0">
              <a:buFont typeface="Arial" panose="020B0604020202020204" pitchFamily="34" charset="0"/>
              <a:buChar char="•"/>
            </a:pPr>
            <a:r>
              <a:rPr lang="pt-BR" sz="1600">
                <a:solidFill>
                  <a:srgbClr val="000000"/>
                </a:solidFill>
              </a:rPr>
              <a:t>As vulnerabilidades da Política de Segurança podem incluir a falta de uma política de segurança escrita, política, falta de continuidade de autenticação, controlos de acesso lógicos não aplicados, instalação de software e hardware e alterações que não seguem a política e um plano de recuperação de desastres inexistente.</a:t>
            </a:r>
          </a:p>
          <a:p>
            <a:pPr marL="73085" lvl="1" indent="0" rtl="0">
              <a:buNone/>
            </a:pPr>
            <a:r>
              <a:rPr lang="pt-BR" sz="1600">
                <a:solidFill>
                  <a:srgbClr val="000000"/>
                </a:solidFill>
              </a:rPr>
              <a:t>Todas essas três fontes de vulnerabilidades podem deixar uma rede ou dispositivo aberto a vários ataques, incluindo ataques de código malicioso e ataques de rede.</a:t>
            </a:r>
          </a:p>
          <a:p>
            <a:pPr marL="73085" lvl="1" indent="0">
              <a:buNone/>
            </a:pPr>
            <a:endParaRPr lang="en-US" dirty="0">
              <a:solidFill>
                <a:srgbClr val="000000"/>
              </a:solidFill>
            </a:endParaRPr>
          </a:p>
        </p:txBody>
      </p:sp>
    </p:spTree>
    <p:extLst>
      <p:ext uri="{BB962C8B-B14F-4D97-AF65-F5344CB8AC3E}">
        <p14:creationId xmlns:p14="http://schemas.microsoft.com/office/powerpoint/2010/main" val="152871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Segurança física</a:t>
            </a:r>
          </a:p>
        </p:txBody>
      </p:sp>
      <p:sp>
        <p:nvSpPr>
          <p:cNvPr id="4" name="Content Placeholder 3">
            <a:extLst>
              <a:ext uri="{FF2B5EF4-FFF2-40B4-BE49-F238E27FC236}">
                <a16:creationId xmlns:a16="http://schemas.microsoft.com/office/drawing/2014/main" id="{A94E9617-78ED-F348-B02A-ACCF736F03DA}"/>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Se os recursos de rede puderem ser fisicamente comprometidos, um agente de ameaça poderá negar o uso de recursos de rede. As quatro classes de ameaças físicas são as seguintes:</a:t>
            </a:r>
          </a:p>
          <a:p>
            <a:pPr marL="415985" lvl="1" indent="-342900" rtl="0">
              <a:buFont typeface="Arial" panose="020B0604020202020204" pitchFamily="34" charset="0"/>
              <a:buChar char="•"/>
            </a:pPr>
            <a:r>
              <a:rPr lang="pt-BR" sz="1600" b="1">
                <a:solidFill>
                  <a:srgbClr val="000000"/>
                </a:solidFill>
              </a:rPr>
              <a:t>Ameaças de hardware -</a:t>
            </a:r>
            <a:r>
              <a:rPr lang="pt-BR" sz="1600">
                <a:solidFill>
                  <a:srgbClr val="000000"/>
                </a:solidFill>
              </a:rPr>
              <a:t> Isso inclui danos físicos a servidores, roteadores, comutadores, instalações de cabeamento e estações de trabalho.</a:t>
            </a:r>
          </a:p>
          <a:p>
            <a:pPr marL="415985" lvl="1" indent="-342900" rtl="0">
              <a:buFont typeface="Arial" panose="020B0604020202020204" pitchFamily="34" charset="0"/>
              <a:buChar char="•"/>
            </a:pPr>
            <a:r>
              <a:rPr lang="pt-BR" sz="1600" b="1">
                <a:solidFill>
                  <a:srgbClr val="000000"/>
                </a:solidFill>
              </a:rPr>
              <a:t>Ameaças ambientais -</a:t>
            </a:r>
            <a:r>
              <a:rPr lang="pt-BR" sz="1600">
                <a:solidFill>
                  <a:srgbClr val="000000"/>
                </a:solidFill>
              </a:rPr>
              <a:t> Isso inclui extremos de temperatura (muito quente ou muito frio) ou extremos de umidade (muito úmido ou muito seco).</a:t>
            </a:r>
          </a:p>
          <a:p>
            <a:pPr marL="415985" lvl="1" indent="-342900" rtl="0">
              <a:buFont typeface="Arial" panose="020B0604020202020204" pitchFamily="34" charset="0"/>
              <a:buChar char="•"/>
            </a:pPr>
            <a:r>
              <a:rPr lang="pt-BR" sz="1600" b="1">
                <a:solidFill>
                  <a:srgbClr val="000000"/>
                </a:solidFill>
              </a:rPr>
              <a:t>Ameaças elétricas -</a:t>
            </a:r>
            <a:r>
              <a:rPr lang="pt-BR" sz="1600">
                <a:solidFill>
                  <a:srgbClr val="000000"/>
                </a:solidFill>
              </a:rPr>
              <a:t> Isso inclui picos de tensão, tensão de alimentação insuficiente (quedas de energia), energia não condicionada (ruído) e perda total de energia.</a:t>
            </a:r>
          </a:p>
          <a:p>
            <a:pPr marL="415985" lvl="1" indent="-342900" rtl="0">
              <a:buFont typeface="Arial" panose="020B0604020202020204" pitchFamily="34" charset="0"/>
              <a:buChar char="•"/>
            </a:pPr>
            <a:r>
              <a:rPr lang="pt-BR" sz="1600" b="1">
                <a:solidFill>
                  <a:srgbClr val="000000"/>
                </a:solidFill>
              </a:rPr>
              <a:t>Ameaças à manutenção -</a:t>
            </a:r>
            <a:r>
              <a:rPr lang="pt-BR" sz="1600">
                <a:solidFill>
                  <a:srgbClr val="000000"/>
                </a:solidFill>
              </a:rPr>
              <a:t> Isso inclui o uso dos principais componentes elétricos (descarga eletrostática), falta de peças de reposição críticas, cabeamento incorreto e rotulagem inadequada.</a:t>
            </a:r>
          </a:p>
          <a:p>
            <a:pPr marL="0" indent="0" algn="l"/>
            <a:endParaRPr lang="en-US" sz="1600" dirty="0">
              <a:solidFill>
                <a:srgbClr val="000000"/>
              </a:solidFill>
            </a:endParaRPr>
          </a:p>
          <a:p>
            <a:pPr marL="0" indent="0" algn="l" rtl="0"/>
            <a:r>
              <a:rPr lang="pt-BR" sz="1600">
                <a:solidFill>
                  <a:srgbClr val="000000"/>
                </a:solidFill>
              </a:rPr>
              <a:t>Um bom plano de segurança física deve ser criado e implementado para resolver esses problemas. </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1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16.2 Ataques à Rede</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Tipos de malware</a:t>
            </a:r>
          </a:p>
        </p:txBody>
      </p:sp>
      <p:sp>
        <p:nvSpPr>
          <p:cNvPr id="7" name="Content Placeholder 6">
            <a:extLst>
              <a:ext uri="{FF2B5EF4-FFF2-40B4-BE49-F238E27FC236}">
                <a16:creationId xmlns:a16="http://schemas.microsoft.com/office/drawing/2014/main" id="{92ACB52D-A827-B043-A26A-2C368D806F8E}"/>
              </a:ext>
            </a:extLst>
          </p:cNvPr>
          <p:cNvSpPr>
            <a:spLocks noGrp="1"/>
          </p:cNvSpPr>
          <p:nvPr>
            <p:ph idx="1"/>
          </p:nvPr>
        </p:nvSpPr>
        <p:spPr>
          <a:xfrm>
            <a:off x="304800" y="763736"/>
            <a:ext cx="8449919" cy="3657998"/>
          </a:xfrm>
        </p:spPr>
        <p:txBody>
          <a:bodyPr/>
          <a:lstStyle/>
          <a:p>
            <a:pPr marL="0" indent="0" algn="l" rtl="0"/>
            <a:r>
              <a:rPr lang="pt-BR" sz="1600">
                <a:solidFill>
                  <a:srgbClr val="000000"/>
                </a:solidFill>
              </a:rPr>
              <a:t>Malware é a abreviação de software malicioso. É um código ou software projetado especificamente para danificar, interromper, roubar ou infligir ações “ruins” ou ilegítimas em dados, hosts ou redes. Os seguintes tipos de malware são:</a:t>
            </a:r>
          </a:p>
          <a:p>
            <a:pPr marL="415985" lvl="1" indent="-342900" rtl="0">
              <a:buFont typeface="Arial" panose="020B0604020202020204" pitchFamily="34" charset="0"/>
              <a:buChar char="•"/>
            </a:pPr>
            <a:r>
              <a:rPr lang="pt-BR" sz="1600" b="1">
                <a:solidFill>
                  <a:srgbClr val="000000"/>
                </a:solidFill>
              </a:rPr>
              <a:t>Vírus -</a:t>
            </a:r>
            <a:r>
              <a:rPr lang="pt-BR" sz="1600">
                <a:solidFill>
                  <a:srgbClr val="000000"/>
                </a:solidFill>
              </a:rPr>
              <a:t> Um vírus de computador é um tipo de malware que se propaga inserindo uma cópia de si mesmo e fazendo parte de outro programa. Ele se dissemina de um computador para outro, deixando infecções por onde passa.</a:t>
            </a:r>
            <a:r>
              <a:rPr lang="pt-BR" sz="1600" b="1">
                <a:solidFill>
                  <a:srgbClr val="000000"/>
                </a:solidFill>
              </a:rPr>
              <a:t> </a:t>
            </a:r>
          </a:p>
          <a:p>
            <a:pPr marL="415985" lvl="1" indent="-342900" rtl="0">
              <a:buFont typeface="Arial" panose="020B0604020202020204" pitchFamily="34" charset="0"/>
              <a:buChar char="•"/>
            </a:pPr>
            <a:r>
              <a:rPr lang="pt-BR" sz="1600" b="1">
                <a:solidFill>
                  <a:srgbClr val="000000"/>
                </a:solidFill>
              </a:rPr>
              <a:t>Worms - </a:t>
            </a:r>
            <a:r>
              <a:rPr lang="pt-BR" sz="1600">
                <a:solidFill>
                  <a:srgbClr val="000000"/>
                </a:solidFill>
              </a:rPr>
              <a:t>os worms de computador são semelhantes aos vírus, pois replicam cópias funcionais deles mesmos e podem causar o mesmo tipo de dano. Ao contrário dos vírus, que necessitam que um arquivo infectado se espalhe, worms são softwares independentes e não necessitam de um programa hospedeiro ou ajuda humana para se propagarem.</a:t>
            </a:r>
            <a:r>
              <a:rPr lang="pt-BR" sz="1600" b="1">
                <a:solidFill>
                  <a:srgbClr val="000000"/>
                </a:solidFill>
              </a:rPr>
              <a:t> </a:t>
            </a:r>
          </a:p>
          <a:p>
            <a:pPr marL="415985" lvl="1" indent="-342900" rtl="0">
              <a:buFont typeface="Arial" panose="020B0604020202020204" pitchFamily="34" charset="0"/>
              <a:buChar char="•"/>
            </a:pPr>
            <a:r>
              <a:rPr lang="pt-BR" sz="1600" b="1">
                <a:solidFill>
                  <a:srgbClr val="000000"/>
                </a:solidFill>
              </a:rPr>
              <a:t>Cavalos de Tróia - </a:t>
            </a:r>
            <a:r>
              <a:rPr lang="pt-BR" sz="1600">
                <a:solidFill>
                  <a:srgbClr val="000000"/>
                </a:solidFill>
              </a:rPr>
              <a:t>É um software prejudicial que parece legítimo. Ao contrário de vírus e worms, os cavalos de Tróia não se reproduzem infectando outros arquivos. Eles se auto-replicam. Os cavalos de Tróia devem se espalhar pela interação do usuário, como abrir um anexo de email ou fazer o download e executar um arquivo da Internet.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reconhecimento</a:t>
            </a:r>
          </a:p>
        </p:txBody>
      </p:sp>
      <p:sp>
        <p:nvSpPr>
          <p:cNvPr id="4" name="Content Placeholder 3">
            <a:extLst>
              <a:ext uri="{FF2B5EF4-FFF2-40B4-BE49-F238E27FC236}">
                <a16:creationId xmlns:a16="http://schemas.microsoft.com/office/drawing/2014/main" id="{E067B553-BAE5-144D-9EB3-2483E33A15F5}"/>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Além de ataques de códigos mal-intencionados, também é possível que as redes se tornem vítimas de vários ataques à rede. Os ataques à rede podem ser classificados em três categorias principais:</a:t>
            </a:r>
          </a:p>
          <a:p>
            <a:pPr marL="415985" lvl="1" indent="-342900" rtl="0">
              <a:buFont typeface="Arial" panose="020B0604020202020204" pitchFamily="34" charset="0"/>
              <a:buChar char="•"/>
            </a:pPr>
            <a:r>
              <a:rPr lang="pt-BR" b="1">
                <a:solidFill>
                  <a:srgbClr val="000000"/>
                </a:solidFill>
              </a:rPr>
              <a:t>Ataques de reconhecimento </a:t>
            </a:r>
            <a:r>
              <a:rPr lang="pt-BR">
                <a:solidFill>
                  <a:srgbClr val="000000"/>
                </a:solidFill>
              </a:rPr>
              <a:t>– a detecção e o mapeamento de sistemas, serviços ou vulnerabilidades</a:t>
            </a:r>
          </a:p>
          <a:p>
            <a:pPr marL="415985" lvl="1" indent="-342900" rtl="0">
              <a:buFont typeface="Arial" panose="020B0604020202020204" pitchFamily="34" charset="0"/>
              <a:buChar char="•"/>
            </a:pPr>
            <a:r>
              <a:rPr lang="pt-BR" b="1">
                <a:solidFill>
                  <a:srgbClr val="000000"/>
                </a:solidFill>
              </a:rPr>
              <a:t>Ataques de acesso</a:t>
            </a:r>
            <a:r>
              <a:rPr lang="pt-BR">
                <a:solidFill>
                  <a:srgbClr val="000000"/>
                </a:solidFill>
              </a:rPr>
              <a:t> – a manipulação não autorizada de dados, do acesso ao sistema ou de privilégios do usuário</a:t>
            </a:r>
          </a:p>
          <a:p>
            <a:pPr marL="415985" lvl="1" indent="-342900" rtl="0">
              <a:buFont typeface="Arial" panose="020B0604020202020204" pitchFamily="34" charset="0"/>
              <a:buChar char="•"/>
            </a:pPr>
            <a:r>
              <a:rPr lang="pt-BR" b="1">
                <a:solidFill>
                  <a:srgbClr val="000000"/>
                </a:solidFill>
              </a:rPr>
              <a:t>Negação de serviço </a:t>
            </a:r>
            <a:r>
              <a:rPr lang="pt-BR">
                <a:solidFill>
                  <a:srgbClr val="000000"/>
                </a:solidFill>
              </a:rPr>
              <a:t>- A desativação ou corrupção de redes, sistemas ou serviços.</a:t>
            </a:r>
          </a:p>
          <a:p>
            <a:pPr marL="0" indent="0" algn="l"/>
            <a:endParaRPr lang="en-US" sz="1600" dirty="0">
              <a:solidFill>
                <a:srgbClr val="000000"/>
              </a:solidFill>
            </a:endParaRPr>
          </a:p>
          <a:p>
            <a:pPr marL="0" indent="0" algn="l" rtl="0"/>
            <a:r>
              <a:rPr lang="pt-BR" sz="1600">
                <a:solidFill>
                  <a:srgbClr val="000000"/>
                </a:solidFill>
              </a:rPr>
              <a:t>Para ataques de reconhecimento, os atores externos de ameaças podem usar ferramentas da Internet, como as </a:t>
            </a:r>
            <a:r>
              <a:rPr lang="pt-BR" sz="1600" b="1">
                <a:solidFill>
                  <a:srgbClr val="000000"/>
                </a:solidFill>
              </a:rPr>
              <a:t>nslookup</a:t>
            </a:r>
            <a:r>
              <a:rPr lang="pt-BR" sz="1600">
                <a:solidFill>
                  <a:srgbClr val="000000"/>
                </a:solidFill>
              </a:rPr>
              <a:t> e </a:t>
            </a:r>
            <a:r>
              <a:rPr lang="pt-BR" sz="1600" b="1">
                <a:solidFill>
                  <a:srgbClr val="000000"/>
                </a:solidFill>
              </a:rPr>
              <a:t>whois</a:t>
            </a:r>
            <a:r>
              <a:rPr lang="pt-BR" sz="1600">
                <a:solidFill>
                  <a:srgbClr val="000000"/>
                </a:solidFill>
              </a:rPr>
              <a:t>, para determinar facilmente o espaço de endereço IP atribuído a uma determinada corporação ou entidade. Após a determinação do espaço de endereço IP, um agente de ameaça pode executar ping nos endereços IP disponíveis ao público para identificar os endereços que estão ativos. </a:t>
            </a:r>
          </a:p>
        </p:txBody>
      </p:sp>
    </p:spTree>
    <p:extLst>
      <p:ext uri="{BB962C8B-B14F-4D97-AF65-F5344CB8AC3E}">
        <p14:creationId xmlns:p14="http://schemas.microsoft.com/office/powerpoint/2010/main" val="157786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acesso</a:t>
            </a:r>
          </a:p>
        </p:txBody>
      </p:sp>
      <p:sp>
        <p:nvSpPr>
          <p:cNvPr id="5" name="Content Placeholder 4">
            <a:extLst>
              <a:ext uri="{FF2B5EF4-FFF2-40B4-BE49-F238E27FC236}">
                <a16:creationId xmlns:a16="http://schemas.microsoft.com/office/drawing/2014/main" id="{B9B45427-F5AC-4D45-8D34-7EA325594FCF}"/>
              </a:ext>
            </a:extLst>
          </p:cNvPr>
          <p:cNvSpPr>
            <a:spLocks noGrp="1"/>
          </p:cNvSpPr>
          <p:nvPr>
            <p:ph idx="1"/>
          </p:nvPr>
        </p:nvSpPr>
        <p:spPr>
          <a:xfrm>
            <a:off x="474662" y="790832"/>
            <a:ext cx="8280057" cy="3630902"/>
          </a:xfrm>
        </p:spPr>
        <p:txBody>
          <a:bodyPr/>
          <a:lstStyle/>
          <a:p>
            <a:pPr marL="0" indent="0" algn="l" rtl="0"/>
            <a:r>
              <a:rPr lang="pt-BR" sz="1600">
                <a:solidFill>
                  <a:srgbClr val="000000"/>
                </a:solidFill>
              </a:rPr>
              <a:t>Os ataques de acesso exploram vulnerabilidades conhecidas em serviços de autenticação, serviços de FTP e serviços da Web para obter acesso a contas da Web, bancos de dados confidenciais e outras informações confidenciais. </a:t>
            </a:r>
          </a:p>
          <a:p>
            <a:pPr marL="0" indent="0" algn="l"/>
            <a:endParaRPr lang="en-US" sz="1600" dirty="0">
              <a:solidFill>
                <a:srgbClr val="000000"/>
              </a:solidFill>
            </a:endParaRPr>
          </a:p>
          <a:p>
            <a:pPr marL="0" indent="0" algn="l" rtl="0"/>
            <a:r>
              <a:rPr lang="pt-BR" sz="1600">
                <a:solidFill>
                  <a:srgbClr val="000000"/>
                </a:solidFill>
              </a:rPr>
              <a:t>Os ataques de acesso podem ser classificados em quatro tipos: </a:t>
            </a:r>
          </a:p>
          <a:p>
            <a:pPr marL="415985" lvl="1" indent="-342900" rtl="0">
              <a:buFont typeface="Arial" panose="020B0604020202020204" pitchFamily="34" charset="0"/>
              <a:buChar char="•"/>
            </a:pPr>
            <a:r>
              <a:rPr lang="pt-BR" sz="1600" b="1">
                <a:solidFill>
                  <a:srgbClr val="000000"/>
                </a:solidFill>
              </a:rPr>
              <a:t>Ataques de senha -</a:t>
            </a:r>
            <a:r>
              <a:rPr lang="pt-BR" sz="1600">
                <a:solidFill>
                  <a:srgbClr val="000000"/>
                </a:solidFill>
              </a:rPr>
              <a:t> Implementados usando força bruta, cavalo de Tróia e farejadores de pacotes</a:t>
            </a:r>
          </a:p>
          <a:p>
            <a:pPr marL="415985" lvl="1" indent="-342900" rtl="0">
              <a:buFont typeface="Arial" panose="020B0604020202020204" pitchFamily="34" charset="0"/>
              <a:buChar char="•"/>
            </a:pPr>
            <a:r>
              <a:rPr lang="pt-BR" sz="1600" b="1">
                <a:solidFill>
                  <a:srgbClr val="000000"/>
                </a:solidFill>
              </a:rPr>
              <a:t>Exploração de confiança - </a:t>
            </a:r>
            <a:r>
              <a:rPr lang="pt-BR" sz="1600">
                <a:solidFill>
                  <a:srgbClr val="000000"/>
                </a:solidFill>
              </a:rPr>
              <a:t>Um agente de ameaça usa privilégios não autorizados para obter acesso a um sistema, possivelmente comprometendo o alvo.</a:t>
            </a:r>
          </a:p>
          <a:p>
            <a:pPr marL="415985" lvl="1" indent="-342900" rtl="0">
              <a:buFont typeface="Arial" panose="020B0604020202020204" pitchFamily="34" charset="0"/>
              <a:buChar char="•"/>
            </a:pPr>
            <a:r>
              <a:rPr lang="pt-BR" sz="1600" b="1">
                <a:solidFill>
                  <a:srgbClr val="000000"/>
                </a:solidFill>
              </a:rPr>
              <a:t>Redirecionamento de porta</a:t>
            </a:r>
            <a:r>
              <a:rPr lang="pt-BR" sz="1600">
                <a:solidFill>
                  <a:srgbClr val="000000"/>
                </a:solidFill>
              </a:rPr>
              <a:t>: - Um agente de ameaça usa um sistema comprometido como base para ataques contra outros alvos. Por exemplo, um ator de ameaça usando SSH (porta 22) para conectar-se a um host comprometido A. O host A é confiável pelo host B e, portanto, o ator de ameaça pode usar o Telnet (porta 23) para acessá-lo.</a:t>
            </a:r>
          </a:p>
          <a:p>
            <a:pPr marL="415985" lvl="1" indent="-342900" rtl="0">
              <a:buFont typeface="Arial" panose="020B0604020202020204" pitchFamily="34" charset="0"/>
              <a:buChar char="•"/>
            </a:pPr>
            <a:r>
              <a:rPr lang="pt-BR" sz="1600" b="1">
                <a:solidFill>
                  <a:srgbClr val="000000"/>
                </a:solidFill>
              </a:rPr>
              <a:t>Man-in-the-middle -</a:t>
            </a:r>
            <a:r>
              <a:rPr lang="pt-BR" sz="1600">
                <a:solidFill>
                  <a:srgbClr val="000000"/>
                </a:solidFill>
              </a:rPr>
              <a:t> O agente da ameaça está posicionado entre duas entidades legítimas para ler ou modificar os dados que passam entre as duas partes.</a:t>
            </a:r>
          </a:p>
        </p:txBody>
      </p:sp>
    </p:spTree>
    <p:extLst>
      <p:ext uri="{BB962C8B-B14F-4D97-AF65-F5344CB8AC3E}">
        <p14:creationId xmlns:p14="http://schemas.microsoft.com/office/powerpoint/2010/main" val="13030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negação de serviço</a:t>
            </a:r>
          </a:p>
        </p:txBody>
      </p:sp>
      <p:sp>
        <p:nvSpPr>
          <p:cNvPr id="4" name="Content Placeholder 3">
            <a:extLst>
              <a:ext uri="{FF2B5EF4-FFF2-40B4-BE49-F238E27FC236}">
                <a16:creationId xmlns:a16="http://schemas.microsoft.com/office/drawing/2014/main" id="{FF471778-F5B8-0740-BF78-E8482928F75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Os ataques de negação de serviço (DoS) são a forma de ataque mais divulgada e uma das mais difíceis de eliminar. No entanto, devido à facilidade de implementação e danos potencialmente significativos, os ataques de negação de serviço merecem atenção especial dos administradores de segurança.</a:t>
            </a:r>
          </a:p>
          <a:p>
            <a:pPr marL="342900" indent="-342900" algn="l" rtl="0">
              <a:buFont typeface="Arial" panose="020B0604020202020204" pitchFamily="34" charset="0"/>
              <a:buChar char="•"/>
            </a:pPr>
            <a:r>
              <a:rPr lang="pt-BR" sz="1600">
                <a:solidFill>
                  <a:srgbClr val="000000"/>
                </a:solidFill>
              </a:rPr>
              <a:t>Os ataques DoS assumem muitas formas. E, por fim, impedem que pessoas autorizadas usem um serviço ao consumir recursos do sistema. Para prevenir ataques (DoS) é importante manter em dia as mais recentes atualizações de segurança para sistemas operacionais e aplicações.</a:t>
            </a:r>
          </a:p>
          <a:p>
            <a:pPr marL="342900" indent="-342900" algn="l" rtl="0">
              <a:buFont typeface="Arial" panose="020B0604020202020204" pitchFamily="34" charset="0"/>
              <a:buChar char="•"/>
            </a:pPr>
            <a:r>
              <a:rPr lang="pt-BR" sz="1600">
                <a:solidFill>
                  <a:srgbClr val="000000"/>
                </a:solidFill>
              </a:rPr>
              <a:t>Os ataques de DoS são um grande risco, porque interrompem a comunicação e causam perda significativa de tempo e dinheiro. Esses ataques são relativamente simples de conduzir, mesmo por um invasor não capacitado.</a:t>
            </a:r>
          </a:p>
          <a:p>
            <a:pPr marL="342900" indent="-342900" algn="l" rtl="0">
              <a:buFont typeface="Arial" panose="020B0604020202020204" pitchFamily="34" charset="0"/>
              <a:buChar char="•"/>
            </a:pPr>
            <a:r>
              <a:rPr lang="pt-BR" sz="1600">
                <a:solidFill>
                  <a:srgbClr val="000000"/>
                </a:solidFill>
              </a:rPr>
              <a:t>Um DDoS é semelhante a um ataque de DoS, mas é originado de várias fontes coordenadas. Por exemplo, um agente de ameaça cria uma rede de hosts infectados, conhecidos como zumbis. Uma rede de zumbis é chamada de botnet. O ator ameaça usa um programa de comando e controle (CNC) para instruir o botnet de zumbis para realizar um ataque DDoS.</a:t>
            </a:r>
          </a:p>
        </p:txBody>
      </p:sp>
    </p:spTree>
    <p:extLst>
      <p:ext uri="{BB962C8B-B14F-4D97-AF65-F5344CB8AC3E}">
        <p14:creationId xmlns:p14="http://schemas.microsoft.com/office/powerpoint/2010/main" val="3825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Laboratório – Pesquisar ameaças à segurança da rede</a:t>
            </a:r>
          </a:p>
        </p:txBody>
      </p:sp>
      <p:sp>
        <p:nvSpPr>
          <p:cNvPr id="5" name="Content Placeholder 4">
            <a:extLst>
              <a:ext uri="{FF2B5EF4-FFF2-40B4-BE49-F238E27FC236}">
                <a16:creationId xmlns:a16="http://schemas.microsoft.com/office/drawing/2014/main" id="{A5B1B16B-774E-DB43-B28A-A4E5C04BC29D}"/>
              </a:ext>
            </a:extLst>
          </p:cNvPr>
          <p:cNvSpPr>
            <a:spLocks noGrp="1"/>
          </p:cNvSpPr>
          <p:nvPr>
            <p:ph idx="1"/>
          </p:nvPr>
        </p:nvSpPr>
        <p:spPr>
          <a:xfrm>
            <a:off x="474662" y="763736"/>
            <a:ext cx="8280057" cy="3657998"/>
          </a:xfrm>
        </p:spPr>
        <p:txBody>
          <a:bodyPr/>
          <a:lstStyle/>
          <a:p>
            <a:pPr algn="l" rtl="0"/>
            <a:r>
              <a:rPr lang="pt-BR">
                <a:solidFill>
                  <a:srgbClr val="000000"/>
                </a:solidFill>
              </a:rPr>
              <a:t>Nesse laboratório, você completará os seguintes objetivos:</a:t>
            </a:r>
          </a:p>
          <a:p>
            <a:pPr lvl="1" rtl="0"/>
            <a:r>
              <a:rPr lang="pt-BR" sz="1600">
                <a:solidFill>
                  <a:srgbClr val="000000"/>
                </a:solidFill>
              </a:rPr>
              <a:t>Parte 1: Explorar o Site do SANS</a:t>
            </a:r>
          </a:p>
          <a:p>
            <a:pPr lvl="1" rtl="0"/>
            <a:r>
              <a:rPr lang="pt-BR" sz="1600">
                <a:solidFill>
                  <a:srgbClr val="000000"/>
                </a:solidFill>
              </a:rPr>
              <a:t>Parte 2: Identificar as Ameaças à Segurança de Redes Recentes</a:t>
            </a:r>
          </a:p>
          <a:p>
            <a:pPr lvl="1" rtl="0"/>
            <a:r>
              <a:rPr lang="pt-BR" sz="1600">
                <a:solidFill>
                  <a:srgbClr val="000000"/>
                </a:solidFill>
              </a:rPr>
              <a:t>Parte 3: Detalhar uma Ameaça à Segurança de Redes Específica</a:t>
            </a:r>
          </a:p>
          <a:p>
            <a:pPr algn="l"/>
            <a:endParaRPr lang="en-US" dirty="0">
              <a:solidFill>
                <a:srgbClr val="000000"/>
              </a:solidFill>
            </a:endParaRPr>
          </a:p>
        </p:txBody>
      </p:sp>
    </p:spTree>
    <p:extLst>
      <p:ext uri="{BB962C8B-B14F-4D97-AF65-F5344CB8AC3E}">
        <p14:creationId xmlns:p14="http://schemas.microsoft.com/office/powerpoint/2010/main" val="126965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16.3 Mitigações de ataque à rede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Mitigação de ataques de rede</a:t>
            </a:r>
            <a:br>
              <a:rPr lang="en-US" dirty="0"/>
            </a:br>
            <a:r>
              <a:rPr lang="pt-BR" sz="2400"/>
              <a:t>A abordagem de defesa em profundidade</a:t>
            </a:r>
          </a:p>
        </p:txBody>
      </p:sp>
      <p:sp>
        <p:nvSpPr>
          <p:cNvPr id="6" name="Rectangle 5">
            <a:extLst>
              <a:ext uri="{FF2B5EF4-FFF2-40B4-BE49-F238E27FC236}">
                <a16:creationId xmlns:a16="http://schemas.microsoft.com/office/drawing/2014/main" id="{29E8BC15-1425-E14F-991C-4BB9051652DA}"/>
              </a:ext>
            </a:extLst>
          </p:cNvPr>
          <p:cNvSpPr/>
          <p:nvPr/>
        </p:nvSpPr>
        <p:spPr>
          <a:xfrm>
            <a:off x="228391" y="763736"/>
            <a:ext cx="4491890" cy="3754874"/>
          </a:xfrm>
          <a:prstGeom prst="rect">
            <a:avLst/>
          </a:prstGeom>
        </p:spPr>
        <p:txBody>
          <a:bodyPr wrap="square" anchor="t">
            <a:spAutoFit/>
          </a:bodyPr>
          <a:lstStyle/>
          <a:p>
            <a:pPr rtl="0"/>
            <a:r>
              <a:rPr lang="pt-BR" sz="1400">
                <a:latin typeface="Arial"/>
                <a:ea typeface="ＭＳ Ｐゴシック"/>
                <a:cs typeface="Arial"/>
              </a:rPr>
              <a:t>Para atenuar os ataques de rede, primeiro você deve proteger dispositivos, incluindo roteadores, switches, servidores e hosts. A maioria das organizações emprega uma abordagem de defesa profunda (também conhecida como abordagem em camadas) à segurança. Isso requer uma combinação de dispositivos e serviços de rede trabalhando em conjunto.</a:t>
            </a:r>
          </a:p>
          <a:p>
            <a:endParaRPr lang="en-US" sz="1400" dirty="0">
              <a:cs typeface="Arial"/>
            </a:endParaRPr>
          </a:p>
          <a:p>
            <a:pPr rtl="0"/>
            <a:r>
              <a:rPr lang="pt-BR" sz="1400">
                <a:latin typeface="Arial"/>
                <a:ea typeface="ＭＳ Ｐゴシック"/>
                <a:cs typeface="Arial"/>
              </a:rPr>
              <a:t>Vários dispositivos e serviços de segurança são implementados para proteger os usuários e ativos de uma organização contra ameaças TCP / IP.</a:t>
            </a:r>
          </a:p>
          <a:p>
            <a:pPr marL="742950" lvl="1" indent="-285750" rtl="0">
              <a:buFont typeface="Arial" panose="020B0604020202020204" pitchFamily="34" charset="0"/>
              <a:buChar char="•"/>
            </a:pPr>
            <a:r>
              <a:rPr lang="pt-BR" sz="1400">
                <a:latin typeface="Arial"/>
                <a:ea typeface="ＭＳ Ｐゴシック"/>
                <a:cs typeface="Arial"/>
              </a:rPr>
              <a:t>VPN </a:t>
            </a:r>
          </a:p>
          <a:p>
            <a:pPr marL="742950" lvl="1" indent="-285750" rtl="0">
              <a:buFont typeface="Arial" panose="020B0604020202020204" pitchFamily="34" charset="0"/>
              <a:buChar char="•"/>
            </a:pPr>
            <a:r>
              <a:rPr lang="pt-BR" sz="1400">
                <a:latin typeface="Arial"/>
                <a:ea typeface="ＭＳ Ｐゴシック"/>
                <a:cs typeface="Arial"/>
              </a:rPr>
              <a:t>Firewall ASA</a:t>
            </a:r>
          </a:p>
          <a:p>
            <a:pPr marL="742950" lvl="1" indent="-285750" rtl="0">
              <a:buFont typeface="Arial" panose="020B0604020202020204" pitchFamily="34" charset="0"/>
              <a:buChar char="•"/>
            </a:pPr>
            <a:r>
              <a:rPr lang="pt-BR" sz="1400">
                <a:latin typeface="Arial"/>
                <a:ea typeface="ＭＳ Ｐゴシック"/>
                <a:cs typeface="Arial"/>
              </a:rPr>
              <a:t>IPS</a:t>
            </a:r>
          </a:p>
          <a:p>
            <a:pPr marL="742950" lvl="1" indent="-285750" rtl="0">
              <a:buFont typeface="Arial" panose="020B0604020202020204" pitchFamily="34" charset="0"/>
              <a:buChar char="•"/>
            </a:pPr>
            <a:r>
              <a:rPr lang="pt-BR" sz="1400">
                <a:latin typeface="Arial"/>
                <a:ea typeface="ＭＳ Ｐゴシック"/>
                <a:cs typeface="Arial"/>
              </a:rPr>
              <a:t>ESA/WSA</a:t>
            </a:r>
          </a:p>
          <a:p>
            <a:pPr marL="742950" lvl="1" indent="-285750" rtl="0">
              <a:buFont typeface="Arial" panose="020B0604020202020204" pitchFamily="34" charset="0"/>
              <a:buChar char="•"/>
            </a:pPr>
            <a:r>
              <a:rPr lang="pt-BR" sz="1400">
                <a:latin typeface="Arial"/>
                <a:ea typeface="ＭＳ Ｐゴシック"/>
                <a:cs typeface="Arial"/>
              </a:rPr>
              <a:t>Servidor AAA</a:t>
            </a:r>
          </a:p>
        </p:txBody>
      </p:sp>
      <p:pic>
        <p:nvPicPr>
          <p:cNvPr id="4" name="Content Placeholder 3">
            <a:extLst>
              <a:ext uri="{FF2B5EF4-FFF2-40B4-BE49-F238E27FC236}">
                <a16:creationId xmlns:a16="http://schemas.microsoft.com/office/drawing/2014/main" id="{4113A8A3-E3B9-4A40-AB98-4B5FFBA2D974}"/>
              </a:ext>
            </a:extLst>
          </p:cNvPr>
          <p:cNvPicPr>
            <a:picLocks noGrp="1" noChangeAspect="1"/>
          </p:cNvPicPr>
          <p:nvPr>
            <p:ph idx="1"/>
          </p:nvPr>
        </p:nvPicPr>
        <p:blipFill>
          <a:blip r:embed="rId3"/>
          <a:stretch>
            <a:fillRect/>
          </a:stretch>
        </p:blipFill>
        <p:spPr>
          <a:xfrm>
            <a:off x="4822941" y="1102561"/>
            <a:ext cx="3932031" cy="2938377"/>
          </a:xfrm>
        </p:spPr>
      </p:pic>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Mitigações de ataque à rede</a:t>
            </a:r>
            <a:br>
              <a:rPr lang="en-US" dirty="0"/>
            </a:br>
            <a:r>
              <a:rPr lang="pt-BR" sz="2400"/>
              <a:t> Mantenha Backups</a:t>
            </a:r>
          </a:p>
        </p:txBody>
      </p:sp>
      <p:sp>
        <p:nvSpPr>
          <p:cNvPr id="5" name="Content Placeholder 4">
            <a:extLst>
              <a:ext uri="{FF2B5EF4-FFF2-40B4-BE49-F238E27FC236}">
                <a16:creationId xmlns:a16="http://schemas.microsoft.com/office/drawing/2014/main" id="{0A2052EF-CCCA-7244-8B97-05B32CA41D92}"/>
              </a:ext>
            </a:extLst>
          </p:cNvPr>
          <p:cNvSpPr>
            <a:spLocks noGrp="1"/>
          </p:cNvSpPr>
          <p:nvPr>
            <p:ph idx="1"/>
          </p:nvPr>
        </p:nvSpPr>
        <p:spPr>
          <a:xfrm>
            <a:off x="133350" y="763736"/>
            <a:ext cx="8621369" cy="1293664"/>
          </a:xfrm>
        </p:spPr>
        <p:txBody>
          <a:bodyPr/>
          <a:lstStyle/>
          <a:p>
            <a:pPr marL="0" indent="0" algn="l" rtl="0"/>
            <a:r>
              <a:rPr lang="pt-BR" sz="1600">
                <a:solidFill>
                  <a:srgbClr val="000000"/>
                </a:solidFill>
              </a:rPr>
              <a:t>Fazer backup de configurações e dados do dispositivo é uma das maneiras mais eficazes de se proteger contra a perda de dados. Os backups devem ser realizados regularmente, conforme identificado na política de segurança. Os backups de dados são, normalmente, armazenados em outro local, para proteger a mídia de backup, se algo acontecer com a instalação principal. </a:t>
            </a:r>
          </a:p>
          <a:p>
            <a:pPr marL="0" indent="0" algn="l" rtl="0"/>
            <a:r>
              <a:rPr lang="pt-BR" sz="1600">
                <a:solidFill>
                  <a:srgbClr val="000000"/>
                </a:solidFill>
              </a:rPr>
              <a:t>A tabela mostra considerações de backup e suas descrições.</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7" name="Table 6">
            <a:extLst>
              <a:ext uri="{FF2B5EF4-FFF2-40B4-BE49-F238E27FC236}">
                <a16:creationId xmlns:a16="http://schemas.microsoft.com/office/drawing/2014/main" id="{BFDDB9CF-5732-B04F-9B5F-86F9581E9B8C}"/>
              </a:ext>
            </a:extLst>
          </p:cNvPr>
          <p:cNvGraphicFramePr>
            <a:graphicFrameLocks noGrp="1"/>
          </p:cNvGraphicFramePr>
          <p:nvPr>
            <p:extLst>
              <p:ext uri="{D42A27DB-BD31-4B8C-83A1-F6EECF244321}">
                <p14:modId xmlns:p14="http://schemas.microsoft.com/office/powerpoint/2010/main" val="498810030"/>
              </p:ext>
            </p:extLst>
          </p:nvPr>
        </p:nvGraphicFramePr>
        <p:xfrm>
          <a:off x="704335" y="2434611"/>
          <a:ext cx="7641153" cy="2397760"/>
        </p:xfrm>
        <a:graphic>
          <a:graphicData uri="http://schemas.openxmlformats.org/drawingml/2006/table">
            <a:tbl>
              <a:tblPr firstRow="1" bandRow="1">
                <a:tableStyleId>{5C22544A-7EE6-4342-B048-85BDC9FD1C3A}</a:tableStyleId>
              </a:tblPr>
              <a:tblGrid>
                <a:gridCol w="1334530">
                  <a:extLst>
                    <a:ext uri="{9D8B030D-6E8A-4147-A177-3AD203B41FA5}">
                      <a16:colId xmlns:a16="http://schemas.microsoft.com/office/drawing/2014/main" val="3315903213"/>
                    </a:ext>
                  </a:extLst>
                </a:gridCol>
                <a:gridCol w="6306623">
                  <a:extLst>
                    <a:ext uri="{9D8B030D-6E8A-4147-A177-3AD203B41FA5}">
                      <a16:colId xmlns:a16="http://schemas.microsoft.com/office/drawing/2014/main" val="1742692061"/>
                    </a:ext>
                  </a:extLst>
                </a:gridCol>
              </a:tblGrid>
              <a:tr h="370840">
                <a:tc>
                  <a:txBody>
                    <a:bodyPr/>
                    <a:lstStyle/>
                    <a:p>
                      <a:pPr algn="l" rtl="0" fontAlgn="ctr"/>
                      <a:r>
                        <a:rPr lang="pt-BR" sz="1200" b="1">
                          <a:effectLst/>
                        </a:rPr>
                        <a:t>Considerações</a:t>
                      </a:r>
                    </a:p>
                  </a:txBody>
                  <a:tcPr marL="47625" marR="47625" marT="47625" marB="47625" anchor="ctr"/>
                </a:tc>
                <a:tc>
                  <a:txBody>
                    <a:bodyPr/>
                    <a:lstStyle/>
                    <a:p>
                      <a:pPr algn="l" rtl="0" fontAlgn="ctr"/>
                      <a:r>
                        <a:rPr lang="pt-BR" sz="1200" b="1">
                          <a:effectLst/>
                        </a:rPr>
                        <a:t>Descrição</a:t>
                      </a:r>
                    </a:p>
                  </a:txBody>
                  <a:tcPr marL="47625" marR="47625" marT="47625" marB="47625" anchor="ctr"/>
                </a:tc>
                <a:extLst>
                  <a:ext uri="{0D108BD9-81ED-4DB2-BD59-A6C34878D82A}">
                    <a16:rowId xmlns:a16="http://schemas.microsoft.com/office/drawing/2014/main" val="3224535824"/>
                  </a:ext>
                </a:extLst>
              </a:tr>
              <a:tr h="370840">
                <a:tc>
                  <a:txBody>
                    <a:bodyPr/>
                    <a:lstStyle/>
                    <a:p>
                      <a:pPr rtl="0" fontAlgn="ctr"/>
                      <a:r>
                        <a:rPr lang="pt-BR" sz="1200" b="0">
                          <a:solidFill>
                            <a:srgbClr val="000000"/>
                          </a:solidFill>
                          <a:effectLst/>
                        </a:rPr>
                        <a:t>Frequência</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Realizar backups regularmente, conforme identificado na política de segurança.</a:t>
                      </a:r>
                    </a:p>
                    <a:p>
                      <a:pPr rtl="0" fontAlgn="ctr">
                        <a:buFont typeface="Arial" panose="020B0604020202020204" pitchFamily="34" charset="0"/>
                        <a:buChar char="•"/>
                      </a:pPr>
                      <a:r>
                        <a:rPr lang="pt-BR" sz="1200" b="0">
                          <a:solidFill>
                            <a:srgbClr val="000000"/>
                          </a:solidFill>
                          <a:effectLst/>
                        </a:rPr>
                        <a:t>Backups completos podem ser demorados, portanto, realizar backups mensais ou semanais com backups parciais freqüentes de arquivos alterados.</a:t>
                      </a:r>
                    </a:p>
                  </a:txBody>
                  <a:tcPr marL="47625" marR="47625" marT="47625" marB="47625" anchor="ctr"/>
                </a:tc>
                <a:extLst>
                  <a:ext uri="{0D108BD9-81ED-4DB2-BD59-A6C34878D82A}">
                    <a16:rowId xmlns:a16="http://schemas.microsoft.com/office/drawing/2014/main" val="347220094"/>
                  </a:ext>
                </a:extLst>
              </a:tr>
              <a:tr h="370840">
                <a:tc>
                  <a:txBody>
                    <a:bodyPr/>
                    <a:lstStyle/>
                    <a:p>
                      <a:pPr rtl="0" fontAlgn="ctr"/>
                      <a:r>
                        <a:rPr lang="pt-BR" sz="1200" b="0">
                          <a:solidFill>
                            <a:srgbClr val="000000"/>
                          </a:solidFill>
                          <a:effectLst/>
                        </a:rPr>
                        <a:t>Armazenamento</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Sempre valide os backups para garantir a integridade dos dados e validar os procedimentos de restauração de arquivos.</a:t>
                      </a:r>
                    </a:p>
                  </a:txBody>
                  <a:tcPr marL="47625" marR="47625" marT="47625" marB="47625" anchor="ctr"/>
                </a:tc>
                <a:extLst>
                  <a:ext uri="{0D108BD9-81ED-4DB2-BD59-A6C34878D82A}">
                    <a16:rowId xmlns:a16="http://schemas.microsoft.com/office/drawing/2014/main" val="1791246065"/>
                  </a:ext>
                </a:extLst>
              </a:tr>
              <a:tr h="370840">
                <a:tc>
                  <a:txBody>
                    <a:bodyPr/>
                    <a:lstStyle/>
                    <a:p>
                      <a:pPr rtl="0" fontAlgn="ctr"/>
                      <a:r>
                        <a:rPr lang="pt-BR" sz="1200" b="0">
                          <a:solidFill>
                            <a:srgbClr val="000000"/>
                          </a:solidFill>
                          <a:effectLst/>
                        </a:rPr>
                        <a:t>Segurança</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Os backups devem ser transportados para um local de armazenamento externo aprovado, em rotação diária, semanal ou mensal, conforme exigido pela política de segurança.</a:t>
                      </a:r>
                    </a:p>
                  </a:txBody>
                  <a:tcPr marL="47625" marR="47625" marT="47625" marB="47625" anchor="ctr"/>
                </a:tc>
                <a:extLst>
                  <a:ext uri="{0D108BD9-81ED-4DB2-BD59-A6C34878D82A}">
                    <a16:rowId xmlns:a16="http://schemas.microsoft.com/office/drawing/2014/main" val="2225932627"/>
                  </a:ext>
                </a:extLst>
              </a:tr>
              <a:tr h="370840">
                <a:tc>
                  <a:txBody>
                    <a:bodyPr/>
                    <a:lstStyle/>
                    <a:p>
                      <a:pPr rtl="0" fontAlgn="ctr"/>
                      <a:r>
                        <a:rPr lang="pt-BR" sz="1200" b="0">
                          <a:solidFill>
                            <a:srgbClr val="000000"/>
                          </a:solidFill>
                          <a:effectLst/>
                        </a:rPr>
                        <a:t>Validação</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Os backups devem ser protegidos usando senhas fortes. A senha é necessária para restaurar os dados.</a:t>
                      </a:r>
                    </a:p>
                  </a:txBody>
                  <a:tcPr marL="47625" marR="47625" marT="47625" marB="47625" anchor="ctr"/>
                </a:tc>
                <a:extLst>
                  <a:ext uri="{0D108BD9-81ED-4DB2-BD59-A6C34878D82A}">
                    <a16:rowId xmlns:a16="http://schemas.microsoft.com/office/drawing/2014/main" val="1845723784"/>
                  </a:ext>
                </a:extLst>
              </a:tr>
            </a:tbl>
          </a:graphicData>
        </a:graphic>
      </p:graphicFrame>
    </p:spTree>
    <p:extLst>
      <p:ext uri="{BB962C8B-B14F-4D97-AF65-F5344CB8AC3E}">
        <p14:creationId xmlns:p14="http://schemas.microsoft.com/office/powerpoint/2010/main" val="147485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Backups, atualizações e patches</a:t>
            </a:r>
          </a:p>
        </p:txBody>
      </p:sp>
      <p:sp>
        <p:nvSpPr>
          <p:cNvPr id="4" name="Content Placeholder 3">
            <a:extLst>
              <a:ext uri="{FF2B5EF4-FFF2-40B4-BE49-F238E27FC236}">
                <a16:creationId xmlns:a16="http://schemas.microsoft.com/office/drawing/2014/main" id="{4CEE0CAE-B33F-7048-9C60-93C74AD209F6}"/>
              </a:ext>
            </a:extLst>
          </p:cNvPr>
          <p:cNvSpPr>
            <a:spLocks noGrp="1"/>
          </p:cNvSpPr>
          <p:nvPr>
            <p:ph idx="1"/>
          </p:nvPr>
        </p:nvSpPr>
        <p:spPr>
          <a:xfrm>
            <a:off x="474663" y="763736"/>
            <a:ext cx="4097337" cy="3657998"/>
          </a:xfrm>
        </p:spPr>
        <p:txBody>
          <a:bodyPr/>
          <a:lstStyle/>
          <a:p>
            <a:pPr marL="0" indent="0" algn="l" rtl="0"/>
            <a:r>
              <a:rPr lang="pt-BR" sz="1600">
                <a:solidFill>
                  <a:srgbClr val="000000"/>
                </a:solidFill>
              </a:rPr>
              <a:t>Quando um novo malware é lançado, as empresas precisam manter as suas atuais versões de software antivírus atualizadas.</a:t>
            </a:r>
          </a:p>
          <a:p>
            <a:pPr marL="285750" indent="-285750" algn="l" rtl="0">
              <a:buFont typeface="Arial" panose="020B0604020202020204" pitchFamily="34" charset="0"/>
              <a:buChar char="•"/>
            </a:pPr>
            <a:r>
              <a:rPr lang="pt-BR" sz="1600">
                <a:solidFill>
                  <a:srgbClr val="000000"/>
                </a:solidFill>
              </a:rPr>
              <a:t>O meio mais eficaz de reduzir um ataque de worm é baixar as atualizações de segurança do sistema operacional do fornecedor e corrigir todos os sistemas vulneráveis.</a:t>
            </a:r>
          </a:p>
          <a:p>
            <a:pPr marL="285750" indent="-285750" algn="l" rtl="0">
              <a:buFont typeface="Arial" panose="020B0604020202020204" pitchFamily="34" charset="0"/>
              <a:buChar char="•"/>
            </a:pPr>
            <a:r>
              <a:rPr lang="pt-BR" sz="1600">
                <a:solidFill>
                  <a:srgbClr val="000000"/>
                </a:solidFill>
              </a:rPr>
              <a:t>Uma solução para o gerenciamento de patches críticos de segurança é garantir que todos os sistemas finais baixem atualizações automaticamente.</a:t>
            </a:r>
          </a:p>
        </p:txBody>
      </p:sp>
      <p:pic>
        <p:nvPicPr>
          <p:cNvPr id="8" name="Picture 7">
            <a:extLst>
              <a:ext uri="{FF2B5EF4-FFF2-40B4-BE49-F238E27FC236}">
                <a16:creationId xmlns:a16="http://schemas.microsoft.com/office/drawing/2014/main" id="{CA3B1276-4D3A-B546-B0D3-54E99AE89A64}"/>
              </a:ext>
            </a:extLst>
          </p:cNvPr>
          <p:cNvPicPr>
            <a:picLocks noChangeAspect="1"/>
          </p:cNvPicPr>
          <p:nvPr/>
        </p:nvPicPr>
        <p:blipFill>
          <a:blip r:embed="rId3"/>
          <a:stretch>
            <a:fillRect/>
          </a:stretch>
        </p:blipFill>
        <p:spPr>
          <a:xfrm>
            <a:off x="4572000" y="1037966"/>
            <a:ext cx="4311859" cy="2501041"/>
          </a:xfrm>
          <a:prstGeom prst="rect">
            <a:avLst/>
          </a:prstGeom>
        </p:spPr>
      </p:pic>
    </p:spTree>
    <p:extLst>
      <p:ext uri="{BB962C8B-B14F-4D97-AF65-F5344CB8AC3E}">
        <p14:creationId xmlns:p14="http://schemas.microsoft.com/office/powerpoint/2010/main" val="26670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Autenticação, autorização e accounting</a:t>
            </a:r>
          </a:p>
        </p:txBody>
      </p:sp>
      <p:sp>
        <p:nvSpPr>
          <p:cNvPr id="5" name="Content Placeholder 4">
            <a:extLst>
              <a:ext uri="{FF2B5EF4-FFF2-40B4-BE49-F238E27FC236}">
                <a16:creationId xmlns:a16="http://schemas.microsoft.com/office/drawing/2014/main" id="{F42DAB5F-C15E-E04B-84DE-6D7A5FEC0FF8}"/>
              </a:ext>
            </a:extLst>
          </p:cNvPr>
          <p:cNvSpPr>
            <a:spLocks noGrp="1"/>
          </p:cNvSpPr>
          <p:nvPr>
            <p:ph idx="1"/>
          </p:nvPr>
        </p:nvSpPr>
        <p:spPr>
          <a:xfrm>
            <a:off x="474663" y="763737"/>
            <a:ext cx="4252980" cy="3657998"/>
          </a:xfrm>
        </p:spPr>
        <p:txBody>
          <a:bodyPr/>
          <a:lstStyle/>
          <a:p>
            <a:pPr marL="0" indent="0" algn="l" rtl="0"/>
            <a:r>
              <a:rPr lang="pt-BR" sz="1600">
                <a:solidFill>
                  <a:srgbClr val="000000"/>
                </a:solidFill>
              </a:rPr>
              <a:t>Os serviços de segurança de rede de autenticação, autorização e contabilidade (AAA ou "triplo A") fornecem a estrutura principal para configurar o controle de acesso nos dispositivos de rede.</a:t>
            </a:r>
          </a:p>
          <a:p>
            <a:pPr marL="342900" indent="-342900" algn="l" rtl="0">
              <a:buFont typeface="Arial" panose="020B0604020202020204" pitchFamily="34" charset="0"/>
              <a:buChar char="•"/>
            </a:pPr>
            <a:r>
              <a:rPr lang="pt-BR" sz="1600">
                <a:solidFill>
                  <a:srgbClr val="000000"/>
                </a:solidFill>
              </a:rPr>
              <a:t>O AAA é uma maneira de controlar quem tem permissão para acessar uma rede (autenticar), quais ações eles executam enquanto acessam a rede (autorizar) e fazer um registro do que foi feito enquanto eles estão lá (contabilidade).</a:t>
            </a:r>
          </a:p>
          <a:p>
            <a:pPr marL="342900" indent="-342900" algn="l" rtl="0">
              <a:buFont typeface="Arial" panose="020B0604020202020204" pitchFamily="34" charset="0"/>
              <a:buChar char="•"/>
            </a:pPr>
            <a:r>
              <a:rPr lang="pt-BR" sz="1600">
                <a:solidFill>
                  <a:srgbClr val="000000"/>
                </a:solidFill>
              </a:rPr>
              <a:t>O conceito do AAA é semelhante ao uso de um cartão de crédito. O cartão de crédito identifica quem pode utilizá-lo, estipula um limite de uso e mantém o controle dos itens comprados pelo usuário, como mostrado na figura.</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3"/>
          <a:stretch>
            <a:fillRect/>
          </a:stretch>
        </p:blipFill>
        <p:spPr>
          <a:xfrm>
            <a:off x="4880069" y="943673"/>
            <a:ext cx="4263931" cy="3298125"/>
          </a:xfrm>
          <a:prstGeom prst="rect">
            <a:avLst/>
          </a:prstGeom>
        </p:spPr>
      </p:pic>
    </p:spTree>
    <p:extLst>
      <p:ext uri="{BB962C8B-B14F-4D97-AF65-F5344CB8AC3E}">
        <p14:creationId xmlns:p14="http://schemas.microsoft.com/office/powerpoint/2010/main" val="29579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Firewalls</a:t>
            </a:r>
          </a:p>
        </p:txBody>
      </p:sp>
      <p:sp>
        <p:nvSpPr>
          <p:cNvPr id="4" name="Content Placeholder 3">
            <a:extLst>
              <a:ext uri="{FF2B5EF4-FFF2-40B4-BE49-F238E27FC236}">
                <a16:creationId xmlns:a16="http://schemas.microsoft.com/office/drawing/2014/main" id="{F1AEB5ED-A167-6645-BE7C-2A7AF2A291E1}"/>
              </a:ext>
            </a:extLst>
          </p:cNvPr>
          <p:cNvSpPr>
            <a:spLocks noGrp="1"/>
          </p:cNvSpPr>
          <p:nvPr>
            <p:ph idx="1"/>
          </p:nvPr>
        </p:nvSpPr>
        <p:spPr>
          <a:xfrm>
            <a:off x="85725" y="763736"/>
            <a:ext cx="4530439" cy="3657998"/>
          </a:xfrm>
        </p:spPr>
        <p:txBody>
          <a:bodyPr/>
          <a:lstStyle/>
          <a:p>
            <a:pPr marL="0" indent="0" algn="l"/>
            <a:endParaRPr lang="en-US" sz="1600" dirty="0">
              <a:solidFill>
                <a:srgbClr val="000000"/>
              </a:solidFill>
            </a:endParaRPr>
          </a:p>
          <a:p>
            <a:pPr marL="0" indent="0" algn="l" rtl="0"/>
            <a:r>
              <a:rPr lang="pt-BR" sz="1600">
                <a:solidFill>
                  <a:srgbClr val="000000"/>
                </a:solidFill>
              </a:rPr>
              <a:t>Os firewalls de rede estão localizados entre duas ou mais redes, e controlam o tráfego entre elas, além de ajudar a evitar o acesso não autorizado.</a:t>
            </a:r>
          </a:p>
          <a:p>
            <a:pPr marL="0" indent="0" algn="l"/>
            <a:endParaRPr lang="en-US" sz="1600" dirty="0">
              <a:solidFill>
                <a:srgbClr val="000000"/>
              </a:solidFill>
            </a:endParaRPr>
          </a:p>
          <a:p>
            <a:pPr marL="0" indent="0" algn="l" rtl="0"/>
            <a:r>
              <a:rPr lang="pt-BR" sz="1600">
                <a:solidFill>
                  <a:srgbClr val="000000"/>
                </a:solidFill>
              </a:rPr>
              <a:t>Um firewall poderia permitir que usuários externos controlassem o acesso a serviços específicos. Por exemplo, os servidores acessíveis a usuários externos geralmente estão localizados em uma rede especial chamada de zona desmilitarizada (DMZ). A DMZ permite que um administrador de rede aplique políticas específicas para hosts conectados a essa rede.</a:t>
            </a:r>
          </a:p>
        </p:txBody>
      </p:sp>
      <p:pic>
        <p:nvPicPr>
          <p:cNvPr id="8" name="Picture 7">
            <a:extLst>
              <a:ext uri="{FF2B5EF4-FFF2-40B4-BE49-F238E27FC236}">
                <a16:creationId xmlns:a16="http://schemas.microsoft.com/office/drawing/2014/main" id="{B9DC2CBC-4812-1544-ABD2-7293DEBBF12C}"/>
              </a:ext>
            </a:extLst>
          </p:cNvPr>
          <p:cNvPicPr>
            <a:picLocks noChangeAspect="1"/>
          </p:cNvPicPr>
          <p:nvPr/>
        </p:nvPicPr>
        <p:blipFill>
          <a:blip r:embed="rId3"/>
          <a:stretch>
            <a:fillRect/>
          </a:stretch>
        </p:blipFill>
        <p:spPr>
          <a:xfrm>
            <a:off x="4675145" y="448800"/>
            <a:ext cx="3611364" cy="1128551"/>
          </a:xfrm>
          <a:prstGeom prst="rect">
            <a:avLst/>
          </a:prstGeom>
        </p:spPr>
      </p:pic>
      <p:pic>
        <p:nvPicPr>
          <p:cNvPr id="10" name="Picture 9">
            <a:extLst>
              <a:ext uri="{FF2B5EF4-FFF2-40B4-BE49-F238E27FC236}">
                <a16:creationId xmlns:a16="http://schemas.microsoft.com/office/drawing/2014/main" id="{B64C9A1B-2D7F-4240-88EA-111FBDBB27F5}"/>
              </a:ext>
            </a:extLst>
          </p:cNvPr>
          <p:cNvPicPr>
            <a:picLocks noChangeAspect="1"/>
          </p:cNvPicPr>
          <p:nvPr/>
        </p:nvPicPr>
        <p:blipFill>
          <a:blip r:embed="rId4"/>
          <a:stretch>
            <a:fillRect/>
          </a:stretch>
        </p:blipFill>
        <p:spPr>
          <a:xfrm>
            <a:off x="4675144" y="1486889"/>
            <a:ext cx="3611365" cy="1106437"/>
          </a:xfrm>
          <a:prstGeom prst="rect">
            <a:avLst/>
          </a:prstGeom>
        </p:spPr>
      </p:pic>
      <p:pic>
        <p:nvPicPr>
          <p:cNvPr id="12" name="Picture 11">
            <a:extLst>
              <a:ext uri="{FF2B5EF4-FFF2-40B4-BE49-F238E27FC236}">
                <a16:creationId xmlns:a16="http://schemas.microsoft.com/office/drawing/2014/main" id="{CD80D756-D9AD-BB4E-8C8D-FF29770DE996}"/>
              </a:ext>
            </a:extLst>
          </p:cNvPr>
          <p:cNvPicPr>
            <a:picLocks noChangeAspect="1"/>
          </p:cNvPicPr>
          <p:nvPr/>
        </p:nvPicPr>
        <p:blipFill>
          <a:blip r:embed="rId5"/>
          <a:stretch>
            <a:fillRect/>
          </a:stretch>
        </p:blipFill>
        <p:spPr>
          <a:xfrm>
            <a:off x="4860959" y="2785952"/>
            <a:ext cx="3239733" cy="1839596"/>
          </a:xfrm>
          <a:prstGeom prst="rect">
            <a:avLst/>
          </a:prstGeom>
        </p:spPr>
      </p:pic>
    </p:spTree>
    <p:extLst>
      <p:ext uri="{BB962C8B-B14F-4D97-AF65-F5344CB8AC3E}">
        <p14:creationId xmlns:p14="http://schemas.microsoft.com/office/powerpoint/2010/main" val="20895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Firewalls</a:t>
            </a:r>
          </a:p>
        </p:txBody>
      </p:sp>
      <p:sp>
        <p:nvSpPr>
          <p:cNvPr id="5" name="Content Placeholder 4">
            <a:extLst>
              <a:ext uri="{FF2B5EF4-FFF2-40B4-BE49-F238E27FC236}">
                <a16:creationId xmlns:a16="http://schemas.microsoft.com/office/drawing/2014/main" id="{56518DF6-F66A-404B-BAB8-473E3312000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Os produtos de firewall são fornecidos de várias formas. Esses produtos usam técnicas diferentes para determinar o que será permitido ou negado o acesso a uma rede. Ela inclui:</a:t>
            </a:r>
          </a:p>
          <a:p>
            <a:pPr marL="358835" lvl="1" indent="-285750" rtl="0">
              <a:buFont typeface="Arial" panose="020B0604020202020204" pitchFamily="34" charset="0"/>
              <a:buChar char="•"/>
            </a:pPr>
            <a:r>
              <a:rPr lang="pt-BR" sz="1600" b="1">
                <a:solidFill>
                  <a:srgbClr val="000000"/>
                </a:solidFill>
              </a:rPr>
              <a:t>Filtragem de pacotes</a:t>
            </a:r>
            <a:r>
              <a:rPr lang="pt-BR" sz="1600">
                <a:solidFill>
                  <a:srgbClr val="000000"/>
                </a:solidFill>
              </a:rPr>
              <a:t> - Impede ou permite o acesso com base em endereços IP ou MAC</a:t>
            </a:r>
          </a:p>
          <a:p>
            <a:pPr marL="358835" lvl="1" indent="-285750" rtl="0">
              <a:buFont typeface="Arial" panose="020B0604020202020204" pitchFamily="34" charset="0"/>
              <a:buChar char="•"/>
            </a:pPr>
            <a:r>
              <a:rPr lang="pt-BR" sz="1600" b="1">
                <a:solidFill>
                  <a:srgbClr val="000000"/>
                </a:solidFill>
              </a:rPr>
              <a:t>Filtragem de aplicações</a:t>
            </a:r>
            <a:r>
              <a:rPr lang="pt-BR" sz="1600">
                <a:solidFill>
                  <a:srgbClr val="000000"/>
                </a:solidFill>
              </a:rPr>
              <a:t> - Impede ou permite o acesso de determinados tipos de aplicação com base nos números das portas</a:t>
            </a:r>
          </a:p>
          <a:p>
            <a:pPr marL="358835" lvl="1" indent="-285750" rtl="0">
              <a:buFont typeface="Arial" panose="020B0604020202020204" pitchFamily="34" charset="0"/>
              <a:buChar char="•"/>
            </a:pPr>
            <a:r>
              <a:rPr lang="pt-BR" sz="1600" b="1">
                <a:solidFill>
                  <a:srgbClr val="000000"/>
                </a:solidFill>
              </a:rPr>
              <a:t>Filtragem de URL</a:t>
            </a:r>
            <a:r>
              <a:rPr lang="pt-BR" sz="1600">
                <a:solidFill>
                  <a:srgbClr val="000000"/>
                </a:solidFill>
              </a:rPr>
              <a:t> - impede ou permite o acesso a sites com base em URLs ou palavras-chave específicas</a:t>
            </a:r>
          </a:p>
          <a:p>
            <a:pPr marL="358835" lvl="1" indent="-285750" rtl="0">
              <a:buFont typeface="Arial" panose="020B0604020202020204" pitchFamily="34" charset="0"/>
              <a:buChar char="•"/>
            </a:pPr>
            <a:r>
              <a:rPr lang="pt-BR" sz="1600" b="1">
                <a:solidFill>
                  <a:srgbClr val="000000"/>
                </a:solidFill>
              </a:rPr>
              <a:t>Inspeção de pacotes com estado (SPI)</a:t>
            </a:r>
            <a:r>
              <a:rPr lang="pt-BR" sz="1600">
                <a:solidFill>
                  <a:srgbClr val="000000"/>
                </a:solidFill>
              </a:rPr>
              <a:t> - Os pacotes recebidos devem ser respostas legítimas às solicitações dos hosts internos. Os pacotes não solicitados são bloqueados, a menos que especificamente permitidos. O SPI também pode incluir o recurso de reconhecer e filtrar tipos específicos de ataques, como negação de serviço (DoS).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666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Segurança de endpoints</a:t>
            </a:r>
          </a:p>
        </p:txBody>
      </p:sp>
      <p:sp>
        <p:nvSpPr>
          <p:cNvPr id="4" name="Content Placeholder 3">
            <a:extLst>
              <a:ext uri="{FF2B5EF4-FFF2-40B4-BE49-F238E27FC236}">
                <a16:creationId xmlns:a16="http://schemas.microsoft.com/office/drawing/2014/main" id="{D28EE6A9-38A8-5940-A05B-817C4E7C831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Um endpoint, ou host, é um sistema de computador individual ou um dispositivo que atua como um cliente da rede. Os endpoints comuns são laptops, desktops, servidores, smartphones e tablets.</a:t>
            </a:r>
          </a:p>
          <a:p>
            <a:pPr marL="0" indent="0" algn="l"/>
            <a:endParaRPr lang="en-US" sz="1600" dirty="0">
              <a:solidFill>
                <a:srgbClr val="000000"/>
              </a:solidFill>
            </a:endParaRPr>
          </a:p>
          <a:p>
            <a:pPr marL="0" indent="0" algn="l" rtl="0"/>
            <a:r>
              <a:rPr lang="pt-BR" sz="1600">
                <a:solidFill>
                  <a:srgbClr val="000000"/>
                </a:solidFill>
              </a:rPr>
              <a:t>A segurança de dispositivos de endpoint é uma das tarefas mais desafiadoras de um administrador de rede, porque envolve a natureza humana. Uma empresa deve ter obrigatoriamente as políticas em vigor bem documentadas e os funcionários devem conhecer essas regras. </a:t>
            </a:r>
          </a:p>
          <a:p>
            <a:pPr marL="0" indent="0" algn="l"/>
            <a:endParaRPr lang="en-US" sz="1600" dirty="0">
              <a:solidFill>
                <a:srgbClr val="000000"/>
              </a:solidFill>
            </a:endParaRPr>
          </a:p>
          <a:p>
            <a:pPr marL="0" indent="0" algn="l" rtl="0"/>
            <a:r>
              <a:rPr lang="pt-BR" sz="1600">
                <a:solidFill>
                  <a:srgbClr val="000000"/>
                </a:solidFill>
              </a:rPr>
              <a:t>Os funcionários devem ser treinados para usarem corretamente a rede. As políticas em geral incluem o uso de software antivírus e prevenção contra invasões. Soluções de segurança de endpoints mais abrangentes baseiam-se no controle de acesso à rede.</a:t>
            </a:r>
          </a:p>
        </p:txBody>
      </p:sp>
    </p:spTree>
    <p:extLst>
      <p:ext uri="{BB962C8B-B14F-4D97-AF65-F5344CB8AC3E}">
        <p14:creationId xmlns:p14="http://schemas.microsoft.com/office/powerpoint/2010/main" val="26951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16.4 Segurança de dispositivos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do dispositivo</a:t>
            </a:r>
            <a:br>
              <a:rPr lang="en-US" dirty="0"/>
            </a:br>
            <a:r>
              <a:rPr lang="pt-BR" sz="2400"/>
              <a:t>Cisco AutoSecure</a:t>
            </a:r>
          </a:p>
        </p:txBody>
      </p:sp>
      <p:sp>
        <p:nvSpPr>
          <p:cNvPr id="5" name="Content Placeholder 4">
            <a:extLst>
              <a:ext uri="{FF2B5EF4-FFF2-40B4-BE49-F238E27FC236}">
                <a16:creationId xmlns:a16="http://schemas.microsoft.com/office/drawing/2014/main" id="{58ED2B98-3FC5-0547-B3D3-64215AA81FB7}"/>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As configurações de segurança são definidas com os valores padrão quando um novo sistema operacional é instalado em um dispositivo. Na maioria dos casos, esse nível de segurança é inadequado. Para roteadores Cisco, o recurso Cisco AutoSecure pode ser usado para ajudar a proteger o sistema.</a:t>
            </a:r>
          </a:p>
          <a:p>
            <a:pPr marL="0" indent="0" algn="l"/>
            <a:endParaRPr lang="en-US" sz="1600" dirty="0">
              <a:solidFill>
                <a:srgbClr val="000000"/>
              </a:solidFill>
            </a:endParaRPr>
          </a:p>
          <a:p>
            <a:pPr marL="0" indent="0" algn="l" rtl="0"/>
            <a:r>
              <a:rPr lang="pt-BR" sz="1600">
                <a:solidFill>
                  <a:srgbClr val="000000"/>
                </a:solidFill>
              </a:rPr>
              <a:t>Além disso, existem algumas etapas simples que podem ser executadas e que se aplicam à maioria dos sistemas:</a:t>
            </a:r>
          </a:p>
          <a:p>
            <a:pPr marL="415985" lvl="1" indent="-342900" rtl="0">
              <a:buFont typeface="Arial" panose="020B0604020202020204" pitchFamily="34" charset="0"/>
              <a:buChar char="•"/>
            </a:pPr>
            <a:r>
              <a:rPr lang="pt-BR" sz="1600">
                <a:solidFill>
                  <a:srgbClr val="000000"/>
                </a:solidFill>
              </a:rPr>
              <a:t>Nomes de usuário e senhas padrão devem ser trocados imediatamente.</a:t>
            </a:r>
          </a:p>
          <a:p>
            <a:pPr marL="415985" lvl="1" indent="-342900" rtl="0">
              <a:buFont typeface="Arial" panose="020B0604020202020204" pitchFamily="34" charset="0"/>
              <a:buChar char="•"/>
            </a:pPr>
            <a:r>
              <a:rPr lang="pt-BR" sz="1600">
                <a:solidFill>
                  <a:srgbClr val="000000"/>
                </a:solidFill>
              </a:rPr>
              <a:t>O acesso aos recursos do sistema deve ser restrito apenas aos indivíduos que estão autorizados a usá-los.</a:t>
            </a:r>
          </a:p>
          <a:p>
            <a:pPr marL="415985" lvl="1" indent="-342900" rtl="0">
              <a:buFont typeface="Arial" panose="020B0604020202020204" pitchFamily="34" charset="0"/>
              <a:buChar char="•"/>
            </a:pPr>
            <a:r>
              <a:rPr lang="pt-BR" sz="1600">
                <a:solidFill>
                  <a:srgbClr val="000000"/>
                </a:solidFill>
              </a:rPr>
              <a:t>Todos os serviços e aplicações desnecessários devem ser desativados e desinstalados assim que possível.</a:t>
            </a:r>
          </a:p>
          <a:p>
            <a:pPr marL="415985" lvl="1" indent="-342900" rtl="0">
              <a:buFont typeface="Arial" panose="020B0604020202020204" pitchFamily="34" charset="0"/>
              <a:buChar char="•"/>
            </a:pPr>
            <a:r>
              <a:rPr lang="pt-BR" sz="1600">
                <a:solidFill>
                  <a:srgbClr val="000000"/>
                </a:solidFill>
              </a:rPr>
              <a:t>Em geral, dispositivos vindos de fábrica ficaram estocados em um depósito por um período e não têm os patches mais atuais instalados. É importante atualizar todos os softwares e instalar todos os patches de segurança antes da implementação.</a:t>
            </a: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Senhas</a:t>
            </a:r>
          </a:p>
        </p:txBody>
      </p:sp>
      <p:sp>
        <p:nvSpPr>
          <p:cNvPr id="4" name="Content Placeholder 3">
            <a:extLst>
              <a:ext uri="{FF2B5EF4-FFF2-40B4-BE49-F238E27FC236}">
                <a16:creationId xmlns:a16="http://schemas.microsoft.com/office/drawing/2014/main" id="{6F289C2A-4C2A-774B-84F0-F2FF0A7AC295}"/>
              </a:ext>
            </a:extLst>
          </p:cNvPr>
          <p:cNvSpPr>
            <a:spLocks noGrp="1"/>
          </p:cNvSpPr>
          <p:nvPr>
            <p:ph idx="1"/>
          </p:nvPr>
        </p:nvSpPr>
        <p:spPr>
          <a:xfrm>
            <a:off x="200026" y="628649"/>
            <a:ext cx="8943974" cy="4105275"/>
          </a:xfrm>
        </p:spPr>
        <p:txBody>
          <a:bodyPr lIns="91420" tIns="45710" rIns="91420" bIns="45710" anchor="t">
            <a:noAutofit/>
          </a:bodyPr>
          <a:lstStyle/>
          <a:p>
            <a:pPr marL="0" indent="0" algn="l" rtl="0"/>
            <a:r>
              <a:rPr lang="pt-BR" sz="1400">
                <a:solidFill>
                  <a:srgbClr val="000000"/>
                </a:solidFill>
                <a:ea typeface="ＭＳ Ｐゴシック"/>
              </a:rPr>
              <a:t>É importante usar senhas fortes para proteger dispositivos de rede. Estas são as diretrizes padrão a serem seguidas:</a:t>
            </a:r>
          </a:p>
          <a:p>
            <a:pPr lvl="1" indent="-285750">
              <a:buFont typeface="Arial" panose="020B0604020202020204" pitchFamily="34" charset="0"/>
              <a:buChar char="•"/>
            </a:pPr>
            <a:r>
              <a:rPr lang="pt-BR">
                <a:solidFill>
                  <a:srgbClr val="000000"/>
                </a:solidFill>
                <a:ea typeface="ＭＳ Ｐゴシック"/>
              </a:rPr>
              <a:t>Use uma senha de pelo menos 8 caracteres, preferencialmente 10 ou mais caracteres. </a:t>
            </a:r>
            <a:endParaRPr lang="pt-BR">
              <a:solidFill>
                <a:srgbClr val="000000"/>
              </a:solidFill>
            </a:endParaRPr>
          </a:p>
          <a:p>
            <a:pPr lvl="1" indent="-285750" rtl="0">
              <a:buFont typeface="Arial" panose="020B0604020202020204" pitchFamily="34" charset="0"/>
              <a:buChar char="•"/>
            </a:pPr>
            <a:r>
              <a:rPr lang="pt-BR">
                <a:solidFill>
                  <a:srgbClr val="000000"/>
                </a:solidFill>
                <a:ea typeface="ＭＳ Ｐゴシック"/>
              </a:rPr>
              <a:t>Use senhas complexas. Inclua uma combinação de letras maiúsculas e minúsculas, números, símbolos e espaços, se permitido.</a:t>
            </a:r>
          </a:p>
          <a:p>
            <a:pPr lvl="1" indent="-285750" rtl="0">
              <a:buFont typeface="Arial" panose="020B0604020202020204" pitchFamily="34" charset="0"/>
              <a:buChar char="•"/>
            </a:pPr>
            <a:r>
              <a:rPr lang="pt-BR">
                <a:solidFill>
                  <a:srgbClr val="000000"/>
                </a:solidFill>
                <a:ea typeface="ＭＳ Ｐゴシック"/>
              </a:rPr>
              <a:t>Evite as senhas com base em repetição, palavras comuns de dicionário, sequências de letras ou números, nomes de usuário, nomes de parentes ou de animais de estimação, informações biográficas, como datas de nascimento, números de identificação, nomes de antepassados ou outras informações facilmente identificáveis.</a:t>
            </a:r>
          </a:p>
          <a:p>
            <a:pPr lvl="1" indent="-285750" rtl="0">
              <a:buFont typeface="Arial" panose="020B0604020202020204" pitchFamily="34" charset="0"/>
              <a:buChar char="•"/>
            </a:pPr>
            <a:r>
              <a:rPr lang="pt-BR">
                <a:solidFill>
                  <a:srgbClr val="000000"/>
                </a:solidFill>
                <a:ea typeface="ＭＳ Ｐゴシック"/>
              </a:rPr>
              <a:t>Deliberadamente, soletre errado uma senha. Por exemplo, Smith = Smyth = 5mYth ou Security = 5ecur1ty.</a:t>
            </a:r>
          </a:p>
          <a:p>
            <a:pPr lvl="1" indent="-285750" rtl="0">
              <a:buFont typeface="Arial" panose="020B0604020202020204" pitchFamily="34" charset="0"/>
              <a:buChar char="•"/>
            </a:pPr>
            <a:r>
              <a:rPr lang="pt-BR">
                <a:solidFill>
                  <a:srgbClr val="000000"/>
                </a:solidFill>
                <a:ea typeface="ＭＳ Ｐゴシック"/>
              </a:rPr>
              <a:t>Altere as senhas periodicamente. Se uma senha é inadvertidamente comprometida, a janela de oportunidade para que o invasor a use é limitada.</a:t>
            </a:r>
          </a:p>
          <a:p>
            <a:pPr lvl="1" indent="-285750" rtl="0">
              <a:buFont typeface="Arial" panose="020B0604020202020204" pitchFamily="34" charset="0"/>
              <a:buChar char="•"/>
            </a:pPr>
            <a:r>
              <a:rPr lang="pt-BR">
                <a:solidFill>
                  <a:srgbClr val="000000"/>
                </a:solidFill>
                <a:ea typeface="ＭＳ Ｐゴシック"/>
              </a:rPr>
              <a:t>Não anote as senhas e muito menos as deixe em locais óbvios, como em sua mesa ou no monitor.</a:t>
            </a:r>
          </a:p>
          <a:p>
            <a:pPr marL="0" indent="0" algn="l" rtl="0"/>
            <a:r>
              <a:rPr lang="pt-BR" sz="1400">
                <a:solidFill>
                  <a:srgbClr val="000000"/>
                </a:solidFill>
                <a:ea typeface="ＭＳ Ｐゴシック"/>
              </a:rPr>
              <a:t>Nos roteadores Cisco, os espaços à esquerda são ignorados em senhas, mas os espaços após o primeiro caractere não são ignorados. Portanto, um método para criar uma senha forte é utilizar a barra de espaço e criar uma frase feita de muitas palavras. Isso se chama uma frase secreta. Uma frase secreta é geralmente mais fácil de lembrar do que uma senha simples. Também é maior e mais difícil de ser descoberta.</a:t>
            </a:r>
          </a:p>
        </p:txBody>
      </p:sp>
    </p:spTree>
    <p:extLst>
      <p:ext uri="{BB962C8B-B14F-4D97-AF65-F5344CB8AC3E}">
        <p14:creationId xmlns:p14="http://schemas.microsoft.com/office/powerpoint/2010/main" val="33761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Segurança de Senha Adicional</a:t>
            </a:r>
          </a:p>
        </p:txBody>
      </p:sp>
      <p:sp>
        <p:nvSpPr>
          <p:cNvPr id="5" name="Content Placeholder 4">
            <a:extLst>
              <a:ext uri="{FF2B5EF4-FFF2-40B4-BE49-F238E27FC236}">
                <a16:creationId xmlns:a16="http://schemas.microsoft.com/office/drawing/2014/main" id="{5E5CFD92-7DEA-E848-9393-FBAD0175F59C}"/>
              </a:ext>
            </a:extLst>
          </p:cNvPr>
          <p:cNvSpPr>
            <a:spLocks noGrp="1"/>
          </p:cNvSpPr>
          <p:nvPr>
            <p:ph idx="1"/>
          </p:nvPr>
        </p:nvSpPr>
        <p:spPr>
          <a:xfrm>
            <a:off x="0" y="763736"/>
            <a:ext cx="4349579" cy="3855888"/>
          </a:xfrm>
        </p:spPr>
        <p:txBody>
          <a:bodyPr lIns="91420" tIns="45710" rIns="91420" bIns="45710" anchor="t">
            <a:noAutofit/>
          </a:bodyPr>
          <a:lstStyle/>
          <a:p>
            <a:pPr marL="0" indent="0" algn="l" rtl="0"/>
            <a:r>
              <a:rPr lang="pt-BR" sz="1400">
                <a:solidFill>
                  <a:srgbClr val="000000"/>
                </a:solidFill>
                <a:ea typeface="ＭＳ Ｐゴシック"/>
              </a:rPr>
              <a:t>Existem várias etapas que podem ser tomadas para ajudar a garantir que as senhas permaneçam secretas em um roteador e switch Cisco, incluindo estes:</a:t>
            </a:r>
          </a:p>
          <a:p>
            <a:pPr marL="415925" lvl="1" indent="-342900" rtl="0">
              <a:buFont typeface="Arial" panose="020B0604020202020204" pitchFamily="34" charset="0"/>
              <a:buChar char="•"/>
            </a:pPr>
            <a:r>
              <a:rPr lang="pt-BR">
                <a:solidFill>
                  <a:srgbClr val="000000"/>
                </a:solidFill>
                <a:ea typeface="ＭＳ Ｐゴシック"/>
              </a:rPr>
              <a:t>Criptografe todas as senhas de texto sem formatação com o comando </a:t>
            </a:r>
            <a:r>
              <a:rPr lang="pt-BR" b="1">
                <a:solidFill>
                  <a:srgbClr val="000000"/>
                </a:solidFill>
                <a:ea typeface="ＭＳ Ｐゴシック"/>
              </a:rPr>
              <a:t>service password-encryption.</a:t>
            </a:r>
          </a:p>
          <a:p>
            <a:pPr marL="415925" lvl="1" indent="-342900" rtl="0">
              <a:buFont typeface="Arial" panose="020B0604020202020204" pitchFamily="34" charset="0"/>
              <a:buChar char="•"/>
            </a:pPr>
            <a:r>
              <a:rPr lang="pt-BR">
                <a:solidFill>
                  <a:srgbClr val="000000"/>
                </a:solidFill>
                <a:ea typeface="ＭＳ Ｐゴシック"/>
              </a:rPr>
              <a:t>Defina um comprimento mínimo aceitável de senha com o comando </a:t>
            </a:r>
            <a:r>
              <a:rPr lang="pt-BR" b="1">
                <a:solidFill>
                  <a:srgbClr val="000000"/>
                </a:solidFill>
                <a:ea typeface="ＭＳ Ｐゴシック"/>
              </a:rPr>
              <a:t>security passwords min-length</a:t>
            </a:r>
            <a:r>
              <a:rPr lang="pt-BR">
                <a:solidFill>
                  <a:srgbClr val="000000"/>
                </a:solidFill>
                <a:ea typeface="ＭＳ Ｐゴシック"/>
              </a:rPr>
              <a:t> .</a:t>
            </a:r>
          </a:p>
          <a:p>
            <a:pPr marL="415925" lvl="1" indent="-342900">
              <a:buFont typeface="Arial" panose="020B0604020202020204" pitchFamily="34" charset="0"/>
              <a:buChar char="•"/>
            </a:pPr>
            <a:r>
              <a:rPr lang="pt-BR">
                <a:solidFill>
                  <a:srgbClr val="000000"/>
                </a:solidFill>
                <a:ea typeface="ＭＳ Ｐゴシック"/>
              </a:rPr>
              <a:t>Impedir ataques de adivinhação de senha de força bruta com o</a:t>
            </a:r>
            <a:r>
              <a:rPr lang="pt-BR" b="1" i="1">
                <a:solidFill>
                  <a:srgbClr val="000000"/>
                </a:solidFill>
                <a:ea typeface="ＭＳ Ｐゴシック"/>
              </a:rPr>
              <a:t>comando login block-for # attempts #  dentro de # . </a:t>
            </a:r>
            <a:endParaRPr lang="pt-BR" b="1" i="1">
              <a:solidFill>
                <a:srgbClr val="000000"/>
              </a:solidFill>
            </a:endParaRPr>
          </a:p>
          <a:p>
            <a:pPr marL="415925" lvl="1" indent="-342900" rtl="0">
              <a:buFont typeface="Arial" panose="020B0604020202020204" pitchFamily="34" charset="0"/>
              <a:buChar char="•"/>
            </a:pPr>
            <a:r>
              <a:rPr lang="pt-BR">
                <a:solidFill>
                  <a:srgbClr val="000000"/>
                </a:solidFill>
                <a:ea typeface="ＭＳ Ｐゴシック"/>
              </a:rPr>
              <a:t>Desative um acesso de modo EXEC privilegiado inativo após um período especificado de tempo com o comando </a:t>
            </a:r>
            <a:r>
              <a:rPr lang="pt-BR" b="1">
                <a:solidFill>
                  <a:srgbClr val="000000"/>
                </a:solidFill>
                <a:ea typeface="ＭＳ Ｐゴシック"/>
              </a:rPr>
              <a:t>exec-timeout</a:t>
            </a:r>
            <a:r>
              <a:rPr lang="pt-BR">
                <a:solidFill>
                  <a:srgbClr val="000000"/>
                </a:solidFill>
                <a:ea typeface="ＭＳ Ｐゴシック"/>
              </a:rPr>
              <a:t> .</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A08643C7-ED48-7D44-A04A-1E402EFD59BF}"/>
              </a:ext>
            </a:extLst>
          </p:cNvPr>
          <p:cNvPicPr>
            <a:picLocks noChangeAspect="1"/>
          </p:cNvPicPr>
          <p:nvPr/>
        </p:nvPicPr>
        <p:blipFill>
          <a:blip r:embed="rId3"/>
          <a:stretch>
            <a:fillRect/>
          </a:stretch>
        </p:blipFill>
        <p:spPr>
          <a:xfrm>
            <a:off x="4349579" y="1180232"/>
            <a:ext cx="4377809" cy="2783036"/>
          </a:xfrm>
          <a:prstGeom prst="rect">
            <a:avLst/>
          </a:prstGeom>
        </p:spPr>
      </p:pic>
    </p:spTree>
    <p:extLst>
      <p:ext uri="{BB962C8B-B14F-4D97-AF65-F5344CB8AC3E}">
        <p14:creationId xmlns:p14="http://schemas.microsoft.com/office/powerpoint/2010/main" val="13928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Ativação do SSH</a:t>
            </a:r>
          </a:p>
        </p:txBody>
      </p:sp>
      <p:sp>
        <p:nvSpPr>
          <p:cNvPr id="4" name="Content Placeholder 3">
            <a:extLst>
              <a:ext uri="{FF2B5EF4-FFF2-40B4-BE49-F238E27FC236}">
                <a16:creationId xmlns:a16="http://schemas.microsoft.com/office/drawing/2014/main" id="{E578C5E5-D82C-6746-A97C-44478B5559D2}"/>
              </a:ext>
            </a:extLst>
          </p:cNvPr>
          <p:cNvSpPr>
            <a:spLocks noGrp="1"/>
          </p:cNvSpPr>
          <p:nvPr>
            <p:ph idx="1"/>
          </p:nvPr>
        </p:nvSpPr>
        <p:spPr>
          <a:xfrm>
            <a:off x="95250" y="666750"/>
            <a:ext cx="8905875" cy="3924300"/>
          </a:xfrm>
        </p:spPr>
        <p:txBody>
          <a:bodyPr/>
          <a:lstStyle/>
          <a:p>
            <a:pPr marL="0" indent="0" algn="l" rtl="0"/>
            <a:r>
              <a:rPr lang="pt-BR" sz="1600">
                <a:solidFill>
                  <a:srgbClr val="000000"/>
                </a:solidFill>
              </a:rPr>
              <a:t>É possível configurar um dispositivo Cisco para suportar SSH usando as seis etapas a seguir:</a:t>
            </a:r>
          </a:p>
          <a:p>
            <a:pPr marL="342900" indent="-342900" algn="l" rtl="0">
              <a:buFont typeface="+mj-lt"/>
              <a:buAutoNum type="arabicPeriod"/>
            </a:pPr>
            <a:r>
              <a:rPr lang="pt-BR" sz="1400" b="1">
                <a:solidFill>
                  <a:srgbClr val="000000"/>
                </a:solidFill>
              </a:rPr>
              <a:t>Configure um nome de host de dispositivo exclusivo</a:t>
            </a:r>
            <a:r>
              <a:rPr lang="pt-BR" sz="1400">
                <a:solidFill>
                  <a:srgbClr val="000000"/>
                </a:solidFill>
              </a:rPr>
              <a:t>. Um dispositivo deve ter um nome de host exclusivo diferente do padrão. </a:t>
            </a:r>
          </a:p>
          <a:p>
            <a:pPr marL="342900" indent="-342900" algn="l" rtl="0">
              <a:buFont typeface="+mj-lt"/>
              <a:buAutoNum type="arabicPeriod"/>
            </a:pPr>
            <a:r>
              <a:rPr lang="pt-BR" sz="1400" b="1">
                <a:solidFill>
                  <a:srgbClr val="000000"/>
                </a:solidFill>
              </a:rPr>
              <a:t>Configure o nome do domínio IP.</a:t>
            </a:r>
            <a:r>
              <a:rPr lang="pt-BR" sz="1400">
                <a:solidFill>
                  <a:srgbClr val="000000"/>
                </a:solidFill>
              </a:rPr>
              <a:t> Configure o nome de domínio IP da rede usando o comando </a:t>
            </a:r>
            <a:r>
              <a:rPr lang="pt-BR" sz="1400" b="1">
                <a:solidFill>
                  <a:srgbClr val="000000"/>
                </a:solidFill>
              </a:rPr>
              <a:t>ip-domain name</a:t>
            </a:r>
            <a:r>
              <a:rPr lang="pt-BR" sz="1400">
                <a:solidFill>
                  <a:srgbClr val="000000"/>
                </a:solidFill>
              </a:rPr>
              <a:t> do modo de configuração global.</a:t>
            </a:r>
          </a:p>
          <a:p>
            <a:pPr marL="342900" indent="-342900" algn="l" rtl="0">
              <a:buFont typeface="+mj-lt"/>
              <a:buAutoNum type="arabicPeriod"/>
            </a:pPr>
            <a:r>
              <a:rPr lang="pt-BR" sz="1400" b="1">
                <a:solidFill>
                  <a:srgbClr val="000000"/>
                </a:solidFill>
              </a:rPr>
              <a:t>Gere uma chave para criptografar o tráfego SSH</a:t>
            </a:r>
            <a:r>
              <a:rPr lang="pt-BR" sz="1400">
                <a:solidFill>
                  <a:srgbClr val="000000"/>
                </a:solidFill>
              </a:rPr>
              <a:t>. O SSH criptografa o tráfego entre a origem e o destino. No entanto, para fazer isso, uma chave de autenticação exclusiva deve ser gerada usando o comando de configuração global </a:t>
            </a:r>
            <a:r>
              <a:rPr lang="pt-BR" sz="1400" b="1">
                <a:solidFill>
                  <a:srgbClr val="000000"/>
                </a:solidFill>
              </a:rPr>
              <a:t>crypto key gerar rsa general-keys módulos</a:t>
            </a:r>
            <a:r>
              <a:rPr lang="pt-BR" sz="1400" i="1">
                <a:solidFill>
                  <a:srgbClr val="000000"/>
                </a:solidFill>
              </a:rPr>
              <a:t>bits</a:t>
            </a:r>
            <a:r>
              <a:rPr lang="pt-BR" sz="1400">
                <a:solidFill>
                  <a:srgbClr val="000000"/>
                </a:solidFill>
              </a:rPr>
              <a:t> . O módulo </a:t>
            </a:r>
            <a:r>
              <a:rPr lang="pt-BR" sz="1400" i="1">
                <a:solidFill>
                  <a:srgbClr val="000000"/>
                </a:solidFill>
              </a:rPr>
              <a:t>bits</a:t>
            </a:r>
            <a:r>
              <a:rPr lang="pt-BR" sz="1400">
                <a:solidFill>
                  <a:srgbClr val="000000"/>
                </a:solidFill>
              </a:rPr>
              <a:t> determina o tamanho da chave e pode ser configurado de 360 bits a 2048 bits. Quanto maior o valor de bit, mais segura a chave. No entanto, valores de bits maiores também levam mais tempo para criptografar e descriptografar informações. O tamanho mínimo recomendado do módulo é 1024 bits.</a:t>
            </a:r>
          </a:p>
          <a:p>
            <a:pPr marL="342900" indent="-342900" algn="l" rtl="0">
              <a:buFont typeface="+mj-lt"/>
              <a:buAutoNum type="arabicPeriod"/>
            </a:pPr>
            <a:r>
              <a:rPr lang="pt-BR" sz="1400" b="1">
                <a:solidFill>
                  <a:srgbClr val="000000"/>
                </a:solidFill>
              </a:rPr>
              <a:t>Verifique ou crie uma entrada de banco de dados local</a:t>
            </a:r>
            <a:r>
              <a:rPr lang="pt-BR" sz="1400">
                <a:solidFill>
                  <a:srgbClr val="000000"/>
                </a:solidFill>
              </a:rPr>
              <a:t>. Crie uma entrada de nome de usuário do banco de dados local usando o comando de configuração global </a:t>
            </a:r>
            <a:r>
              <a:rPr lang="pt-BR" sz="1400" b="1">
                <a:solidFill>
                  <a:srgbClr val="000000"/>
                </a:solidFill>
              </a:rPr>
              <a:t>username</a:t>
            </a:r>
            <a:r>
              <a:rPr lang="pt-BR" sz="1400">
                <a:solidFill>
                  <a:srgbClr val="000000"/>
                </a:solidFill>
              </a:rPr>
              <a:t>.</a:t>
            </a:r>
          </a:p>
          <a:p>
            <a:pPr marL="342900" indent="-342900" algn="l" rtl="0">
              <a:buFont typeface="+mj-lt"/>
              <a:buAutoNum type="arabicPeriod"/>
            </a:pPr>
            <a:r>
              <a:rPr lang="pt-BR" sz="1400" b="1">
                <a:solidFill>
                  <a:srgbClr val="000000"/>
                </a:solidFill>
              </a:rPr>
              <a:t>Os usuários se autenticam no banco de dados local. Use o</a:t>
            </a:r>
            <a:r>
              <a:rPr lang="pt-BR" sz="1400">
                <a:solidFill>
                  <a:srgbClr val="000000"/>
                </a:solidFill>
              </a:rPr>
              <a:t> comando login local line configuration para autenticar a linha vty no banco de dados local. </a:t>
            </a:r>
          </a:p>
          <a:p>
            <a:pPr marL="342900" indent="-342900" algn="l" rtl="0">
              <a:buFont typeface="+mj-lt"/>
              <a:buAutoNum type="arabicPeriod"/>
            </a:pPr>
            <a:r>
              <a:rPr lang="pt-BR" sz="1400" b="1">
                <a:solidFill>
                  <a:srgbClr val="000000"/>
                </a:solidFill>
              </a:rPr>
              <a:t>Habilite a entrada vty nas sessões SSH. Por padrão, nenhuma sessão de entrada é permitida em linhas vty. Você pode especificar vários protocolos de entrada, incluindo Telnet e SSH, usando o</a:t>
            </a:r>
            <a:r>
              <a:rPr lang="pt-BR" sz="1400">
                <a:solidFill>
                  <a:srgbClr val="000000"/>
                </a:solidFill>
              </a:rPr>
              <a:t> comando transport input [ssh | telnet].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6583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do dispositivo</a:t>
            </a:r>
            <a:br>
              <a:rPr lang="en-US" dirty="0"/>
            </a:br>
            <a:r>
              <a:rPr lang="pt-BR" sz="2400"/>
              <a:t>desabilitar serviços não utilizados</a:t>
            </a:r>
          </a:p>
        </p:txBody>
      </p:sp>
      <p:sp>
        <p:nvSpPr>
          <p:cNvPr id="5" name="Content Placeholder 4">
            <a:extLst>
              <a:ext uri="{FF2B5EF4-FFF2-40B4-BE49-F238E27FC236}">
                <a16:creationId xmlns:a16="http://schemas.microsoft.com/office/drawing/2014/main" id="{0425FF23-EB6E-8346-A070-6A969A994128}"/>
              </a:ext>
            </a:extLst>
          </p:cNvPr>
          <p:cNvSpPr>
            <a:spLocks noGrp="1"/>
          </p:cNvSpPr>
          <p:nvPr>
            <p:ph idx="1"/>
          </p:nvPr>
        </p:nvSpPr>
        <p:spPr>
          <a:xfrm>
            <a:off x="142876" y="763736"/>
            <a:ext cx="8611844" cy="3657998"/>
          </a:xfrm>
        </p:spPr>
        <p:txBody>
          <a:bodyPr/>
          <a:lstStyle/>
          <a:p>
            <a:pPr marL="0" indent="0" algn="l" rtl="0"/>
            <a:r>
              <a:rPr lang="pt-BR" sz="1800">
                <a:solidFill>
                  <a:srgbClr val="000000"/>
                </a:solidFill>
              </a:rPr>
              <a:t>Os roteadores e switches Cisco começam com uma lista de serviços ativos que podem ou não ser necessários em sua rede. Desative todos os serviços não utilizados para preservar os recursos do sistema, como ciclos de CPU e RAM, e impedir que os atores ameaçadores explorem esses serviços. </a:t>
            </a:r>
          </a:p>
          <a:p>
            <a:pPr marL="342900" indent="-342900" algn="l" rtl="0">
              <a:buFont typeface="Arial" panose="020B0604020202020204" pitchFamily="34" charset="0"/>
              <a:buChar char="•"/>
            </a:pPr>
            <a:r>
              <a:rPr lang="pt-BR" sz="1800">
                <a:solidFill>
                  <a:srgbClr val="000000"/>
                </a:solidFill>
              </a:rPr>
              <a:t>O tipo de serviços que estão ativados por padrão varia dependendo da versão do IOS. Por exemplo, o IOS-XE normalmente terá apenas portas HTTPS e DHCP abertas. Você pode verificar isso com o comando </a:t>
            </a:r>
            <a:r>
              <a:rPr lang="pt-BR" sz="1800" b="1">
                <a:solidFill>
                  <a:srgbClr val="000000"/>
                </a:solidFill>
              </a:rPr>
              <a:t>show ip ports all</a:t>
            </a:r>
            <a:r>
              <a:rPr lang="pt-BR" sz="1800">
                <a:solidFill>
                  <a:srgbClr val="000000"/>
                </a:solidFill>
              </a:rPr>
              <a:t> .</a:t>
            </a:r>
          </a:p>
          <a:p>
            <a:pPr marL="342900" indent="-342900" algn="l" rtl="0">
              <a:buFont typeface="Arial" panose="020B0604020202020204" pitchFamily="34" charset="0"/>
              <a:buChar char="•"/>
            </a:pPr>
            <a:r>
              <a:rPr lang="pt-BR" sz="1800">
                <a:solidFill>
                  <a:srgbClr val="000000"/>
                </a:solidFill>
              </a:rPr>
              <a:t>As versões do IOS anteriores ao IOS-XE usam o comando </a:t>
            </a:r>
            <a:r>
              <a:rPr lang="pt-BR" sz="1800" b="1">
                <a:solidFill>
                  <a:srgbClr val="000000"/>
                </a:solidFill>
              </a:rPr>
              <a:t>show control-plane host open-ports</a:t>
            </a:r>
            <a:r>
              <a:rPr lang="pt-BR" sz="1800">
                <a:solidFill>
                  <a:srgbClr val="000000"/>
                </a:solidFill>
              </a:rPr>
              <a:t> . </a:t>
            </a:r>
          </a:p>
        </p:txBody>
      </p:sp>
    </p:spTree>
    <p:extLst>
      <p:ext uri="{BB962C8B-B14F-4D97-AF65-F5344CB8AC3E}">
        <p14:creationId xmlns:p14="http://schemas.microsoft.com/office/powerpoint/2010/main" val="187421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dispositicos</a:t>
            </a:r>
            <a:br>
              <a:rPr lang="en-US" dirty="0"/>
            </a:br>
            <a:r>
              <a:rPr lang="pt-BR" sz="2400"/>
              <a:t>Packet Tracer - Configurar Senhas Seguras e SSH</a:t>
            </a:r>
          </a:p>
        </p:txBody>
      </p:sp>
      <p:sp>
        <p:nvSpPr>
          <p:cNvPr id="4" name="Content Placeholder 3">
            <a:extLst>
              <a:ext uri="{FF2B5EF4-FFF2-40B4-BE49-F238E27FC236}">
                <a16:creationId xmlns:a16="http://schemas.microsoft.com/office/drawing/2014/main" id="{BB66A6E1-E52E-0242-B883-D4BABEB274E6}"/>
              </a:ext>
            </a:extLst>
          </p:cNvPr>
          <p:cNvSpPr>
            <a:spLocks noGrp="1"/>
          </p:cNvSpPr>
          <p:nvPr>
            <p:ph idx="1"/>
          </p:nvPr>
        </p:nvSpPr>
        <p:spPr>
          <a:xfrm>
            <a:off x="474662" y="763736"/>
            <a:ext cx="8280057" cy="3657998"/>
          </a:xfrm>
        </p:spPr>
        <p:txBody>
          <a:bodyPr/>
          <a:lstStyle/>
          <a:p>
            <a:pPr marL="0" indent="0" algn="l" rtl="0"/>
            <a:r>
              <a:rPr lang="pt-BR">
                <a:solidFill>
                  <a:srgbClr val="000000"/>
                </a:solidFill>
              </a:rPr>
              <a:t>Neste Packet Tracer, você configurará senhas e SSH:</a:t>
            </a:r>
          </a:p>
          <a:p>
            <a:pPr marL="342900" indent="-342900" algn="l" rtl="0">
              <a:buFont typeface="Arial" panose="020B0604020202020204" pitchFamily="34" charset="0"/>
              <a:buChar char="•"/>
            </a:pPr>
            <a:r>
              <a:rPr lang="pt-BR">
                <a:solidFill>
                  <a:srgbClr val="000000"/>
                </a:solidFill>
              </a:rPr>
              <a:t>O administrador da rede solicitou que você preparasse o RTA e o SW1 para implantação. Antes de poderem ser conectados à rede, é necessário ativar as medidas de segurança. </a:t>
            </a:r>
          </a:p>
        </p:txBody>
      </p:sp>
    </p:spTree>
    <p:extLst>
      <p:ext uri="{BB962C8B-B14F-4D97-AF65-F5344CB8AC3E}">
        <p14:creationId xmlns:p14="http://schemas.microsoft.com/office/powerpoint/2010/main" val="369575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a:t>
            </a:r>
            <a:br>
              <a:rPr lang="en-US" dirty="0"/>
            </a:br>
            <a:r>
              <a:rPr lang="pt-BR" sz="2400"/>
              <a:t>Lab — Configurar dispositivos de rede com SSH</a:t>
            </a:r>
          </a:p>
        </p:txBody>
      </p:sp>
      <p:sp>
        <p:nvSpPr>
          <p:cNvPr id="5" name="Content Placeholder 4">
            <a:extLst>
              <a:ext uri="{FF2B5EF4-FFF2-40B4-BE49-F238E27FC236}">
                <a16:creationId xmlns:a16="http://schemas.microsoft.com/office/drawing/2014/main" id="{AD0FEBEB-B350-6D45-8DA6-C533CED0A4EE}"/>
              </a:ext>
            </a:extLst>
          </p:cNvPr>
          <p:cNvSpPr>
            <a:spLocks noGrp="1"/>
          </p:cNvSpPr>
          <p:nvPr>
            <p:ph idx="1"/>
          </p:nvPr>
        </p:nvSpPr>
        <p:spPr>
          <a:xfrm>
            <a:off x="474662" y="763736"/>
            <a:ext cx="8280057" cy="3657998"/>
          </a:xfrm>
        </p:spPr>
        <p:txBody>
          <a:bodyPr/>
          <a:lstStyle/>
          <a:p>
            <a:pPr algn="l" rtl="0"/>
            <a:r>
              <a:rPr lang="pt-BR">
                <a:solidFill>
                  <a:srgbClr val="000000"/>
                </a:solidFill>
              </a:rPr>
              <a:t>Nesse laboratório, você completará os seguintes objetivos:</a:t>
            </a:r>
          </a:p>
          <a:p>
            <a:pPr marL="342900" indent="-342900" algn="l" rtl="0">
              <a:buFont typeface="Arial" panose="020B0604020202020204" pitchFamily="34" charset="0"/>
              <a:buChar char="•"/>
            </a:pPr>
            <a:r>
              <a:rPr lang="pt-BR">
                <a:solidFill>
                  <a:srgbClr val="000000"/>
                </a:solidFill>
              </a:rPr>
              <a:t>Parte 1: Implementar as Configurações Básicas dos Dispositivos</a:t>
            </a:r>
          </a:p>
          <a:p>
            <a:pPr marL="342900" indent="-342900" algn="l" rtl="0">
              <a:buFont typeface="Arial" panose="020B0604020202020204" pitchFamily="34" charset="0"/>
              <a:buChar char="•"/>
            </a:pPr>
            <a:r>
              <a:rPr lang="pt-BR">
                <a:solidFill>
                  <a:srgbClr val="000000"/>
                </a:solidFill>
              </a:rPr>
              <a:t>Parte 2: Configurar o Roteador para o Acesso SSH</a:t>
            </a:r>
          </a:p>
          <a:p>
            <a:pPr marL="342900" indent="-342900" algn="l" rtl="0">
              <a:buFont typeface="Arial" panose="020B0604020202020204" pitchFamily="34" charset="0"/>
              <a:buChar char="•"/>
            </a:pPr>
            <a:r>
              <a:rPr lang="pt-BR">
                <a:solidFill>
                  <a:srgbClr val="000000"/>
                </a:solidFill>
              </a:rPr>
              <a:t>Parte 3: Configurar o Switch para o Acesso SSH</a:t>
            </a:r>
          </a:p>
          <a:p>
            <a:pPr marL="342900" indent="-342900" algn="l" rtl="0">
              <a:buFont typeface="Arial" panose="020B0604020202020204" pitchFamily="34" charset="0"/>
              <a:buChar char="•"/>
            </a:pPr>
            <a:r>
              <a:rPr lang="pt-BR">
                <a:solidFill>
                  <a:srgbClr val="000000"/>
                </a:solidFill>
              </a:rPr>
              <a:t>Parte 4: SSH da CLI no Switch</a:t>
            </a:r>
          </a:p>
          <a:p>
            <a:pPr algn="l"/>
            <a:endParaRPr lang="en-US" dirty="0">
              <a:solidFill>
                <a:srgbClr val="000000"/>
              </a:solidFill>
            </a:endParaRPr>
          </a:p>
        </p:txBody>
      </p:sp>
    </p:spTree>
    <p:extLst>
      <p:ext uri="{BB962C8B-B14F-4D97-AF65-F5344CB8AC3E}">
        <p14:creationId xmlns:p14="http://schemas.microsoft.com/office/powerpoint/2010/main" val="373533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16.5 -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Prática de Módulo e</a:t>
            </a:r>
            <a:r>
              <a:rPr lang="pt-BR">
                <a:latin typeface="Arial" charset="0"/>
              </a:rPr>
              <a:t>Tracer dePacotes de Quiz — Dispositivos de Rede Segura</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rtl="0">
              <a:buNone/>
            </a:pPr>
            <a:r>
              <a:rPr lang="pt-BR" sz="1800"/>
              <a:t>Nesta atividade, você configurará um roteador e um switch com base em uma lista de requisitos.</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br>
              <a:rPr lang="en-US" dirty="0">
                <a:latin typeface="Arial" charset="0"/>
              </a:rPr>
            </a:br>
            <a:r>
              <a:rPr lang="pt-BR">
                <a:latin typeface="Arial" charset="0"/>
              </a:rPr>
              <a:t>Laboratório de Prática de Módulos e Questionário — Dispositivos de Rede Segura</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a:xfrm>
            <a:off x="144065" y="1004098"/>
            <a:ext cx="8853286" cy="4155319"/>
          </a:xfrm>
        </p:spPr>
        <p:txBody>
          <a:bodyPr/>
          <a:lstStyle/>
          <a:p>
            <a:pPr marL="0" indent="0" defTabSz="457105" rtl="0" fontAlgn="auto">
              <a:spcBef>
                <a:spcPct val="20000"/>
              </a:spcBef>
              <a:spcAft>
                <a:spcPts val="0"/>
              </a:spcAft>
              <a:buClrTx/>
              <a:buSzTx/>
              <a:buNone/>
            </a:pPr>
            <a:r>
              <a:rPr lang="pt-BR" sz="1800"/>
              <a:t>Neste laboratório, você completará os seguintes objetivos:</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Configurações Básicas do Dispositivo</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Medidas Básicas de Segurança no Roteador</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Medidas Básicas de Segurança no Switch</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37564635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Module Practice and Quiz</a:t>
            </a:r>
            <a:br>
              <a:rPr lang="en-US" dirty="0">
                <a:latin typeface="Arial" charset="0"/>
              </a:rPr>
            </a:br>
            <a:r>
              <a:rPr lang="pt-BR">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Depois que o agente da ameaça obtém acesso à rede, quatro tipos de ameaças podem surgir: roubo de informações, perda e manipulação de dados, roubo de identidade e interrupção do serviço. </a:t>
            </a:r>
          </a:p>
          <a:p>
            <a:pPr rtl="0">
              <a:spcBef>
                <a:spcPts val="0"/>
              </a:spcBef>
              <a:spcAft>
                <a:spcPts val="0"/>
              </a:spcAft>
              <a:buFont typeface="Arial" panose="020B0604020202020204" pitchFamily="34" charset="0"/>
              <a:buChar char="•"/>
            </a:pPr>
            <a:r>
              <a:rPr lang="pt-BR" sz="1600"/>
              <a:t>Há três vulnerabilidades principais: tecnológica, de configuração e de política de segurança. </a:t>
            </a:r>
          </a:p>
          <a:p>
            <a:pPr rtl="0">
              <a:spcBef>
                <a:spcPts val="0"/>
              </a:spcBef>
              <a:spcAft>
                <a:spcPts val="0"/>
              </a:spcAft>
              <a:buFont typeface="Arial" panose="020B0604020202020204" pitchFamily="34" charset="0"/>
              <a:buChar char="•"/>
            </a:pPr>
            <a:r>
              <a:rPr lang="pt-BR" sz="1600"/>
              <a:t>As quatro classes de ameaças físicas são: hardware, ambiental, elétrica e manutenção.</a:t>
            </a:r>
          </a:p>
          <a:p>
            <a:pPr rtl="0">
              <a:spcBef>
                <a:spcPts val="0"/>
              </a:spcBef>
              <a:spcAft>
                <a:spcPts val="0"/>
              </a:spcAft>
              <a:buFont typeface="Arial" panose="020B0604020202020204" pitchFamily="34" charset="0"/>
              <a:buChar char="•"/>
            </a:pPr>
            <a:r>
              <a:rPr lang="pt-BR" sz="1600"/>
              <a:t>Malware é a abreviação de software malicioso. É um código ou software projetado especificamente para danificar, interromper, roubar ou infligir ações “ruins” ou ilegítimas em dados, hosts ou redes. Vírus, worms e cavalos de Tróia são tipos de malware. </a:t>
            </a:r>
          </a:p>
          <a:p>
            <a:pPr rtl="0">
              <a:spcBef>
                <a:spcPts val="0"/>
              </a:spcBef>
              <a:spcAft>
                <a:spcPts val="0"/>
              </a:spcAft>
              <a:buFont typeface="Arial" panose="020B0604020202020204" pitchFamily="34" charset="0"/>
              <a:buChar char="•"/>
            </a:pPr>
            <a:r>
              <a:rPr lang="pt-BR" sz="1600"/>
              <a:t>Os ataques à rede podem ser classificados em três categorias principais: reconhecimento, acesso e negação de serviço. </a:t>
            </a:r>
          </a:p>
          <a:p>
            <a:pPr rtl="0">
              <a:spcBef>
                <a:spcPts val="0"/>
              </a:spcBef>
              <a:spcAft>
                <a:spcPts val="0"/>
              </a:spcAft>
              <a:buFont typeface="Arial" panose="020B0604020202020204" pitchFamily="34" charset="0"/>
              <a:buChar char="•"/>
            </a:pPr>
            <a:r>
              <a:rPr lang="pt-BR" sz="1600"/>
              <a:t>Para atenuar os ataques de rede, primeiro você deve proteger dispositivos, incluindo roteadores, switches, servidores e hosts. A maioria das organizações emprega uma abordagem de defesa em profundidade à segurança. Isso requer uma combinação de dispositivos e serviços de rede trabalhando juntos. </a:t>
            </a:r>
          </a:p>
          <a:p>
            <a:pPr rtl="0">
              <a:spcBef>
                <a:spcPts val="0"/>
              </a:spcBef>
              <a:spcAft>
                <a:spcPts val="0"/>
              </a:spcAft>
              <a:buFont typeface="Arial" panose="020B0604020202020204" pitchFamily="34" charset="0"/>
              <a:buChar char="•"/>
            </a:pPr>
            <a:r>
              <a:rPr lang="pt-BR" sz="1600"/>
              <a:t>Vários dispositivos e serviços de segurança são implementados para proteger os usuários e ativos de uma organização contra ameaças TCP / IP: VPN, firewall ASA, IPS, ESA / WSA e servidor AAA. </a:t>
            </a:r>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Os dispositivos de infraestrutura devem ter backups de arquivos de configuração e imagens IOS em um servidor de arquivos FTP ou similar. Se o computador ou um hardware de roteador falhar, os dados ou a configuração podem ser restaurados usando a cópia de backup. </a:t>
            </a:r>
          </a:p>
          <a:p>
            <a:pPr rtl="0">
              <a:spcBef>
                <a:spcPts val="0"/>
              </a:spcBef>
              <a:spcAft>
                <a:spcPts val="0"/>
              </a:spcAft>
              <a:buFont typeface="Arial" panose="020B0604020202020204" pitchFamily="34" charset="0"/>
              <a:buChar char="•"/>
            </a:pPr>
            <a:r>
              <a:rPr lang="pt-BR" sz="1600"/>
              <a:t>O meio mais eficaz de reduzir um ataque de worm é baixar as atualizações de segurança do sistema operacional do fornecedor e corrigir todos os sistemas vulneráveis. Para gerenciar patches críticos de segurança, para garantir que todos os sistemas finais baixem atualizações automaticamente. </a:t>
            </a:r>
          </a:p>
          <a:p>
            <a:pPr rtl="0">
              <a:spcBef>
                <a:spcPts val="0"/>
              </a:spcBef>
              <a:spcAft>
                <a:spcPts val="0"/>
              </a:spcAft>
              <a:buFont typeface="Arial" panose="020B0604020202020204" pitchFamily="34" charset="0"/>
              <a:buChar char="•"/>
            </a:pPr>
            <a:r>
              <a:rPr lang="pt-BR" sz="1600"/>
              <a:t>O AAA é uma forma de controlar quem acessa uma rede (autenticar), o que pode fazer enquanto permanece nela (autorizar) e quais ações realiza ao acessar a rede (accounting). </a:t>
            </a:r>
          </a:p>
          <a:p>
            <a:pPr rtl="0">
              <a:spcBef>
                <a:spcPts val="0"/>
              </a:spcBef>
              <a:spcAft>
                <a:spcPts val="0"/>
              </a:spcAft>
              <a:buFont typeface="Arial" panose="020B0604020202020204" pitchFamily="34" charset="0"/>
              <a:buChar char="•"/>
            </a:pPr>
            <a:r>
              <a:rPr lang="pt-BR" sz="1600"/>
              <a:t>Os firewalls de rede estão localizados entre duas ou mais redes, e controlam o tráfego entre elas, além de ajudar a evitar o acesso não autorizado. </a:t>
            </a:r>
          </a:p>
          <a:p>
            <a:pPr rtl="0">
              <a:spcBef>
                <a:spcPts val="0"/>
              </a:spcBef>
              <a:spcAft>
                <a:spcPts val="0"/>
              </a:spcAft>
              <a:buFont typeface="Arial" panose="020B0604020202020204" pitchFamily="34" charset="0"/>
              <a:buChar char="•"/>
            </a:pPr>
            <a:r>
              <a:rPr lang="pt-BR" sz="1600"/>
              <a:t>Proteger dispositivos de ponto de extremidade é fundamental para a segurança da rede. Uma empresa deve ter políticas bem documentadas em vigor, que podem incluir o uso de software antivírus e prevenção contra intrusões no host. Soluções de segurança de endpoints mais abrangentes baseiam-se no controle de acesso à rede.</a:t>
            </a:r>
          </a:p>
          <a:p>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Para roteadores Cisco, o recurso Cisco AutoSecure pode ser usado para ajudar a proteger o sistema. Para a maioria dos nomes de usuário e senhas padrão de SO devem ser alterados imediatamente, o acesso aos recursos do sistema deve ser restrito apenas aos indivíduos autorizados a usar esses recursos, e quaisquer serviços e aplicativos desnecessários devem ser desativados e desinstalados quando possível. </a:t>
            </a:r>
          </a:p>
          <a:p>
            <a:pPr rtl="0">
              <a:spcBef>
                <a:spcPts val="0"/>
              </a:spcBef>
              <a:spcAft>
                <a:spcPts val="0"/>
              </a:spcAft>
              <a:buFont typeface="Arial" panose="020B0604020202020204" pitchFamily="34" charset="0"/>
              <a:buChar char="•"/>
            </a:pPr>
            <a:r>
              <a:rPr lang="pt-BR" sz="1600"/>
              <a:t>É importante usar senhas fortes para proteger dispositivos de rede. Uma frase secreta é geralmente mais fácil de lembrar do que uma senha simples. Também é maior e mais difícil de ser descoberta. </a:t>
            </a:r>
          </a:p>
          <a:p>
            <a:pPr rtl="0">
              <a:spcBef>
                <a:spcPts val="0"/>
              </a:spcBef>
              <a:spcAft>
                <a:spcPts val="0"/>
              </a:spcAft>
              <a:buFont typeface="Arial" panose="020B0604020202020204" pitchFamily="34" charset="0"/>
              <a:buChar char="•"/>
            </a:pPr>
            <a:r>
              <a:rPr lang="pt-BR" sz="1600"/>
              <a:t>Para roteadores e switches, criptografe todas as senhas de texto simples, definindo um comprimento mínimo aceitável de senha, dissuadir ataques de adivinhação de senha de força bruta e desabilite um acesso em modo EXEC privilegiado inativo após um período especificado.</a:t>
            </a:r>
          </a:p>
          <a:p>
            <a:pPr rtl="0">
              <a:spcBef>
                <a:spcPts val="0"/>
              </a:spcBef>
              <a:spcAft>
                <a:spcPts val="0"/>
              </a:spcAft>
              <a:buFont typeface="Arial" panose="020B0604020202020204" pitchFamily="34" charset="0"/>
              <a:buChar char="•"/>
            </a:pPr>
            <a:r>
              <a:rPr lang="pt-BR" sz="1600"/>
              <a:t>Configure dispositivos apropriados para suportar SSH e desative serviços não utilizados.</a:t>
            </a:r>
          </a:p>
          <a:p>
            <a:endParaRPr lang="en-US" sz="1200" dirty="0"/>
          </a:p>
        </p:txBody>
      </p:sp>
    </p:spTree>
    <p:custDataLst>
      <p:tags r:id="rId1"/>
    </p:custDataLst>
    <p:extLst>
      <p:ext uri="{BB962C8B-B14F-4D97-AF65-F5344CB8AC3E}">
        <p14:creationId xmlns:p14="http://schemas.microsoft.com/office/powerpoint/2010/main" val="78329443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31869"/>
            <a:ext cx="9144000" cy="609056"/>
          </a:xfrm>
        </p:spPr>
        <p:txBody>
          <a:bodyPr/>
          <a:lstStyle/>
          <a:p>
            <a:pPr rtl="0" eaLnBrk="1" hangingPunct="1"/>
            <a:r>
              <a:rPr lang="pt-BR" sz="1400">
                <a:latin typeface="Arial" charset="0"/>
              </a:rPr>
              <a:t>Module 16: Network Security Fundamentals</a:t>
            </a:r>
            <a:br>
              <a:rPr lang="en-US" dirty="0">
                <a:latin typeface="Arial" charset="0"/>
              </a:rPr>
            </a:br>
            <a:r>
              <a:rPr lang="pt-BR">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239315" y="588237"/>
            <a:ext cx="4046935" cy="4125482"/>
          </a:xfrm>
          <a:ln>
            <a:solidFill>
              <a:schemeClr val="tx1">
                <a:lumMod val="50000"/>
              </a:schemeClr>
            </a:solidFill>
          </a:ln>
        </p:spPr>
        <p:txBody>
          <a:bodyPr/>
          <a:lstStyle/>
          <a:p>
            <a:pPr rtl="0">
              <a:buFont typeface="Arial" panose="020B0604020202020204" pitchFamily="34" charset="0"/>
              <a:buChar char="•"/>
            </a:pPr>
            <a:r>
              <a:rPr lang="pt-BR" sz="1600"/>
              <a:t>threat actor</a:t>
            </a:r>
          </a:p>
          <a:p>
            <a:pPr rtl="0">
              <a:buFont typeface="Arial" panose="020B0604020202020204" pitchFamily="34" charset="0"/>
              <a:buChar char="•"/>
            </a:pPr>
            <a:r>
              <a:rPr lang="pt-BR" sz="1600"/>
              <a:t>malware</a:t>
            </a:r>
          </a:p>
          <a:p>
            <a:pPr rtl="0">
              <a:buFont typeface="Arial" panose="020B0604020202020204" pitchFamily="34" charset="0"/>
              <a:buChar char="•"/>
            </a:pPr>
            <a:r>
              <a:rPr lang="pt-BR" sz="1600"/>
              <a:t>reconnaissance attacks</a:t>
            </a:r>
          </a:p>
          <a:p>
            <a:pPr rtl="0">
              <a:buFont typeface="Arial" panose="020B0604020202020204" pitchFamily="34" charset="0"/>
              <a:buChar char="•"/>
            </a:pPr>
            <a:r>
              <a:rPr lang="pt-BR" sz="1600"/>
              <a:t>access attacks</a:t>
            </a:r>
          </a:p>
          <a:p>
            <a:pPr rtl="0">
              <a:buFont typeface="Arial" panose="020B0604020202020204" pitchFamily="34" charset="0"/>
              <a:buChar char="•"/>
            </a:pPr>
            <a:r>
              <a:rPr lang="pt-BR" sz="1600"/>
              <a:t>defense-in-depth</a:t>
            </a:r>
          </a:p>
          <a:p>
            <a:pPr rtl="0">
              <a:buFont typeface="Arial" panose="020B0604020202020204" pitchFamily="34" charset="0"/>
              <a:buChar char="•"/>
            </a:pPr>
            <a:r>
              <a:rPr lang="pt-BR" sz="1600"/>
              <a:t>authentication, authorization, and accounting (AAA)</a:t>
            </a:r>
          </a:p>
          <a:p>
            <a:pPr rtl="0">
              <a:buFont typeface="Arial" panose="020B0604020202020204" pitchFamily="34" charset="0"/>
              <a:buChar char="•"/>
            </a:pPr>
            <a:r>
              <a:rPr lang="pt-BR" sz="1600"/>
              <a:t>demilitarized zone (DMZ)</a:t>
            </a:r>
          </a:p>
          <a:p>
            <a:pPr rtl="0">
              <a:buFont typeface="Arial" panose="020B0604020202020204" pitchFamily="34" charset="0"/>
              <a:buChar char="•"/>
            </a:pPr>
            <a:r>
              <a:rPr lang="pt-BR" sz="1600"/>
              <a:t>Cisco AutoSecure</a:t>
            </a:r>
          </a:p>
          <a:p>
            <a:pPr rtl="0">
              <a:buFont typeface="Arial" panose="020B0604020202020204" pitchFamily="34" charset="0"/>
              <a:buChar char="•"/>
            </a:pPr>
            <a:r>
              <a:rPr lang="pt-BR" sz="1600"/>
              <a:t>passphrase</a:t>
            </a:r>
          </a:p>
          <a:p>
            <a:pPr marL="0" indent="0">
              <a:buNone/>
            </a:pPr>
            <a:endParaRPr lang="en-US" sz="1600" dirty="0"/>
          </a:p>
          <a:p>
            <a:pPr marL="0" indent="0">
              <a:buNone/>
            </a:pPr>
            <a:endParaRPr lang="en-US" sz="1600" dirty="0"/>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4373162" y="588237"/>
            <a:ext cx="4427935" cy="41254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pt-BR" sz="1600" b="1"/>
              <a:t>service password-encryption</a:t>
            </a:r>
          </a:p>
          <a:p>
            <a:pPr rtl="0">
              <a:buFont typeface="Arial" panose="020B0604020202020204" pitchFamily="34" charset="0"/>
              <a:buChar char="•"/>
            </a:pPr>
            <a:r>
              <a:rPr lang="pt-BR" sz="1600" b="1"/>
              <a:t>security passwords min-length </a:t>
            </a:r>
          </a:p>
          <a:p>
            <a:pPr rtl="0">
              <a:buFont typeface="Arial" panose="020B0604020202020204" pitchFamily="34" charset="0"/>
              <a:buChar char="•"/>
            </a:pPr>
            <a:r>
              <a:rPr lang="pt-BR" sz="1600" b="1"/>
              <a:t>login block-for</a:t>
            </a:r>
          </a:p>
          <a:p>
            <a:pPr rtl="0">
              <a:buFont typeface="Arial" panose="020B0604020202020204" pitchFamily="34" charset="0"/>
              <a:buChar char="•"/>
            </a:pPr>
            <a:r>
              <a:rPr lang="pt-BR" sz="1600" b="1"/>
              <a:t>exec-timeout</a:t>
            </a:r>
          </a:p>
          <a:p>
            <a:pPr rtl="0">
              <a:buFont typeface="Arial" panose="020B0604020202020204" pitchFamily="34" charset="0"/>
              <a:buChar char="•"/>
            </a:pPr>
            <a:r>
              <a:rPr lang="pt-BR" sz="1600" b="1"/>
              <a:t>crypto key generate rsa general-keys modulus</a:t>
            </a:r>
          </a:p>
          <a:p>
            <a:pPr rtl="0">
              <a:buFont typeface="Arial" panose="020B0604020202020204" pitchFamily="34" charset="0"/>
              <a:buChar char="•"/>
            </a:pPr>
            <a:r>
              <a:rPr lang="pt-BR" sz="1600" b="1"/>
              <a:t>username</a:t>
            </a:r>
            <a:r>
              <a:rPr lang="pt-BR" sz="1600"/>
              <a:t> </a:t>
            </a:r>
            <a:r>
              <a:rPr lang="pt-BR" sz="1600" b="1"/>
              <a:t>password | secret </a:t>
            </a:r>
          </a:p>
          <a:p>
            <a:pPr rtl="0">
              <a:buFont typeface="Arial" panose="020B0604020202020204" pitchFamily="34" charset="0"/>
              <a:buChar char="•"/>
            </a:pPr>
            <a:r>
              <a:rPr lang="pt-BR" sz="1600" b="1"/>
              <a:t>login local</a:t>
            </a:r>
          </a:p>
          <a:p>
            <a:pPr rtl="0">
              <a:buFont typeface="Arial" panose="020B0604020202020204" pitchFamily="34" charset="0"/>
              <a:buChar char="•"/>
            </a:pPr>
            <a:r>
              <a:rPr lang="pt-BR" sz="1600" b="1"/>
              <a:t>transport input ssh</a:t>
            </a:r>
          </a:p>
          <a:p>
            <a:pPr rtl="0">
              <a:buFont typeface="Arial" panose="020B0604020202020204" pitchFamily="34" charset="0"/>
              <a:buChar char="•"/>
            </a:pPr>
            <a:r>
              <a:rPr lang="pt-BR" sz="1600" b="1"/>
              <a:t>show ip ports all</a:t>
            </a:r>
          </a:p>
          <a:p>
            <a:pPr rtl="0">
              <a:buFont typeface="Arial" panose="020B0604020202020204" pitchFamily="34" charset="0"/>
              <a:buChar char="•"/>
            </a:pPr>
            <a:r>
              <a:rPr lang="pt-BR" sz="1600" b="1"/>
              <a:t>show control-plan host open-ports</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5361</TotalTime>
  <Words>4840</Words>
  <Application>Microsoft Office PowerPoint</Application>
  <PresentationFormat>Apresentação na tela (16:9)</PresentationFormat>
  <Paragraphs>351</Paragraphs>
  <Slides>36</Slides>
  <Notes>36</Notes>
  <HiddenSlides>1</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36</vt:i4>
      </vt:variant>
    </vt:vector>
  </HeadingPairs>
  <TitlesOfParts>
    <vt:vector size="44" baseType="lpstr">
      <vt:lpstr>ＭＳ Ｐゴシック</vt:lpstr>
      <vt:lpstr>Arial</vt:lpstr>
      <vt:lpstr>Calibri</vt:lpstr>
      <vt:lpstr>CiscoSans</vt:lpstr>
      <vt:lpstr>CiscoSans ExtraLight</vt:lpstr>
      <vt:lpstr>CiscoSans Thin</vt:lpstr>
      <vt:lpstr>Wingdings</vt:lpstr>
      <vt:lpstr>Default Theme</vt:lpstr>
      <vt:lpstr>Módulo 16: Fundamentos de segurança de rede</vt:lpstr>
      <vt:lpstr>Objetivos do módulo</vt:lpstr>
      <vt:lpstr>16.1 - Ameaças à segurança e vulnerabilidades</vt:lpstr>
      <vt:lpstr>Ameaças à segurança e vulnerabilidades  Tipos de ameaças</vt:lpstr>
      <vt:lpstr>Ameaças à segurança e vulnerabilidades  Tipos de vulnerabilidades</vt:lpstr>
      <vt:lpstr>Ameaças à segurança e vulnerabilidades  Segurança física</vt:lpstr>
      <vt:lpstr>16.2 Ataques à Rede</vt:lpstr>
      <vt:lpstr>Ataques de rede  Tipos de malware</vt:lpstr>
      <vt:lpstr>Ataques de rede  Ataques de reconhecimento</vt:lpstr>
      <vt:lpstr>Ataques de rede  Ataques de acesso</vt:lpstr>
      <vt:lpstr>Ataques de rede  Ataques de negação de serviço</vt:lpstr>
      <vt:lpstr>Ataques de rede  Laboratório – Pesquisar ameaças à segurança da rede</vt:lpstr>
      <vt:lpstr>16.3 Mitigações de ataque à rede</vt:lpstr>
      <vt:lpstr>Mitigação de ataques de rede A abordagem de defesa em profundidade</vt:lpstr>
      <vt:lpstr>Mitigações de ataque à rede  Mantenha Backups</vt:lpstr>
      <vt:lpstr>Atenuação de ataques à rede  Backups, atualizações e patches</vt:lpstr>
      <vt:lpstr>Atenuação de ataques à rede  Autenticação, autorização e accounting</vt:lpstr>
      <vt:lpstr>Atenuação de ataques à rede  Firewalls</vt:lpstr>
      <vt:lpstr>Atenuação de ataques à rede  Firewalls</vt:lpstr>
      <vt:lpstr>Atenuação de ataques à rede  Segurança de endpoints</vt:lpstr>
      <vt:lpstr>16.4 Segurança de dispositivos</vt:lpstr>
      <vt:lpstr>Segurança do dispositivo Cisco AutoSecure</vt:lpstr>
      <vt:lpstr>Segurança de dispositivos  Senhas</vt:lpstr>
      <vt:lpstr>Segurança de dispositivos  Segurança de Senha Adicional</vt:lpstr>
      <vt:lpstr>Segurança de dispositivos  Ativação do SSH</vt:lpstr>
      <vt:lpstr>Segurança do dispositivo desabilitar serviços não utilizados</vt:lpstr>
      <vt:lpstr>Segurança de dispositicos Packet Tracer - Configurar Senhas Seguras e SSH</vt:lpstr>
      <vt:lpstr>Segurança de Dispositivos Lab — Configurar dispositivos de rede com SSH</vt:lpstr>
      <vt:lpstr>16.5 - Módulo Prática e Quiz</vt:lpstr>
      <vt:lpstr>Prática de Módulo eTracer dePacotes de Quiz — Dispositivos de Rede Segura</vt:lpstr>
      <vt:lpstr> Laboratório de Prática de Módulos e Questionário — Dispositivos de Rede Segura</vt:lpstr>
      <vt:lpstr>Module Practice and Quiz What Did I Learn In This Module?</vt:lpstr>
      <vt:lpstr>Módulo Prática e Quiz O que aprendi neste módulo? (continuação)</vt:lpstr>
      <vt:lpstr>Módulo Prática e Quiz O que aprendi neste módulo? (continuação)</vt:lpstr>
      <vt:lpstr>Module 16: Network Security Fundamentals New Terms and Commands</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ISMAEL MOURA PAREDE</cp:lastModifiedBy>
  <cp:revision>276</cp:revision>
  <dcterms:created xsi:type="dcterms:W3CDTF">2019-10-18T06:21:22Z</dcterms:created>
  <dcterms:modified xsi:type="dcterms:W3CDTF">2025-10-17T15:04:05Z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