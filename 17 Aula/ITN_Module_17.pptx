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0.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2.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3.xml" ContentType="application/vnd.openxmlformats-officedocument.presentationml.tags+xml"/>
  <Override PartName="/ppt/notesSlides/notesSlide57.xml" ContentType="application/vnd.openxmlformats-officedocument.presentationml.notesSlide+xml"/>
  <Override PartName="/ppt/tags/tag14.xml" ContentType="application/vnd.openxmlformats-officedocument.presentationml.tags+xml"/>
  <Override PartName="/ppt/notesSlides/notesSlide58.xml" ContentType="application/vnd.openxmlformats-officedocument.presentationml.notesSlide+xml"/>
  <Override PartName="/ppt/tags/tag15.xml" ContentType="application/vnd.openxmlformats-officedocument.presentationml.tags+xml"/>
  <Override PartName="/ppt/notesSlides/notesSlide59.xml" ContentType="application/vnd.openxmlformats-officedocument.presentationml.notesSlide+xml"/>
  <Override PartName="/ppt/tags/tag16.xml" ContentType="application/vnd.openxmlformats-officedocument.presentationml.tags+xml"/>
  <Override PartName="/ppt/notesSlides/notesSlide60.xml" ContentType="application/vnd.openxmlformats-officedocument.presentationml.notesSlide+xml"/>
  <Override PartName="/ppt/tags/tag17.xml" ContentType="application/vnd.openxmlformats-officedocument.presentationml.tags+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3"/>
  </p:notesMasterIdLst>
  <p:sldIdLst>
    <p:sldId id="513" r:id="rId2"/>
    <p:sldId id="876" r:id="rId3"/>
    <p:sldId id="860" r:id="rId4"/>
    <p:sldId id="759" r:id="rId5"/>
    <p:sldId id="1108" r:id="rId6"/>
    <p:sldId id="1145" r:id="rId7"/>
    <p:sldId id="1146" r:id="rId8"/>
    <p:sldId id="1147" r:id="rId9"/>
    <p:sldId id="1148" r:id="rId10"/>
    <p:sldId id="1056" r:id="rId11"/>
    <p:sldId id="1149" r:id="rId12"/>
    <p:sldId id="1150" r:id="rId13"/>
    <p:sldId id="1151" r:id="rId14"/>
    <p:sldId id="1152" r:id="rId15"/>
    <p:sldId id="1103" r:id="rId16"/>
    <p:sldId id="1153" r:id="rId17"/>
    <p:sldId id="1154" r:id="rId18"/>
    <p:sldId id="1155" r:id="rId19"/>
    <p:sldId id="1104" r:id="rId20"/>
    <p:sldId id="1156" r:id="rId21"/>
    <p:sldId id="1157" r:id="rId22"/>
    <p:sldId id="1158" r:id="rId23"/>
    <p:sldId id="1159" r:id="rId24"/>
    <p:sldId id="1160" r:id="rId25"/>
    <p:sldId id="1161" r:id="rId26"/>
    <p:sldId id="1162" r:id="rId27"/>
    <p:sldId id="1163" r:id="rId28"/>
    <p:sldId id="1164" r:id="rId29"/>
    <p:sldId id="1194" r:id="rId30"/>
    <p:sldId id="1140" r:id="rId31"/>
    <p:sldId id="1165" r:id="rId32"/>
    <p:sldId id="1166" r:id="rId33"/>
    <p:sldId id="1167" r:id="rId34"/>
    <p:sldId id="1168" r:id="rId35"/>
    <p:sldId id="1169" r:id="rId36"/>
    <p:sldId id="1170" r:id="rId37"/>
    <p:sldId id="1171" r:id="rId38"/>
    <p:sldId id="1172" r:id="rId39"/>
    <p:sldId id="1173" r:id="rId40"/>
    <p:sldId id="1139" r:id="rId41"/>
    <p:sldId id="1174" r:id="rId42"/>
    <p:sldId id="1175" r:id="rId43"/>
    <p:sldId id="1176" r:id="rId44"/>
    <p:sldId id="1177" r:id="rId45"/>
    <p:sldId id="1138" r:id="rId46"/>
    <p:sldId id="1178" r:id="rId47"/>
    <p:sldId id="1179" r:id="rId48"/>
    <p:sldId id="1180" r:id="rId49"/>
    <p:sldId id="1181" r:id="rId50"/>
    <p:sldId id="1182" r:id="rId51"/>
    <p:sldId id="1184" r:id="rId52"/>
    <p:sldId id="1183" r:id="rId53"/>
    <p:sldId id="957" r:id="rId54"/>
    <p:sldId id="1185" r:id="rId55"/>
    <p:sldId id="1186" r:id="rId56"/>
    <p:sldId id="1187" r:id="rId57"/>
    <p:sldId id="1137" r:id="rId58"/>
    <p:sldId id="1188" r:id="rId59"/>
    <p:sldId id="1189" r:id="rId60"/>
    <p:sldId id="874" r:id="rId61"/>
    <p:sldId id="291" r:id="rId62"/>
  </p:sldIdLst>
  <p:sldSz cx="9144000" cy="5143500" type="screen16x9"/>
  <p:notesSz cx="6858000" cy="9144000"/>
  <p:custDataLst>
    <p:tags r:id="rId6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8"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 id="6" name="Anna Bolen-Testa" initials="AB" lastIdx="1" clrIdx="6">
    <p:extLst>
      <p:ext uri="{19B8F6BF-5375-455C-9EA6-DF929625EA0E}">
        <p15:presenceInfo xmlns:p15="http://schemas.microsoft.com/office/powerpoint/2012/main" userId="S-1-5-21-650795749-649990105-1978746762-71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0" autoAdjust="0"/>
    <p:restoredTop sz="75163" autoAdjust="0"/>
  </p:normalViewPr>
  <p:slideViewPr>
    <p:cSldViewPr snapToGrid="0" showGuides="1">
      <p:cViewPr varScale="1">
        <p:scale>
          <a:sx n="85" d="100"/>
          <a:sy n="85" d="100"/>
        </p:scale>
        <p:origin x="1238" y="53"/>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baseline="0"/>
              <a:t>Introdução às redes v</a:t>
            </a:r>
            <a:r>
              <a:rPr lang="pt-BR" b="0"/>
              <a:t>7.0 (ITN)</a:t>
            </a:r>
          </a:p>
          <a:p>
            <a:pPr rtl="0"/>
            <a:r>
              <a:rPr lang="pt-BR"/>
              <a:t>Módulo 17: Construa uma rede pequena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a:t>
            </a:fld>
            <a:endParaRPr/>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3</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17.0.2</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Construir uma Pequena Rede</a:t>
            </a:r>
          </a:p>
          <a:p>
            <a:pPr rtl="0"/>
            <a:r>
              <a:rPr lang="pt-BR"/>
              <a:t>17.1 – Dispositivos em uma Rede Pequena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17.1.1 – Topologias de Redes Pequenas</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11.1.1.2 – Seleção de Dispositivos para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2385235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17.1.3 – Endereçamento IP para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3012842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17.1.4 – Redundância em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2565241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17.1 – Dispositivos em uma Rede Pequena</a:t>
            </a:r>
          </a:p>
          <a:p>
            <a:pPr rtl="0"/>
            <a:r>
              <a:rPr lang="pt-BR"/>
              <a:t>17.1.5 - Gerenciamento de Tráfego</a:t>
            </a:r>
          </a:p>
          <a:p>
            <a:pPr rtl="0"/>
            <a:r>
              <a:rPr lang="pt-BR"/>
              <a:t>17.1.6 — Verifique seu Entendimento — Dispositivos em uma Rede Pequena</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3235384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Construir uma Pequena Rede</a:t>
            </a:r>
          </a:p>
          <a:p>
            <a:pPr rtl="0"/>
            <a:r>
              <a:rPr lang="pt-BR"/>
              <a:t>17.2 – Aplicações e Protocolos de Redes Pequenas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17.2.1 – Aplicações Comuns</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1936976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17.2.2 - Protocolos Comuns</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2911410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17.2.2 — Protocolos Comuns (Cont.)</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788507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17.2 – Aplicações e Protocolos de Redes Pequenas</a:t>
            </a:r>
          </a:p>
          <a:p>
            <a:pPr rtl="0"/>
            <a:r>
              <a:rPr lang="pt-BR"/>
              <a:t>17.2.3 – Aplicações de Voz e Vídeo</a:t>
            </a:r>
          </a:p>
          <a:p>
            <a:pPr rtl="0"/>
            <a:r>
              <a:rPr lang="pt-BR"/>
              <a:t>17.2.4 — Verifique o Seu Entendimento — Pequenas Aplicações e Protocolos de Rede</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847646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17.3 – Escalar para Redes Maiores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17.3.1 – Crescimento de Redes Pequenas</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2537056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17.3.2 – Análise de Protocolos</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51849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17.3 – Escalar para Redes Maiores</a:t>
            </a:r>
          </a:p>
          <a:p>
            <a:pPr rtl="0"/>
            <a:r>
              <a:rPr lang="pt-BR"/>
              <a:t>17.3.3 – Utilização da Rede pelos Funcionários</a:t>
            </a:r>
          </a:p>
          <a:p>
            <a:pPr rtl="0"/>
            <a:r>
              <a:rPr lang="pt-BR"/>
              <a:t>17.3.4 — Verifique o Seu Entendimento — Dimensão para Redes Maiores</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620451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17.4 - Verificar a Conectividade.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17.4.1 — Verificar a Conectividade com Ping</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040356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17.4.1 — Verificar a Conectividade com Ping (Cont.)</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521877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17.4.2 – Ping Estendido</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988846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Verifique a Conectividade com o Traceroute</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1225926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Verificar a Conectividade com Traceroute (Cont.)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156343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17.4.3 — Verificar a Conectividade com Traceroute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6084038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17.4.4 – Traceroute Estendido</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9016930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17.4.4 — Traceroute Estendido (Cont.)</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26164822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17.4.5 - Linha de Base de Rede</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841866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17.4 - Verificar a Conectividade.</a:t>
            </a:r>
          </a:p>
          <a:p>
            <a:pPr rtl="0"/>
            <a:r>
              <a:rPr lang="pt-BR"/>
              <a:t>17.4.6 - Laboratório - Teste de Latência da Rede com Ping e Traceroute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729084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17.5 - Host e Comandos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1652868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17.5.1 — Configuração IP em um Host Windows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691620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17.5.2 — Configuração IP em um Host Linux</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4075714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17.5.3 — Configuração IP em um Host macOS</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1619261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17.5.4 - O Comando arp</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2440431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17.5.5 - Comandos Comuns Revisitados: show</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42313168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17.5.6 – O Comando show cdp neighbors</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33235437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17.5.7 - O Comando show ip interface brief</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114888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17.5.8 - Video - O Comando show version</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17010348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17.5 - Host e Comandos IOS</a:t>
            </a:r>
          </a:p>
          <a:p>
            <a:pPr rtl="0"/>
            <a:r>
              <a:rPr lang="pt-BR"/>
              <a:t>17.5.9 — Packet Tracer — Interpretar a Saída de Comando show</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3070561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7636478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17.6.1 – Abordagens Básicas Para a Solução de Problemas</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8589145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17.6.2 – Resolver ou Escalonar?</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9504025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17.6.3 - O Comando debug</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1687860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17.6 – Metodologias de Solução de Problemas</a:t>
            </a:r>
          </a:p>
          <a:p>
            <a:pPr rtl="0"/>
            <a:r>
              <a:rPr lang="pt-BR"/>
              <a:t>17.6.4 - O Comando terminal monitor</a:t>
            </a:r>
          </a:p>
          <a:p>
            <a:pPr rtl="0"/>
            <a:r>
              <a:rPr lang="pt-BR"/>
              <a:t>17.6.5 — Verifique Seu Entendimento — Metodologias de Solução de Problemas</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5481719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4288106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17.7.1 — Problemas de Operação Duplex e Incompatibilidade</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9719165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17.7.2 - Problemas de Endereçamento IP em Dispositivos IOS</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3724072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17.7.3 – Problemas de Endereçamento IP nos Dispositivos Finais</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5838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17.7.4 – Problemas de Gateway Padrão</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3043246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17.7.5 - Como Solucionar Problemas de DNS</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17274064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17.7.6 – Packet Tracer - Solucionar Problemas de Conectividade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1920164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17.7 – Cenários de Solução de Problemas</a:t>
            </a:r>
          </a:p>
          <a:p>
            <a:pPr rtl="0"/>
            <a:r>
              <a:rPr lang="pt-BR"/>
              <a:t>17.7.7 – PTPM e Lab – Solucione Problemas de Conectividade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3068880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17.0 - Construir uma Pequena Rede</a:t>
            </a:r>
          </a:p>
          <a:p>
            <a:pPr rtl="0"/>
            <a:r>
              <a:rPr lang="pt-BR"/>
              <a:t>17.8 -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17.8.1 – PTPM e Lab – Projeto e Desenvolvimento de uma Pequena Rede de Negócios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38944276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17.8.2 - Packet Tracer – Desafio de Integração de Habilidades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18553082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17 – Como Criar uma Rede Pequena</a:t>
            </a:r>
          </a:p>
          <a:p>
            <a:pPr rtl="0"/>
            <a:r>
              <a:rPr lang="pt-BR"/>
              <a:t>17.8 - Módulo Prática e Quiz</a:t>
            </a:r>
          </a:p>
          <a:p>
            <a:pPr rtl="0"/>
            <a:r>
              <a:rPr lang="pt-BR"/>
              <a:t>17.8.3 – Packet Tracer – Desafio de Solução de Problemas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10279177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Aprendi Neste Módulo (cont.)?</a:t>
            </a:r>
          </a:p>
        </p:txBody>
      </p:sp>
    </p:spTree>
    <p:extLst>
      <p:ext uri="{BB962C8B-B14F-4D97-AF65-F5344CB8AC3E}">
        <p14:creationId xmlns:p14="http://schemas.microsoft.com/office/powerpoint/2010/main" val="11392415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eu Aprendi Neste Módulo?</a:t>
            </a:r>
          </a:p>
        </p:txBody>
      </p:sp>
    </p:spTree>
    <p:extLst>
      <p:ext uri="{BB962C8B-B14F-4D97-AF65-F5344CB8AC3E}">
        <p14:creationId xmlns:p14="http://schemas.microsoft.com/office/powerpoint/2010/main" val="4052072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17 – Como Criar uma Rede Pequena</a:t>
            </a:r>
          </a:p>
          <a:p>
            <a:pPr rtl="0"/>
            <a:r>
              <a:rPr lang="pt-BR"/>
              <a:t>17.8 - Módulo Prática e Quiz</a:t>
            </a:r>
          </a:p>
          <a:p>
            <a:pPr rtl="0"/>
            <a:r>
              <a:rPr lang="pt-BR"/>
              <a:t>17.8.4 - O Que eu Aprendi Neste Módulo?</a:t>
            </a:r>
          </a:p>
          <a:p>
            <a:pPr rtl="0"/>
            <a:r>
              <a:rPr lang="pt-BR"/>
              <a:t>17.8.5 — Teste de Módulo — Construir uma Rede Pequena</a:t>
            </a:r>
          </a:p>
        </p:txBody>
      </p:sp>
    </p:spTree>
    <p:extLst>
      <p:ext uri="{BB962C8B-B14F-4D97-AF65-F5344CB8AC3E}">
        <p14:creationId xmlns:p14="http://schemas.microsoft.com/office/powerpoint/2010/main" val="42867117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60</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Documento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705061" y="4741653"/>
            <a:ext cx="2820465" cy="154518"/>
          </a:xfrm>
          <a:prstGeom prst="rect">
            <a:avLst/>
          </a:prstGeom>
          <a:noFill/>
          <a:ln w="9525">
            <a:noFill/>
            <a:miter lim="800000"/>
            <a:headEnd/>
            <a:tailEnd/>
          </a:ln>
          <a:effectLst/>
        </p:spPr>
        <p:txBody>
          <a:bodyPr wrap="square"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2019, 2021 Cisco e/ou suas afiliadas. Todos os direitos reservados.   Documento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17: Construa uma Rede Pequena</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 </a:t>
            </a:r>
          </a:p>
          <a:p>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17: Construa uma rede pequena</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614217"/>
            <a:ext cx="8853286" cy="757551"/>
          </a:xfrm>
        </p:spPr>
        <p:txBody>
          <a:bodyPr/>
          <a:lstStyle/>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Título do módulo: </a:t>
            </a:r>
            <a:r>
              <a:rPr lang="pt-BR" sz="1400">
                <a:solidFill>
                  <a:schemeClr val="tx1"/>
                </a:solidFill>
                <a:ea typeface="Calibri" panose="020F0502020204030204" pitchFamily="34" charset="0"/>
                <a:cs typeface="Calibri" panose="020F0502020204030204" pitchFamily="34" charset="0"/>
              </a:rPr>
              <a:t>Criar uma rede pequena</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Objetivo do módulo</a:t>
            </a:r>
            <a:r>
              <a:rPr lang="pt-BR" sz="1400">
                <a:solidFill>
                  <a:schemeClr val="tx1"/>
                </a:solidFill>
                <a:ea typeface="Calibri" panose="020F0502020204030204" pitchFamily="34" charset="0"/>
                <a:cs typeface="Calibri" panose="020F0502020204030204" pitchFamily="34" charset="0"/>
              </a:rPr>
              <a:t>: </a:t>
            </a:r>
            <a:r>
              <a:rPr lang="pt-BR"/>
              <a:t>Implementar um design de rede para uma pequena rede para incluir um roteador, um switch e dispositivos finais.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855954571"/>
              </p:ext>
            </p:extLst>
          </p:nvPr>
        </p:nvGraphicFramePr>
        <p:xfrm>
          <a:off x="144065" y="1547438"/>
          <a:ext cx="8667426" cy="3147060"/>
        </p:xfrm>
        <a:graphic>
          <a:graphicData uri="http://schemas.openxmlformats.org/drawingml/2006/table">
            <a:tbl>
              <a:tblPr firstRow="1" bandRow="1">
                <a:tableStyleId>{5C22544A-7EE6-4342-B048-85BDC9FD1C3A}</a:tableStyleId>
              </a:tblPr>
              <a:tblGrid>
                <a:gridCol w="3830016">
                  <a:extLst>
                    <a:ext uri="{9D8B030D-6E8A-4147-A177-3AD203B41FA5}">
                      <a16:colId xmlns:a16="http://schemas.microsoft.com/office/drawing/2014/main" val="2579019526"/>
                    </a:ext>
                  </a:extLst>
                </a:gridCol>
                <a:gridCol w="4837410">
                  <a:extLst>
                    <a:ext uri="{9D8B030D-6E8A-4147-A177-3AD203B41FA5}">
                      <a16:colId xmlns:a16="http://schemas.microsoft.com/office/drawing/2014/main" val="1764220437"/>
                    </a:ext>
                  </a:extLst>
                </a:gridCol>
              </a:tblGrid>
              <a:tr h="370840">
                <a:tc>
                  <a:txBody>
                    <a:bodyPr/>
                    <a:lstStyle/>
                    <a:p>
                      <a:pPr algn="l" rtl="0" fontAlgn="ctr"/>
                      <a:r>
                        <a:rPr lang="pt-BR" sz="1200" b="1">
                          <a:effectLst/>
                        </a:rPr>
                        <a:t>Título do Tópico</a:t>
                      </a:r>
                    </a:p>
                  </a:txBody>
                  <a:tcPr marL="47625" marR="47625" marT="47625" marB="47625" anchor="ctr"/>
                </a:tc>
                <a:tc>
                  <a:txBody>
                    <a:bodyPr/>
                    <a:lstStyle/>
                    <a:p>
                      <a:pPr algn="l" rtl="0" fontAlgn="ctr"/>
                      <a:r>
                        <a:rPr lang="pt-BR" sz="1200" b="1">
                          <a:effectLst/>
                        </a:rPr>
                        <a:t>Objetivo do Tópico</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pt-BR" sz="1200" b="1">
                          <a:solidFill>
                            <a:schemeClr val="bg1"/>
                          </a:solidFill>
                          <a:effectLst/>
                        </a:rPr>
                        <a:t>Dispositivos em uma rede pequena</a:t>
                      </a:r>
                    </a:p>
                  </a:txBody>
                  <a:tcPr marL="47625" marR="47625" marT="47625" marB="47625" anchor="ctr">
                    <a:solidFill>
                      <a:schemeClr val="accent1"/>
                    </a:solidFill>
                  </a:tcPr>
                </a:tc>
                <a:tc>
                  <a:txBody>
                    <a:bodyPr/>
                    <a:lstStyle/>
                    <a:p>
                      <a:pPr rtl="0" fontAlgn="ctr"/>
                      <a:r>
                        <a:rPr lang="pt-BR" sz="1200" b="0">
                          <a:effectLst/>
                        </a:rPr>
                        <a:t>Identificar os dispositivos usados em uma rede pequena.</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pt-BR" sz="1200" b="1">
                          <a:solidFill>
                            <a:schemeClr val="bg1"/>
                          </a:solidFill>
                          <a:effectLst/>
                        </a:rPr>
                        <a:t>Aplicações e protocolos de redes pequenas</a:t>
                      </a:r>
                    </a:p>
                  </a:txBody>
                  <a:tcPr marL="47625" marR="47625" marT="47625" marB="47625" anchor="ctr">
                    <a:solidFill>
                      <a:schemeClr val="accent1"/>
                    </a:solidFill>
                  </a:tcPr>
                </a:tc>
                <a:tc>
                  <a:txBody>
                    <a:bodyPr/>
                    <a:lstStyle/>
                    <a:p>
                      <a:pPr rtl="0" fontAlgn="ctr"/>
                      <a:r>
                        <a:rPr lang="pt-BR" sz="1200" b="0">
                          <a:effectLst/>
                        </a:rPr>
                        <a:t>Identificar os protocolos e aplicações usadas em uma rede pequena.</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pt-BR" sz="1200" b="1">
                          <a:solidFill>
                            <a:schemeClr val="bg1"/>
                          </a:solidFill>
                          <a:effectLst/>
                        </a:rPr>
                        <a:t>Escalar para redes maiores</a:t>
                      </a:r>
                    </a:p>
                  </a:txBody>
                  <a:tcPr marL="47625" marR="47625" marT="47625" marB="47625" anchor="ctr">
                    <a:solidFill>
                      <a:schemeClr val="accent1"/>
                    </a:solidFill>
                  </a:tcPr>
                </a:tc>
                <a:tc>
                  <a:txBody>
                    <a:bodyPr/>
                    <a:lstStyle/>
                    <a:p>
                      <a:pPr rtl="0" fontAlgn="ctr"/>
                      <a:r>
                        <a:rPr lang="pt-BR" sz="1200" b="0">
                          <a:effectLst/>
                        </a:rPr>
                        <a:t>Explicar como uma rede pequena serve de base para redes maiores.</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pt-BR" sz="1200" b="1">
                          <a:solidFill>
                            <a:schemeClr val="bg1"/>
                          </a:solidFill>
                          <a:effectLst/>
                        </a:rPr>
                        <a:t>Verificar a conectividade</a:t>
                      </a:r>
                    </a:p>
                  </a:txBody>
                  <a:tcPr marL="47625" marR="47625" marT="47625" marB="47625" anchor="ctr">
                    <a:solidFill>
                      <a:schemeClr val="accent1"/>
                    </a:solidFill>
                  </a:tcPr>
                </a:tc>
                <a:tc>
                  <a:txBody>
                    <a:bodyPr/>
                    <a:lstStyle/>
                    <a:p>
                      <a:pPr rtl="0" fontAlgn="ctr"/>
                      <a:r>
                        <a:rPr lang="pt-BR" sz="1200" b="0">
                          <a:effectLst/>
                        </a:rPr>
                        <a:t>Usar a saída dos comandos ping e tracert para verificar a conectividade e determinar o desempenho da rede relacionada.</a:t>
                      </a:r>
                    </a:p>
                  </a:txBody>
                  <a:tcPr marL="47625" marR="47625" marT="47625" marB="47625" anchor="ctr"/>
                </a:tc>
                <a:extLst>
                  <a:ext uri="{0D108BD9-81ED-4DB2-BD59-A6C34878D82A}">
                    <a16:rowId xmlns:a16="http://schemas.microsoft.com/office/drawing/2014/main" val="3134809945"/>
                  </a:ext>
                </a:extLst>
              </a:tr>
              <a:tr h="370840">
                <a:tc>
                  <a:txBody>
                    <a:bodyPr/>
                    <a:lstStyle/>
                    <a:p>
                      <a:pPr rtl="0" fontAlgn="ctr"/>
                      <a:r>
                        <a:rPr lang="pt-BR" sz="1200" b="1">
                          <a:solidFill>
                            <a:schemeClr val="bg1"/>
                          </a:solidFill>
                          <a:effectLst/>
                        </a:rPr>
                        <a:t>Host e comandos IOS</a:t>
                      </a:r>
                    </a:p>
                  </a:txBody>
                  <a:tcPr marL="47625" marR="47625" marT="47625" marB="47625" anchor="ctr">
                    <a:solidFill>
                      <a:schemeClr val="accent1"/>
                    </a:solidFill>
                  </a:tcPr>
                </a:tc>
                <a:tc>
                  <a:txBody>
                    <a:bodyPr/>
                    <a:lstStyle/>
                    <a:p>
                      <a:pPr rtl="0" fontAlgn="ctr"/>
                      <a:r>
                        <a:rPr lang="pt-BR" sz="1200" b="0">
                          <a:effectLst/>
                        </a:rPr>
                        <a:t>Usar o host e os comandos IOS para adquirir informações sobre os dispositivos em uma rede.</a:t>
                      </a:r>
                    </a:p>
                  </a:txBody>
                  <a:tcPr marL="47625" marR="47625" marT="47625" marB="47625" anchor="ctr"/>
                </a:tc>
                <a:extLst>
                  <a:ext uri="{0D108BD9-81ED-4DB2-BD59-A6C34878D82A}">
                    <a16:rowId xmlns:a16="http://schemas.microsoft.com/office/drawing/2014/main" val="2728406127"/>
                  </a:ext>
                </a:extLst>
              </a:tr>
              <a:tr h="370840">
                <a:tc>
                  <a:txBody>
                    <a:bodyPr/>
                    <a:lstStyle/>
                    <a:p>
                      <a:pPr rtl="0" fontAlgn="ctr"/>
                      <a:r>
                        <a:rPr lang="pt-BR" sz="1200" b="1">
                          <a:solidFill>
                            <a:schemeClr val="bg1"/>
                          </a:solidFill>
                          <a:effectLst/>
                        </a:rPr>
                        <a:t>Metodologias de solução de problemas</a:t>
                      </a:r>
                    </a:p>
                  </a:txBody>
                  <a:tcPr marL="47625" marR="47625" marT="47625" marB="47625" anchor="ctr">
                    <a:solidFill>
                      <a:schemeClr val="accent1"/>
                    </a:solidFill>
                  </a:tcPr>
                </a:tc>
                <a:tc>
                  <a:txBody>
                    <a:bodyPr/>
                    <a:lstStyle/>
                    <a:p>
                      <a:pPr rtl="0" fontAlgn="ctr"/>
                      <a:r>
                        <a:rPr lang="pt-BR" sz="1200" b="0">
                          <a:effectLst/>
                        </a:rPr>
                        <a:t>Descrever as metodologias de solução de problemas de rede comuns.</a:t>
                      </a:r>
                    </a:p>
                  </a:txBody>
                  <a:tcPr marL="47625" marR="47625" marT="47625" marB="47625" anchor="ctr"/>
                </a:tc>
                <a:extLst>
                  <a:ext uri="{0D108BD9-81ED-4DB2-BD59-A6C34878D82A}">
                    <a16:rowId xmlns:a16="http://schemas.microsoft.com/office/drawing/2014/main" val="3149551507"/>
                  </a:ext>
                </a:extLst>
              </a:tr>
              <a:tr h="370840">
                <a:tc>
                  <a:txBody>
                    <a:bodyPr/>
                    <a:lstStyle/>
                    <a:p>
                      <a:pPr rtl="0" fontAlgn="ctr"/>
                      <a:r>
                        <a:rPr lang="pt-BR" sz="1200" b="1">
                          <a:solidFill>
                            <a:schemeClr val="bg1"/>
                          </a:solidFill>
                          <a:effectLst/>
                        </a:rPr>
                        <a:t>Cenários de solução de problemas</a:t>
                      </a:r>
                    </a:p>
                  </a:txBody>
                  <a:tcPr marL="47625" marR="47625" marT="47625" marB="47625" anchor="ctr">
                    <a:solidFill>
                      <a:schemeClr val="accent1"/>
                    </a:solidFill>
                  </a:tcPr>
                </a:tc>
                <a:tc>
                  <a:txBody>
                    <a:bodyPr/>
                    <a:lstStyle/>
                    <a:p>
                      <a:pPr rtl="0" fontAlgn="ctr"/>
                      <a:r>
                        <a:rPr lang="pt-BR" sz="1200" b="0">
                          <a:effectLst/>
                        </a:rPr>
                        <a:t>Solucionar problemas com dispositivos na rede.</a:t>
                      </a:r>
                    </a:p>
                  </a:txBody>
                  <a:tcPr marL="47625" marR="47625" marT="47625" marB="47625" anchor="ctr"/>
                </a:tc>
                <a:extLst>
                  <a:ext uri="{0D108BD9-81ED-4DB2-BD59-A6C34878D82A}">
                    <a16:rowId xmlns:a16="http://schemas.microsoft.com/office/drawing/2014/main" val="30070877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17.1 – Dispositivos em uma Rede Pequena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Dispositivos em uma Rede Pequena </a:t>
            </a:r>
            <a:r>
              <a:rPr lang="pt-BR" sz="1600"/>
              <a:t>Topologias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lang="pt-BR" sz="1800">
                <a:solidFill>
                  <a:srgbClr val="000000"/>
                </a:solidFill>
              </a:rPr>
              <a:t>A maioria das empresas são pequenas, a maioria das redes de negócios também são pequenas.</a:t>
            </a:r>
          </a:p>
          <a:p>
            <a:pPr marL="285750" indent="-285750" algn="l" rtl="0">
              <a:buFont typeface="Arial" panose="020B0604020202020204" pitchFamily="34" charset="0"/>
              <a:buChar char="•"/>
            </a:pPr>
            <a:r>
              <a:rPr lang="pt-BR" sz="1800">
                <a:solidFill>
                  <a:srgbClr val="000000"/>
                </a:solidFill>
              </a:rPr>
              <a:t>Um pequeno design de rede geralmente é simples.</a:t>
            </a:r>
          </a:p>
          <a:p>
            <a:pPr marL="285750" indent="-285750" algn="l" rtl="0">
              <a:buFont typeface="Arial" panose="020B0604020202020204" pitchFamily="34" charset="0"/>
              <a:buChar char="•"/>
            </a:pPr>
            <a:r>
              <a:rPr lang="pt-BR" sz="1800">
                <a:solidFill>
                  <a:srgbClr val="000000"/>
                </a:solidFill>
              </a:rPr>
              <a:t>Redes pequenas geralmente têm uma única conexão WAN fornecida por DSL, cabo ou conexão Ethernet.</a:t>
            </a:r>
          </a:p>
          <a:p>
            <a:pPr marL="285750" indent="-285750" algn="l" rtl="0">
              <a:buFont typeface="Arial" panose="020B0604020202020204" pitchFamily="34" charset="0"/>
              <a:buChar char="•"/>
            </a:pPr>
            <a:r>
              <a:rPr lang="pt-BR" sz="1800">
                <a:solidFill>
                  <a:srgbClr val="000000"/>
                </a:solidFill>
              </a:rPr>
              <a:t>As redes grandes exigem que um departamento de TI mantenha, proteja e solucione problemas de dispositivos de rede e proteja dados organizacionais. Pequenas redes são gerenciadas por um técnico de TI local ou por um profissional contratado.</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Dispositivos em uma Rede Pequena </a:t>
            </a:r>
            <a:br>
              <a:rPr lang="en-US" dirty="0"/>
            </a:br>
            <a:r>
              <a:rPr lang="pt-BR" sz="2400"/>
              <a:t>Seleção de Dispositivo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Como redes grandes, redes pequenas exigem planejamento e design para atender aos requisitos do usuário. O planejamento assegura que todos os requisitos, fatores de custo e opções de implantação recebam a devida consideração. Uma das primeiras considerações de design é o tipo de dispositivos intermediários a serem usados para oferecer suporte à rede.</a:t>
            </a:r>
          </a:p>
          <a:p>
            <a:pPr marL="0" indent="0" algn="l"/>
            <a:endParaRPr lang="en-US" sz="1600" dirty="0">
              <a:solidFill>
                <a:srgbClr val="000000"/>
              </a:solidFill>
            </a:endParaRPr>
          </a:p>
          <a:p>
            <a:pPr marL="0" indent="0" algn="l" rtl="0"/>
            <a:r>
              <a:rPr lang="pt-BR" sz="1600">
                <a:solidFill>
                  <a:srgbClr val="000000"/>
                </a:solidFill>
              </a:rPr>
              <a:t>Os fatores que devem ser considerados ao selecionar dispositivos de rede incluem:</a:t>
            </a:r>
          </a:p>
          <a:p>
            <a:pPr marL="358835" lvl="1" indent="-285750" rtl="0">
              <a:buFont typeface="Arial" panose="020B0604020202020204" pitchFamily="34" charset="0"/>
              <a:buChar char="•"/>
            </a:pPr>
            <a:r>
              <a:rPr lang="pt-BR" sz="1600">
                <a:solidFill>
                  <a:srgbClr val="000000"/>
                </a:solidFill>
              </a:rPr>
              <a:t>Custo</a:t>
            </a:r>
          </a:p>
          <a:p>
            <a:pPr marL="358835" lvl="1" indent="-285750" rtl="0">
              <a:buFont typeface="Arial" panose="020B0604020202020204" pitchFamily="34" charset="0"/>
              <a:buChar char="•"/>
            </a:pPr>
            <a:r>
              <a:rPr lang="pt-BR" sz="1600">
                <a:solidFill>
                  <a:srgbClr val="000000"/>
                </a:solidFill>
              </a:rPr>
              <a:t>Velocidade e Tipos de Portas/Interfaces</a:t>
            </a:r>
          </a:p>
          <a:p>
            <a:pPr marL="358835" lvl="1" indent="-285750" rtl="0">
              <a:buFont typeface="Arial" panose="020B0604020202020204" pitchFamily="34" charset="0"/>
              <a:buChar char="•"/>
            </a:pPr>
            <a:r>
              <a:rPr lang="pt-BR" sz="1600">
                <a:solidFill>
                  <a:srgbClr val="000000"/>
                </a:solidFill>
              </a:rPr>
              <a:t>Capacidade de expansão</a:t>
            </a:r>
          </a:p>
          <a:p>
            <a:pPr marL="358835" lvl="1" indent="-285750" rtl="0">
              <a:buFont typeface="Arial" panose="020B0604020202020204" pitchFamily="34" charset="0"/>
              <a:buChar char="•"/>
            </a:pPr>
            <a:r>
              <a:rPr lang="pt-BR" sz="1600">
                <a:solidFill>
                  <a:srgbClr val="000000"/>
                </a:solidFill>
              </a:rPr>
              <a:t>Serviços e Recursos do Sistema Operacional</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Dispositivos em uma Rede Pequena </a:t>
            </a:r>
            <a:br>
              <a:rPr lang="en-US" dirty="0"/>
            </a:br>
            <a:r>
              <a:rPr lang="pt-BR" sz="2400"/>
              <a:t>Endereçamento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Ao implementar uma rede, crie um esquema de endereçamento IP e use-o. Todos os hosts e dispositivos em uma internetwork devem ter um endereço exclusivo. Os dispositivos que serão fatoriais no esquema de endereçamento IP incluem o seguinte:</a:t>
            </a:r>
          </a:p>
          <a:p>
            <a:pPr marL="358835" lvl="1" indent="-285750" rtl="0">
              <a:buFont typeface="Arial" panose="020B0604020202020204" pitchFamily="34" charset="0"/>
              <a:buChar char="•"/>
            </a:pPr>
            <a:r>
              <a:rPr lang="pt-BR" sz="1600">
                <a:solidFill>
                  <a:srgbClr val="000000"/>
                </a:solidFill>
              </a:rPr>
              <a:t>Dispositivos do usuário final - O número e o tipo de conexões (ou seja, com fio, sem fio, acesso remoto)</a:t>
            </a:r>
          </a:p>
          <a:p>
            <a:pPr marL="358835" lvl="1" indent="-285750" rtl="0">
              <a:buFont typeface="Arial" panose="020B0604020202020204" pitchFamily="34" charset="0"/>
              <a:buChar char="•"/>
            </a:pPr>
            <a:r>
              <a:rPr lang="pt-BR" sz="1600">
                <a:solidFill>
                  <a:srgbClr val="000000"/>
                </a:solidFill>
              </a:rPr>
              <a:t>Servidores e dispositivos periféricos (por exemplo, impressoras e câmeras de segurança)</a:t>
            </a:r>
          </a:p>
          <a:p>
            <a:pPr marL="358835" lvl="1" indent="-285750" rtl="0">
              <a:buFont typeface="Arial" panose="020B0604020202020204" pitchFamily="34" charset="0"/>
              <a:buChar char="•"/>
            </a:pPr>
            <a:r>
              <a:rPr lang="pt-BR" sz="1600">
                <a:solidFill>
                  <a:srgbClr val="000000"/>
                </a:solidFill>
              </a:rPr>
              <a:t>Dispositivos intermediários, incluindo comutadores e pontos de acesso</a:t>
            </a:r>
          </a:p>
          <a:p>
            <a:pPr marL="0" indent="0" algn="l"/>
            <a:endParaRPr lang="en-US" sz="1600" dirty="0">
              <a:solidFill>
                <a:srgbClr val="000000"/>
              </a:solidFill>
            </a:endParaRPr>
          </a:p>
          <a:p>
            <a:pPr marL="0" indent="0" algn="l" rtl="0"/>
            <a:r>
              <a:rPr lang="pt-BR" sz="1600">
                <a:solidFill>
                  <a:srgbClr val="000000"/>
                </a:solidFill>
              </a:rPr>
              <a:t>É recomendável planejar, documentar e manter um esquema de endereçamento IP baseado no tipo de dispositivo. O uso de um esquema de endereçamento IP planejado facilita a identificação de um tipo de dispositivo e a solução de problemas.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Dispositivos em uma Rede Pequena </a:t>
            </a:r>
            <a:br>
              <a:rPr lang="en-US" dirty="0"/>
            </a:br>
            <a:r>
              <a:rPr lang="pt-BR" sz="2400"/>
              <a:t>Redundância de uma Rede Pequena</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66676" y="731837"/>
            <a:ext cx="3692526" cy="3689897"/>
          </a:xfrm>
        </p:spPr>
        <p:txBody>
          <a:bodyPr/>
          <a:lstStyle/>
          <a:p>
            <a:pPr marL="0" indent="0" algn="l" rtl="0"/>
            <a:r>
              <a:rPr lang="pt-BR" sz="1600">
                <a:solidFill>
                  <a:srgbClr val="000000"/>
                </a:solidFill>
              </a:rPr>
              <a:t>Para manter um alto grau de confiabilidade, </a:t>
            </a:r>
            <a:r>
              <a:rPr lang="pt-BR" sz="1600" i="1">
                <a:solidFill>
                  <a:srgbClr val="000000"/>
                </a:solidFill>
              </a:rPr>
              <a:t>redundância</a:t>
            </a:r>
            <a:r>
              <a:rPr lang="pt-BR" sz="1600">
                <a:solidFill>
                  <a:srgbClr val="000000"/>
                </a:solidFill>
              </a:rPr>
              <a:t> é necessária no design da rede. A redundância ajuda a eliminar os pontos únicos de falha.</a:t>
            </a:r>
          </a:p>
          <a:p>
            <a:pPr marL="0" indent="0" algn="l"/>
            <a:endParaRPr lang="en-US" sz="1600" dirty="0">
              <a:solidFill>
                <a:srgbClr val="000000"/>
              </a:solidFill>
            </a:endParaRPr>
          </a:p>
          <a:p>
            <a:pPr marL="0" indent="0" algn="l" rtl="0"/>
            <a:r>
              <a:rPr lang="pt-BR" sz="1600">
                <a:solidFill>
                  <a:srgbClr val="000000"/>
                </a:solidFill>
              </a:rPr>
              <a:t>A redundância pode ser realizada instalando equipamentos duplicados. Isso também pode ser realizado fornecendo links de rede duplicados para áreas críticas.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Dispositivos em uma Rede Pequena </a:t>
            </a:r>
            <a:br>
              <a:rPr lang="en-US" dirty="0"/>
            </a:br>
            <a:r>
              <a:rPr lang="pt-BR" sz="2400"/>
              <a:t>Gerenciamento de Tráfego</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161926" y="731837"/>
            <a:ext cx="4572000" cy="3859213"/>
          </a:xfrm>
        </p:spPr>
        <p:txBody>
          <a:bodyPr/>
          <a:lstStyle/>
          <a:p>
            <a:pPr marL="342900" indent="-342900" algn="l" rtl="0">
              <a:buFont typeface="Arial" panose="020B0604020202020204" pitchFamily="34" charset="0"/>
              <a:buChar char="•"/>
            </a:pPr>
            <a:r>
              <a:rPr lang="pt-BR" sz="1600">
                <a:solidFill>
                  <a:srgbClr val="000000"/>
                </a:solidFill>
              </a:rPr>
              <a:t>O objetivo de um bom design de rede é aumentar a produtividade dos funcionários e minimizar o tempo de inatividade da rede.</a:t>
            </a:r>
          </a:p>
          <a:p>
            <a:pPr marL="342900" indent="-342900" algn="l" rtl="0">
              <a:buFont typeface="Arial" panose="020B0604020202020204" pitchFamily="34" charset="0"/>
              <a:buChar char="•"/>
            </a:pPr>
            <a:r>
              <a:rPr lang="pt-BR" sz="1600">
                <a:solidFill>
                  <a:srgbClr val="000000"/>
                </a:solidFill>
              </a:rPr>
              <a:t>Os roteadores e comutadores em uma rede pequena devem ser configurados para rastrear o tráfego em tempo real, como voz e vídeo, de maneira possível em relação a outro tráfego de dados. Um bom design de rede implementará a qualidade de serviço (QoS).</a:t>
            </a:r>
          </a:p>
          <a:p>
            <a:pPr marL="342900" indent="-342900" algn="l" rtl="0">
              <a:buFont typeface="Arial" panose="020B0604020202020204" pitchFamily="34" charset="0"/>
              <a:buChar char="•"/>
            </a:pPr>
            <a:r>
              <a:rPr lang="pt-BR" sz="1600">
                <a:solidFill>
                  <a:srgbClr val="000000"/>
                </a:solidFill>
              </a:rPr>
              <a:t>O enfileiramento com prioridade tem quatro filas. A fila de prioridade alta é sempre esvaziada primeiro.</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17.2 – Aplicações e Protocolos de Redes Pequenas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Aplicações e Protocolos de Rede Pequena </a:t>
            </a:r>
            <a:br>
              <a:rPr lang="en-US" dirty="0"/>
            </a:br>
            <a:r>
              <a:rPr lang="pt-BR" sz="2400"/>
              <a:t>Aplicações Comuns</a:t>
            </a:r>
          </a:p>
        </p:txBody>
      </p:sp>
      <p:sp>
        <p:nvSpPr>
          <p:cNvPr id="6" name="Content Placeholder 5">
            <a:extLst>
              <a:ext uri="{FF2B5EF4-FFF2-40B4-BE49-F238E27FC236}">
                <a16:creationId xmlns:a16="http://schemas.microsoft.com/office/drawing/2014/main" id="{CBD63511-AED3-4B69-9FBC-FDA4115DD396}"/>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Depois de configurá-lo, sua rede ainda precisa de certos tipos de aplicativos e protocolos para funcionar. A rede é tão útil quanto as aplicações que estão nela. </a:t>
            </a:r>
          </a:p>
          <a:p>
            <a:pPr marL="0" indent="0" algn="l"/>
            <a:endParaRPr lang="en-US" sz="1600" dirty="0">
              <a:solidFill>
                <a:srgbClr val="000000"/>
              </a:solidFill>
            </a:endParaRPr>
          </a:p>
          <a:p>
            <a:pPr marL="0" indent="0" algn="l" rtl="0"/>
            <a:r>
              <a:rPr lang="pt-BR" sz="1600">
                <a:solidFill>
                  <a:srgbClr val="000000"/>
                </a:solidFill>
              </a:rPr>
              <a:t>Há duas formas de programa de software ou processos que fornecem acesso à rede: </a:t>
            </a:r>
          </a:p>
          <a:p>
            <a:pPr marL="358835" lvl="1" indent="-285750" rtl="0">
              <a:buFont typeface="Arial" panose="020B0604020202020204" pitchFamily="34" charset="0"/>
              <a:buChar char="•"/>
            </a:pPr>
            <a:r>
              <a:rPr lang="pt-BR" sz="1600" b="1">
                <a:solidFill>
                  <a:srgbClr val="000000"/>
                </a:solidFill>
              </a:rPr>
              <a:t>Aplicativos de Rede</a:t>
            </a:r>
            <a:r>
              <a:rPr lang="pt-BR" sz="1600">
                <a:solidFill>
                  <a:srgbClr val="000000"/>
                </a:solidFill>
              </a:rPr>
              <a:t>: aplicativos que implementam protocolos da camada de aplicativos e podem se comunicar diretamente com as camadas inferiores da pilha de protocolos.</a:t>
            </a:r>
          </a:p>
          <a:p>
            <a:pPr marL="358835" lvl="1" indent="-285750" rtl="0">
              <a:buFont typeface="Arial" panose="020B0604020202020204" pitchFamily="34" charset="0"/>
              <a:buChar char="•"/>
            </a:pPr>
            <a:r>
              <a:rPr lang="pt-BR" sz="1600" b="1">
                <a:solidFill>
                  <a:srgbClr val="000000"/>
                </a:solidFill>
              </a:rPr>
              <a:t>Serviços de Camada de Aplicativo</a:t>
            </a:r>
            <a:r>
              <a:rPr lang="pt-BR" sz="1600">
                <a:solidFill>
                  <a:srgbClr val="000000"/>
                </a:solidFill>
              </a:rPr>
              <a:t>: para aplicativos que não são compatíveis com a rede, os programas que fazem interface com a rede e preparam os dados para transferência. </a:t>
            </a:r>
            <a:r>
              <a:rPr lang="pt-BR" sz="1600" b="1">
                <a:solidFill>
                  <a:srgbClr val="000000"/>
                </a:solidFill>
              </a:rPr>
              <a:t>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Protocolos e Aplicativos de Rede Pequenas </a:t>
            </a:r>
            <a:br>
              <a:rPr lang="en-US" dirty="0"/>
            </a:br>
            <a:r>
              <a:rPr lang="pt-BR" sz="2400"/>
              <a:t>Protocolos Comuns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lang="pt-BR" sz="1500">
                <a:solidFill>
                  <a:srgbClr val="000000"/>
                </a:solidFill>
              </a:rPr>
              <a:t>Protocolos de rede dão suporte às aplicações e serviços usados por funcionários em uma rede pequena.</a:t>
            </a:r>
          </a:p>
          <a:p>
            <a:pPr marL="342900" indent="-342900" algn="l" rtl="0">
              <a:buFont typeface="Arial" panose="020B0604020202020204" pitchFamily="34" charset="0"/>
              <a:buChar char="•"/>
            </a:pPr>
            <a:r>
              <a:rPr lang="pt-BR" sz="1500">
                <a:solidFill>
                  <a:srgbClr val="000000"/>
                </a:solidFill>
              </a:rPr>
              <a:t>Normalmente, os administradores de rede exigem acesso a dispositivos e servidores de rede. As duas soluções de acesso remoto mais comuns são Telnet e Secure Shell (SSH). </a:t>
            </a:r>
          </a:p>
          <a:p>
            <a:pPr marL="342900" indent="-342900" algn="l" rtl="0">
              <a:buFont typeface="Arial" panose="020B0604020202020204" pitchFamily="34" charset="0"/>
              <a:buChar char="•"/>
            </a:pPr>
            <a:r>
              <a:rPr lang="pt-BR" sz="1500">
                <a:solidFill>
                  <a:srgbClr val="000000"/>
                </a:solidFill>
              </a:rPr>
              <a:t>HTTP (Hypertext Transfer Protocol) e HTTP (Hypertext Transfer Protocol Secure) são usados entre clientes Web e servidores Web.</a:t>
            </a:r>
          </a:p>
          <a:p>
            <a:pPr marL="342900" indent="-342900" algn="l" rtl="0">
              <a:buFont typeface="Arial" panose="020B0604020202020204" pitchFamily="34" charset="0"/>
              <a:buChar char="•"/>
            </a:pPr>
            <a:r>
              <a:rPr lang="pt-BR" sz="1500">
                <a:solidFill>
                  <a:srgbClr val="000000"/>
                </a:solidFill>
              </a:rPr>
              <a:t>O SMTP (Simple Mail Transfer Protocol) é usado para enviar email, o POP3 (Internet Post Protocol) ou o IMAP (Internet Mail Access Protocol) são usados pelos clientes para recuperar o email.</a:t>
            </a:r>
          </a:p>
          <a:p>
            <a:pPr marL="342900" indent="-342900" algn="l" rtl="0">
              <a:buFont typeface="Arial" panose="020B0604020202020204" pitchFamily="34" charset="0"/>
              <a:buChar char="•"/>
            </a:pPr>
            <a:r>
              <a:rPr lang="pt-BR" sz="1500">
                <a:solidFill>
                  <a:srgbClr val="000000"/>
                </a:solidFill>
              </a:rPr>
              <a:t>File Transfer Protocol (FTP) e Security File Transfer Protocol (SFTP) são usados para baixar e carregar arquivos entre um cliente e um servidor FTP.</a:t>
            </a:r>
          </a:p>
          <a:p>
            <a:pPr marL="342900" indent="-342900" algn="l" rtl="0">
              <a:buFont typeface="Arial" panose="020B0604020202020204" pitchFamily="34" charset="0"/>
              <a:buChar char="•"/>
            </a:pPr>
            <a:r>
              <a:rPr lang="pt-BR" sz="1500">
                <a:solidFill>
                  <a:srgbClr val="000000"/>
                </a:solidFill>
              </a:rPr>
              <a:t>O DHCP (Dynamic Host Configuration Protocol) é usado pelos clientes para adquirir uma configuração IP de um servidor DHCP.</a:t>
            </a:r>
          </a:p>
          <a:p>
            <a:pPr marL="342900" indent="-342900" algn="l" rtl="0">
              <a:buFont typeface="Arial" panose="020B0604020202020204" pitchFamily="34" charset="0"/>
              <a:buChar char="•"/>
            </a:pPr>
            <a:r>
              <a:rPr lang="pt-BR" sz="1500">
                <a:solidFill>
                  <a:srgbClr val="000000"/>
                </a:solidFill>
              </a:rPr>
              <a:t>O Serviço de Nomes de Domínio (DNS) resolve nomes de domínio para endereços IP.</a:t>
            </a:r>
          </a:p>
          <a:p>
            <a:pPr marL="0" indent="0" algn="l" rtl="0"/>
            <a:r>
              <a:rPr lang="pt-BR" sz="1500" b="1">
                <a:solidFill>
                  <a:srgbClr val="000000"/>
                </a:solidFill>
              </a:rPr>
              <a:t>Observação</a:t>
            </a:r>
            <a:r>
              <a:rPr lang="pt-BR" sz="1500">
                <a:solidFill>
                  <a:srgbClr val="000000"/>
                </a:solidFill>
              </a:rPr>
              <a:t>: um servidor pode fornecer vários serviços de rede. Por exemplo, um servidor pode ser um servidor de e-mail, FTP e SSH. </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Protocolos e Aplicativos de Rede Pequenos </a:t>
            </a:r>
            <a:br>
              <a:rPr lang="en-US" dirty="0"/>
            </a:br>
            <a:r>
              <a:rPr lang="pt-BR" sz="2400"/>
              <a:t>Protocolos Comuns (Cont.) </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Esses protocolos de rede compreendem o conjunto de ferramentas fundamentais de um profissional de rede, definindo:</a:t>
            </a:r>
          </a:p>
          <a:p>
            <a:pPr marL="342900" indent="-342900" algn="l" rtl="0">
              <a:buFont typeface="Arial" panose="020B0604020202020204" pitchFamily="34" charset="0"/>
              <a:buChar char="•"/>
            </a:pPr>
            <a:r>
              <a:rPr lang="pt-BR" sz="1600">
                <a:solidFill>
                  <a:srgbClr val="000000"/>
                </a:solidFill>
              </a:rPr>
              <a:t>Processos em cada extremidade de uma sessão de comunicação.</a:t>
            </a:r>
          </a:p>
          <a:p>
            <a:pPr marL="342900" indent="-342900" algn="l" rtl="0">
              <a:buFont typeface="Arial" panose="020B0604020202020204" pitchFamily="34" charset="0"/>
              <a:buChar char="•"/>
            </a:pPr>
            <a:r>
              <a:rPr lang="pt-BR" sz="1600">
                <a:solidFill>
                  <a:srgbClr val="000000"/>
                </a:solidFill>
              </a:rPr>
              <a:t>Tipos de mensagens</a:t>
            </a:r>
          </a:p>
          <a:p>
            <a:pPr marL="342900" indent="-342900" algn="l" rtl="0">
              <a:buFont typeface="Arial" panose="020B0604020202020204" pitchFamily="34" charset="0"/>
              <a:buChar char="•"/>
            </a:pPr>
            <a:r>
              <a:rPr lang="pt-BR" sz="1600">
                <a:solidFill>
                  <a:srgbClr val="000000"/>
                </a:solidFill>
              </a:rPr>
              <a:t>Sintaxe das mensagens</a:t>
            </a:r>
          </a:p>
          <a:p>
            <a:pPr marL="342900" indent="-342900" algn="l" rtl="0">
              <a:buFont typeface="Arial" panose="020B0604020202020204" pitchFamily="34" charset="0"/>
              <a:buChar char="•"/>
            </a:pPr>
            <a:r>
              <a:rPr lang="pt-BR" sz="1600">
                <a:solidFill>
                  <a:srgbClr val="000000"/>
                </a:solidFill>
              </a:rPr>
              <a:t>Significado dos campos informativos</a:t>
            </a:r>
          </a:p>
          <a:p>
            <a:pPr marL="342900" indent="-342900" algn="l" rtl="0">
              <a:buFont typeface="Arial" panose="020B0604020202020204" pitchFamily="34" charset="0"/>
              <a:buChar char="•"/>
            </a:pPr>
            <a:r>
              <a:rPr lang="pt-BR" sz="1600">
                <a:solidFill>
                  <a:srgbClr val="000000"/>
                </a:solidFill>
              </a:rPr>
              <a:t>Como as mensagens são enviadas e a resposta esperada</a:t>
            </a:r>
          </a:p>
          <a:p>
            <a:pPr marL="342900" indent="-342900" algn="l" rtl="0">
              <a:buFont typeface="Arial" panose="020B0604020202020204" pitchFamily="34" charset="0"/>
              <a:buChar char="•"/>
            </a:pPr>
            <a:r>
              <a:rPr lang="pt-BR" sz="1600">
                <a:solidFill>
                  <a:srgbClr val="000000"/>
                </a:solidFill>
              </a:rPr>
              <a:t>Interação com a camada inferior seguinte</a:t>
            </a:r>
          </a:p>
          <a:p>
            <a:pPr marL="342900" indent="-342900" algn="l">
              <a:buFont typeface="Arial" panose="020B0604020202020204" pitchFamily="34" charset="0"/>
              <a:buChar char="•"/>
            </a:pPr>
            <a:endParaRPr lang="en-US" sz="1600" dirty="0">
              <a:solidFill>
                <a:srgbClr val="000000"/>
              </a:solidFill>
            </a:endParaRPr>
          </a:p>
          <a:p>
            <a:pPr marL="0" indent="0" algn="l" rtl="0"/>
            <a:r>
              <a:rPr lang="pt-BR" sz="1600">
                <a:solidFill>
                  <a:srgbClr val="000000"/>
                </a:solidFill>
              </a:rPr>
              <a:t>Muitas empresas estabeleceram uma política de uso de versões seguras (por exemplo, SSH, SFTP e HTTPS) desses protocolos sempre que possível.</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Aplicações e Protocolos de Rede de Pequena </a:t>
            </a:r>
            <a:br>
              <a:rPr lang="en-US" dirty="0"/>
            </a:br>
            <a:r>
              <a:rPr lang="pt-BR" sz="2400"/>
              <a:t>Aplicações de Voz e Vídeo</a:t>
            </a:r>
          </a:p>
        </p:txBody>
      </p:sp>
      <p:sp>
        <p:nvSpPr>
          <p:cNvPr id="5" name="Content Placeholder 4">
            <a:extLst>
              <a:ext uri="{FF2B5EF4-FFF2-40B4-BE49-F238E27FC236}">
                <a16:creationId xmlns:a16="http://schemas.microsoft.com/office/drawing/2014/main" id="{60805718-1D89-4A05-B2C1-06EAAE238C28}"/>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pt-BR" sz="1500">
                <a:solidFill>
                  <a:srgbClr val="000000"/>
                </a:solidFill>
              </a:rPr>
              <a:t>Hoje, as empresas estão cada vez mais usando telefonia IP e mídia de streaming para se comunicar com clientes e parceiros de negócios, além de permitir que seus funcionários trabalhem remotamente.</a:t>
            </a:r>
          </a:p>
          <a:p>
            <a:pPr marL="342900" indent="-342900" algn="l" rtl="0">
              <a:buFont typeface="Arial" panose="020B0604020202020204" pitchFamily="34" charset="0"/>
              <a:buChar char="•"/>
            </a:pPr>
            <a:r>
              <a:rPr lang="pt-BR" sz="1500">
                <a:solidFill>
                  <a:srgbClr val="000000"/>
                </a:solidFill>
              </a:rPr>
              <a:t>O administrador de redes deve assegurar que o equipamento adequado foi instalado na rede e que os dispositivos de rede foram configurados para garantir entrega prioritária.</a:t>
            </a:r>
          </a:p>
          <a:p>
            <a:pPr marL="342900" indent="-342900" algn="l" rtl="0">
              <a:buFont typeface="Arial" panose="020B0604020202020204" pitchFamily="34" charset="0"/>
              <a:buChar char="•"/>
            </a:pPr>
            <a:r>
              <a:rPr lang="pt-BR" sz="1500">
                <a:solidFill>
                  <a:srgbClr val="000000"/>
                </a:solidFill>
              </a:rPr>
              <a:t>Os fatores que um pequeno administrador de rede deve considerar ao oferecer suporte a aplicativos em tempo real:</a:t>
            </a:r>
          </a:p>
          <a:p>
            <a:pPr marL="489010" lvl="2" indent="-342900" rtl="0">
              <a:buFont typeface="Arial" panose="020B0604020202020204" pitchFamily="34" charset="0"/>
              <a:buChar char="•"/>
            </a:pPr>
            <a:r>
              <a:rPr lang="pt-BR" sz="1500" b="1">
                <a:solidFill>
                  <a:srgbClr val="000000"/>
                </a:solidFill>
              </a:rPr>
              <a:t>Infraestrutura -</a:t>
            </a:r>
            <a:r>
              <a:rPr lang="pt-BR" sz="1500">
                <a:solidFill>
                  <a:srgbClr val="000000"/>
                </a:solidFill>
              </a:rPr>
              <a:t> Tem capacidade e capacidade para suportar aplicações em tempo real? </a:t>
            </a:r>
          </a:p>
          <a:p>
            <a:pPr marL="489010" lvl="2" indent="-342900" rtl="0">
              <a:buFont typeface="Arial" panose="020B0604020202020204" pitchFamily="34" charset="0"/>
              <a:buChar char="•"/>
            </a:pPr>
            <a:r>
              <a:rPr lang="pt-BR" sz="1500" b="1">
                <a:solidFill>
                  <a:srgbClr val="000000"/>
                </a:solidFill>
              </a:rPr>
              <a:t>VoIP - </a:t>
            </a:r>
            <a:r>
              <a:rPr lang="pt-BR" sz="1500">
                <a:solidFill>
                  <a:srgbClr val="000000"/>
                </a:solidFill>
              </a:rPr>
              <a:t>VoIP geralmente é menos caro do que a telefonia IP, mas ao custo de qualidade e recursos. </a:t>
            </a:r>
          </a:p>
          <a:p>
            <a:pPr marL="489010" lvl="2" indent="-342900" rtl="0">
              <a:buFont typeface="Arial" panose="020B0604020202020204" pitchFamily="34" charset="0"/>
              <a:buChar char="•"/>
            </a:pPr>
            <a:r>
              <a:rPr lang="pt-BR" sz="1500" b="1">
                <a:solidFill>
                  <a:srgbClr val="000000"/>
                </a:solidFill>
              </a:rPr>
              <a:t>Telefonia IP - </a:t>
            </a:r>
            <a:r>
              <a:rPr lang="pt-BR" sz="1500">
                <a:solidFill>
                  <a:srgbClr val="000000"/>
                </a:solidFill>
              </a:rPr>
              <a:t>Isso emprega servidores dedicados forma controle de chamada e sinalização. </a:t>
            </a:r>
          </a:p>
          <a:p>
            <a:pPr marL="489010" lvl="2" indent="-342900" rtl="0">
              <a:buFont typeface="Arial" panose="020B0604020202020204" pitchFamily="34" charset="0"/>
              <a:buChar char="•"/>
            </a:pPr>
            <a:r>
              <a:rPr lang="pt-BR" sz="1500" b="1">
                <a:solidFill>
                  <a:srgbClr val="000000"/>
                </a:solidFill>
              </a:rPr>
              <a:t>Aplicações em Tempo Real -</a:t>
            </a:r>
            <a:r>
              <a:rPr lang="pt-BR" sz="1500">
                <a:solidFill>
                  <a:srgbClr val="000000"/>
                </a:solidFill>
              </a:rPr>
              <a:t>A rede deve suportar mecanismos de Qualidade de Serviço (QoS) para minimizar problemas de latência. Protocolo de transporte em tempo real (RTP) e Protocolo de controle de transporte em tempo real (RTCP) e dois protocolos que oferecem suporte a aplicativos em tempo real.</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17.3 – Escalar para Redes Maiores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Escalar para Redes Maiores </a:t>
            </a:r>
            <a:br>
              <a:rPr lang="en-US" dirty="0"/>
            </a:br>
            <a:r>
              <a:rPr lang="pt-BR" sz="2400"/>
              <a:t>Crescimento de Redes Pequenas</a:t>
            </a:r>
          </a:p>
        </p:txBody>
      </p:sp>
      <p:sp>
        <p:nvSpPr>
          <p:cNvPr id="4" name="Content Placeholder 3">
            <a:extLst>
              <a:ext uri="{FF2B5EF4-FFF2-40B4-BE49-F238E27FC236}">
                <a16:creationId xmlns:a16="http://schemas.microsoft.com/office/drawing/2014/main" id="{4D4DC2CE-CBF1-4EDA-BBE9-D4BCE31CD2E2}"/>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O crescimento é um processo natural para muitas empresas de pequeno porte, e suas redes devem acompanhá-lo. Idealmente, o administrador da rede tem tempo de entrega suficiente para tomar decisões inteligentes sobre o crescimento da rede alinhado com o crescimento da empresa.</a:t>
            </a:r>
          </a:p>
          <a:p>
            <a:pPr marL="0" indent="0" algn="l"/>
            <a:endParaRPr lang="en-US" sz="1600" dirty="0">
              <a:solidFill>
                <a:srgbClr val="000000"/>
              </a:solidFill>
            </a:endParaRPr>
          </a:p>
          <a:p>
            <a:pPr marL="0" indent="0" algn="l" rtl="0"/>
            <a:r>
              <a:rPr lang="pt-BR" sz="1600">
                <a:solidFill>
                  <a:srgbClr val="000000"/>
                </a:solidFill>
              </a:rPr>
              <a:t>Para escalonar uma rede, vários elementos são necessários:</a:t>
            </a:r>
          </a:p>
          <a:p>
            <a:pPr marL="415985" lvl="1" indent="-342900" rtl="0">
              <a:buFont typeface="Arial" panose="020B0604020202020204" pitchFamily="34" charset="0"/>
              <a:buChar char="•"/>
            </a:pPr>
            <a:r>
              <a:rPr lang="pt-BR" sz="1600" b="1">
                <a:solidFill>
                  <a:srgbClr val="000000"/>
                </a:solidFill>
              </a:rPr>
              <a:t>Documentação de Rede - </a:t>
            </a:r>
            <a:r>
              <a:rPr lang="pt-BR" sz="1600">
                <a:solidFill>
                  <a:srgbClr val="000000"/>
                </a:solidFill>
              </a:rPr>
              <a:t>Topologia Física e Lógica</a:t>
            </a:r>
          </a:p>
          <a:p>
            <a:pPr marL="415985" lvl="1" indent="-342900" rtl="0">
              <a:buFont typeface="Arial" panose="020B0604020202020204" pitchFamily="34" charset="0"/>
              <a:buChar char="•"/>
            </a:pPr>
            <a:r>
              <a:rPr lang="pt-BR" sz="1600" b="1">
                <a:solidFill>
                  <a:srgbClr val="000000"/>
                </a:solidFill>
              </a:rPr>
              <a:t>Inventário de Dispositivos – </a:t>
            </a:r>
            <a:r>
              <a:rPr lang="pt-BR" sz="1600">
                <a:solidFill>
                  <a:srgbClr val="000000"/>
                </a:solidFill>
              </a:rPr>
              <a:t>Lista de dispositivos que usam ou compõem a rede</a:t>
            </a:r>
          </a:p>
          <a:p>
            <a:pPr marL="415985" lvl="1" indent="-342900" rtl="0">
              <a:buFont typeface="Arial" panose="020B0604020202020204" pitchFamily="34" charset="0"/>
              <a:buChar char="•"/>
            </a:pPr>
            <a:r>
              <a:rPr lang="pt-BR" sz="1600" b="1">
                <a:solidFill>
                  <a:srgbClr val="000000"/>
                </a:solidFill>
              </a:rPr>
              <a:t>Orçamento - </a:t>
            </a:r>
            <a:r>
              <a:rPr lang="pt-BR" sz="1600">
                <a:solidFill>
                  <a:srgbClr val="000000"/>
                </a:solidFill>
              </a:rPr>
              <a:t>orçamento de TI detalhado, incluindo orçamento de compra de equipamentos para o ano fiscal</a:t>
            </a:r>
          </a:p>
          <a:p>
            <a:pPr marL="415985" lvl="1" indent="-342900" rtl="0">
              <a:buFont typeface="Arial" panose="020B0604020202020204" pitchFamily="34" charset="0"/>
              <a:buChar char="•"/>
            </a:pPr>
            <a:r>
              <a:rPr lang="pt-BR" sz="1600" b="1">
                <a:solidFill>
                  <a:srgbClr val="000000"/>
                </a:solidFill>
              </a:rPr>
              <a:t>Análise de Tráfego - </a:t>
            </a:r>
            <a:r>
              <a:rPr lang="pt-BR" sz="1600">
                <a:solidFill>
                  <a:srgbClr val="000000"/>
                </a:solidFill>
              </a:rPr>
              <a:t>Protocolos, aplicativos e serviços e seus respectivos requisitos de tráfego devem ser documentados</a:t>
            </a:r>
          </a:p>
          <a:p>
            <a:pPr marL="0" indent="0" algn="l" rtl="0"/>
            <a:r>
              <a:rPr lang="pt-BR" sz="1600">
                <a:solidFill>
                  <a:srgbClr val="000000"/>
                </a:solidFill>
              </a:rPr>
              <a:t>Esses elementos são usados para subsidiar a tomada de decisão que acompanha o crescimento de uma rede pequena.</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Escalar para Redes Maiores </a:t>
            </a:r>
            <a:br>
              <a:rPr lang="en-US" dirty="0"/>
            </a:br>
            <a:r>
              <a:rPr lang="pt-BR" sz="2400"/>
              <a:t>Análise de Protocolo</a:t>
            </a:r>
          </a:p>
        </p:txBody>
      </p:sp>
      <p:sp>
        <p:nvSpPr>
          <p:cNvPr id="5" name="Content Placeholder 4">
            <a:extLst>
              <a:ext uri="{FF2B5EF4-FFF2-40B4-BE49-F238E27FC236}">
                <a16:creationId xmlns:a16="http://schemas.microsoft.com/office/drawing/2014/main" id="{3DD0F7E2-6CB1-4DF6-97A5-A655F8C79DD2}"/>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É importante entender o tipo de tráfego que está atravessando a rede, bem como o fluxo de tráfego atual. Existem várias ferramentas de gerenciamento de rede que podem ser usadas para esse fim.</a:t>
            </a:r>
          </a:p>
          <a:p>
            <a:pPr marL="0" indent="0" algn="l"/>
            <a:endParaRPr lang="en-US" sz="1600" dirty="0">
              <a:solidFill>
                <a:srgbClr val="000000"/>
              </a:solidFill>
            </a:endParaRPr>
          </a:p>
          <a:p>
            <a:pPr marL="0" indent="0" algn="l" rtl="0"/>
            <a:r>
              <a:rPr lang="pt-BR" sz="1600">
                <a:solidFill>
                  <a:srgbClr val="000000"/>
                </a:solidFill>
              </a:rPr>
              <a:t>Para determinar os padrões de fluxo de tráfego, é importante fazer o seguinte:</a:t>
            </a:r>
          </a:p>
          <a:p>
            <a:pPr marL="358835" lvl="1" indent="-285750" rtl="0">
              <a:buFont typeface="Arial" panose="020B0604020202020204" pitchFamily="34" charset="0"/>
              <a:buChar char="•"/>
            </a:pPr>
            <a:r>
              <a:rPr lang="pt-BR" sz="1600">
                <a:solidFill>
                  <a:srgbClr val="000000"/>
                </a:solidFill>
              </a:rPr>
              <a:t>Capturar o tráfego durante as horas de pico de utilização para obter uma boa ideia dos diferentes tipos de tráfego.</a:t>
            </a:r>
          </a:p>
          <a:p>
            <a:pPr marL="358835" lvl="1" indent="-285750" rtl="0">
              <a:buFont typeface="Arial" panose="020B0604020202020204" pitchFamily="34" charset="0"/>
              <a:buChar char="•"/>
            </a:pPr>
            <a:r>
              <a:rPr lang="pt-BR" sz="1600">
                <a:solidFill>
                  <a:srgbClr val="000000"/>
                </a:solidFill>
              </a:rPr>
              <a:t>Realize a captura em diferentes segmentos e dispositivos de rede, pois algum tráfego será local para um segmento específico.</a:t>
            </a:r>
          </a:p>
          <a:p>
            <a:pPr marL="358835" lvl="1" indent="-285750" rtl="0">
              <a:buFont typeface="Arial" panose="020B0604020202020204" pitchFamily="34" charset="0"/>
              <a:buChar char="•"/>
            </a:pPr>
            <a:r>
              <a:rPr lang="pt-BR" sz="1600">
                <a:solidFill>
                  <a:srgbClr val="000000"/>
                </a:solidFill>
              </a:rPr>
              <a:t>As informações reunidas pelo analisador de protocolos são avaliadas com base na origem e destino do tráfego, bem como no tipo de tráfego que é enviado. </a:t>
            </a:r>
          </a:p>
          <a:p>
            <a:pPr marL="358835" lvl="1" indent="-285750" rtl="0">
              <a:buFont typeface="Arial" panose="020B0604020202020204" pitchFamily="34" charset="0"/>
              <a:buChar char="•"/>
            </a:pPr>
            <a:r>
              <a:rPr lang="pt-BR" sz="1600">
                <a:solidFill>
                  <a:srgbClr val="000000"/>
                </a:solidFill>
              </a:rPr>
              <a:t>Essa análise pode ser usada para tomar uma decisão sobre como gerenciar o tráfego com mais eficiência.</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Escalar para Redes Maiores </a:t>
            </a:r>
            <a:br>
              <a:rPr lang="en-US" dirty="0"/>
            </a:br>
            <a:r>
              <a:rPr lang="pt-BR" sz="2400"/>
              <a:t>Utilização da Rede pelos Funcionários</a:t>
            </a:r>
          </a:p>
        </p:txBody>
      </p:sp>
      <p:sp>
        <p:nvSpPr>
          <p:cNvPr id="4" name="Content Placeholder 3">
            <a:extLst>
              <a:ext uri="{FF2B5EF4-FFF2-40B4-BE49-F238E27FC236}">
                <a16:creationId xmlns:a16="http://schemas.microsoft.com/office/drawing/2014/main" id="{A4F111CF-BA9E-4AFA-8A34-8CA18113097A}"/>
              </a:ext>
            </a:extLst>
          </p:cNvPr>
          <p:cNvSpPr>
            <a:spLocks noGrp="1"/>
          </p:cNvSpPr>
          <p:nvPr>
            <p:ph idx="1"/>
          </p:nvPr>
        </p:nvSpPr>
        <p:spPr>
          <a:xfrm>
            <a:off x="66675" y="609600"/>
            <a:ext cx="8972549" cy="4095749"/>
          </a:xfrm>
        </p:spPr>
        <p:txBody>
          <a:bodyPr/>
          <a:lstStyle/>
          <a:p>
            <a:pPr marL="0" indent="0" algn="l" rtl="0"/>
            <a:r>
              <a:rPr lang="pt-BR" sz="1600">
                <a:solidFill>
                  <a:srgbClr val="000000"/>
                </a:solidFill>
              </a:rPr>
              <a:t>Muitos sistemas operacionais fornecem ferramentas integradas para exibir essas informações de utilização de rede. Essas ferramentas podem ser usadas para capturar um “instantâneo” de informações, como as seguintes:</a:t>
            </a:r>
          </a:p>
          <a:p>
            <a:pPr marL="0" indent="0" algn="l"/>
            <a:endParaRPr lang="en-US" sz="1600" dirty="0">
              <a:solidFill>
                <a:srgbClr val="000000"/>
              </a:solidFill>
            </a:endParaRPr>
          </a:p>
          <a:p>
            <a:pPr marL="415985" lvl="1" indent="-342900" rtl="0">
              <a:buFont typeface="Arial" panose="020B0604020202020204" pitchFamily="34" charset="0"/>
              <a:buChar char="•"/>
            </a:pPr>
            <a:r>
              <a:rPr lang="pt-BR" sz="1600">
                <a:solidFill>
                  <a:srgbClr val="000000"/>
                </a:solidFill>
              </a:rPr>
              <a:t>Sistema Operacional e a versão desse sistema</a:t>
            </a:r>
          </a:p>
          <a:p>
            <a:pPr marL="415985" lvl="1" indent="-342900" rtl="0">
              <a:buFont typeface="Arial" panose="020B0604020202020204" pitchFamily="34" charset="0"/>
              <a:buChar char="•"/>
            </a:pPr>
            <a:r>
              <a:rPr lang="pt-BR" sz="1600">
                <a:solidFill>
                  <a:srgbClr val="000000"/>
                </a:solidFill>
              </a:rPr>
              <a:t>Utilização da CPU</a:t>
            </a:r>
          </a:p>
          <a:p>
            <a:pPr marL="415985" lvl="1" indent="-342900" rtl="0">
              <a:buFont typeface="Arial" panose="020B0604020202020204" pitchFamily="34" charset="0"/>
              <a:buChar char="•"/>
            </a:pPr>
            <a:r>
              <a:rPr lang="pt-BR" sz="1600">
                <a:solidFill>
                  <a:srgbClr val="000000"/>
                </a:solidFill>
              </a:rPr>
              <a:t>Utilização da memória RAM</a:t>
            </a:r>
          </a:p>
          <a:p>
            <a:pPr marL="415985" lvl="1" indent="-342900" rtl="0">
              <a:buFont typeface="Arial" panose="020B0604020202020204" pitchFamily="34" charset="0"/>
              <a:buChar char="•"/>
            </a:pPr>
            <a:r>
              <a:rPr lang="pt-BR" sz="1600">
                <a:solidFill>
                  <a:srgbClr val="000000"/>
                </a:solidFill>
              </a:rPr>
              <a:t>Utilização das unidades de disco</a:t>
            </a:r>
          </a:p>
          <a:p>
            <a:pPr marL="415985" lvl="1" indent="-342900" rtl="0">
              <a:buFont typeface="Arial" panose="020B0604020202020204" pitchFamily="34" charset="0"/>
              <a:buChar char="•"/>
            </a:pPr>
            <a:r>
              <a:rPr lang="pt-BR" sz="1600">
                <a:solidFill>
                  <a:srgbClr val="000000"/>
                </a:solidFill>
              </a:rPr>
              <a:t>Aplicações que não são de rede</a:t>
            </a:r>
          </a:p>
          <a:p>
            <a:pPr marL="415985" lvl="1" indent="-342900" rtl="0">
              <a:buFont typeface="Arial" panose="020B0604020202020204" pitchFamily="34" charset="0"/>
              <a:buChar char="•"/>
            </a:pPr>
            <a:r>
              <a:rPr lang="pt-BR" sz="1600">
                <a:solidFill>
                  <a:srgbClr val="000000"/>
                </a:solidFill>
              </a:rPr>
              <a:t>Aplicações de rede</a:t>
            </a:r>
          </a:p>
          <a:p>
            <a:pPr marL="415985" lvl="1" indent="-342900">
              <a:buFont typeface="Arial" panose="020B0604020202020204" pitchFamily="34" charset="0"/>
              <a:buChar char="•"/>
            </a:pPr>
            <a:endParaRPr lang="en-US" sz="1600" dirty="0">
              <a:solidFill>
                <a:srgbClr val="000000"/>
              </a:solidFill>
            </a:endParaRPr>
          </a:p>
          <a:p>
            <a:pPr marL="0" indent="0" algn="l" rtl="0"/>
            <a:r>
              <a:rPr lang="pt-BR" sz="1600">
                <a:solidFill>
                  <a:srgbClr val="000000"/>
                </a:solidFill>
              </a:rPr>
              <a:t>Documentar snapshots para funcionários em uma pequena rede por um período de tempo é muito útil para identificar requisitos de protocolo em evolução e fluxos de tráfego associados.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17.4 - Verificar a Conectividade.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Conectividade</a:t>
            </a:r>
            <a:br>
              <a:rPr lang="en-US" dirty="0"/>
            </a:br>
            <a:r>
              <a:rPr lang="pt-BR" sz="2400"/>
              <a:t>Verificar Conectividade com Ping</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133350" y="687671"/>
            <a:ext cx="8621369" cy="1774104"/>
          </a:xfrm>
        </p:spPr>
        <p:txBody>
          <a:bodyPr/>
          <a:lstStyle/>
          <a:p>
            <a:pPr marL="0" indent="0" algn="l" rtl="0"/>
            <a:r>
              <a:rPr lang="pt-BR" sz="1600">
                <a:solidFill>
                  <a:srgbClr val="000000"/>
                </a:solidFill>
              </a:rPr>
              <a:t>Independentemente de sua rede ser pequena e nova, ou se você está dimensionando uma rede existente, você sempre vai querer ser capaz de verificar se seus componentes estão corretamente conectados uns aos outros e à internet. </a:t>
            </a:r>
          </a:p>
          <a:p>
            <a:pPr marL="342900" indent="-342900" algn="l" rtl="0">
              <a:buFont typeface="Arial" panose="020B0604020202020204" pitchFamily="34" charset="0"/>
              <a:buChar char="•"/>
            </a:pPr>
            <a:r>
              <a:rPr lang="pt-BR" sz="1600">
                <a:solidFill>
                  <a:srgbClr val="000000"/>
                </a:solidFill>
              </a:rPr>
              <a:t>O comando ping, disponível na maioria dos sistemas operacionais, é a maneira mais eficaz de testar rapidamente a conectividade da Camada 3 entre um endereço IP de origem e de destino.</a:t>
            </a:r>
          </a:p>
          <a:p>
            <a:pPr marL="342900" indent="-342900" algn="l" rtl="0">
              <a:buFont typeface="Arial" panose="020B0604020202020204" pitchFamily="34" charset="0"/>
              <a:buChar char="•"/>
            </a:pPr>
            <a:r>
              <a:rPr lang="pt-BR" sz="1600">
                <a:solidFill>
                  <a:srgbClr val="000000"/>
                </a:solidFill>
              </a:rPr>
              <a:t>O comando ping usa as mensagens ICMP echo (ICMP Type 8) e echo reply (ICMP Type 8). </a:t>
            </a:r>
          </a:p>
        </p:txBody>
      </p:sp>
      <p:pic>
        <p:nvPicPr>
          <p:cNvPr id="8" name="Picture 7">
            <a:extLst>
              <a:ext uri="{FF2B5EF4-FFF2-40B4-BE49-F238E27FC236}">
                <a16:creationId xmlns:a16="http://schemas.microsoft.com/office/drawing/2014/main"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Conectividade</a:t>
            </a:r>
            <a:br>
              <a:rPr lang="en-US" dirty="0"/>
            </a:br>
            <a:r>
              <a:rPr lang="pt-BR" sz="2400"/>
              <a:t>Verificar Conectividade com Ping (Cont.) </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257175" y="625101"/>
            <a:ext cx="8497544" cy="1201738"/>
          </a:xfrm>
        </p:spPr>
        <p:txBody>
          <a:bodyPr/>
          <a:lstStyle/>
          <a:p>
            <a:pPr marL="0" indent="0" algn="l" rtl="0"/>
            <a:r>
              <a:rPr lang="pt-BR" sz="1600">
                <a:solidFill>
                  <a:srgbClr val="000000"/>
                </a:solidFill>
              </a:rPr>
              <a:t>Em um host Windows 10, o comando ping envia quatro mensagens de eco ICMP consecutivas e espera quatro respostas de eco ICMP consecutivas do destino. O ping IOS envia cinco mensagens de eco ICMP e exibe um indicador para cada resposta de eco ICMP recebida.</a:t>
            </a:r>
          </a:p>
          <a:p>
            <a:pPr marL="0" indent="0" algn="l"/>
            <a:endParaRPr lang="en-US" sz="1600" dirty="0">
              <a:solidFill>
                <a:srgbClr val="000000"/>
              </a:solidFill>
            </a:endParaRPr>
          </a:p>
          <a:p>
            <a:pPr marL="0" indent="0" algn="l" rtl="0"/>
            <a:r>
              <a:rPr lang="pt-BR" sz="1600">
                <a:solidFill>
                  <a:srgbClr val="000000"/>
                </a:solidFill>
              </a:rPr>
              <a:t>Os indicadores de ping do IOS são os seguintes:</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val="1295102679"/>
                    </a:ext>
                  </a:extLst>
                </a:gridCol>
                <a:gridCol w="7339303">
                  <a:extLst>
                    <a:ext uri="{9D8B030D-6E8A-4147-A177-3AD203B41FA5}">
                      <a16:colId xmlns:a16="http://schemas.microsoft.com/office/drawing/2014/main" val="252758851"/>
                    </a:ext>
                  </a:extLst>
                </a:gridCol>
              </a:tblGrid>
              <a:tr h="0">
                <a:tc>
                  <a:txBody>
                    <a:bodyPr/>
                    <a:lstStyle/>
                    <a:p>
                      <a:pPr algn="l" rtl="0" fontAlgn="ctr"/>
                      <a:r>
                        <a:rPr lang="pt-BR" sz="1200">
                          <a:effectLst/>
                        </a:rPr>
                        <a:t>Elemento</a:t>
                      </a:r>
                    </a:p>
                  </a:txBody>
                  <a:tcPr marL="47625" marR="47625" marT="47625" marB="47625" anchor="ctr"/>
                </a:tc>
                <a:tc>
                  <a:txBody>
                    <a:bodyPr/>
                    <a:lstStyle/>
                    <a:p>
                      <a:pPr algn="l" rtl="0" fontAlgn="ctr"/>
                      <a:r>
                        <a:rPr lang="pt-BR" sz="1200">
                          <a:effectLst/>
                        </a:rPr>
                        <a:t>Descrição</a:t>
                      </a:r>
                    </a:p>
                  </a:txBody>
                  <a:tcPr marL="47625" marR="47625" marT="47625" marB="47625" anchor="ctr"/>
                </a:tc>
                <a:extLst>
                  <a:ext uri="{0D108BD9-81ED-4DB2-BD59-A6C34878D82A}">
                    <a16:rowId xmlns:a16="http://schemas.microsoft.com/office/drawing/2014/main" val="3056744586"/>
                  </a:ext>
                </a:extLst>
              </a:tr>
              <a:tr h="370840">
                <a:tc>
                  <a:txBody>
                    <a:bodyPr/>
                    <a:lstStyle/>
                    <a:p>
                      <a:pPr rtl="0" fontAlgn="ctr"/>
                      <a:r>
                        <a:rPr lang="pt-BR" sz="1200" b="1">
                          <a:solidFill>
                            <a:srgbClr val="000000"/>
                          </a:solidFill>
                          <a:effectLst/>
                        </a:rPr>
                        <a:t>!</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 ponto de exclamação indica o recebimento bem-sucedido de uma mensagem de resposta de eco.</a:t>
                      </a:r>
                    </a:p>
                    <a:p>
                      <a:pPr rtl="0" fontAlgn="ctr">
                        <a:buFont typeface="Arial" panose="020B0604020202020204" pitchFamily="34" charset="0"/>
                        <a:buChar char="•"/>
                      </a:pPr>
                      <a:r>
                        <a:rPr lang="pt-BR" sz="1200" b="0">
                          <a:solidFill>
                            <a:srgbClr val="000000"/>
                          </a:solidFill>
                          <a:effectLst/>
                        </a:rPr>
                        <a:t>Ele valida uma conexão de Camada 3 entre origem e destino.</a:t>
                      </a:r>
                    </a:p>
                  </a:txBody>
                  <a:tcPr marL="47625" marR="47625" marT="47625" marB="47625" anchor="ctr"/>
                </a:tc>
                <a:extLst>
                  <a:ext uri="{0D108BD9-81ED-4DB2-BD59-A6C34878D82A}">
                    <a16:rowId xmlns:a16="http://schemas.microsoft.com/office/drawing/2014/main" val="1949256186"/>
                  </a:ext>
                </a:extLst>
              </a:tr>
              <a:tr h="370840">
                <a:tc>
                  <a:txBody>
                    <a:bodyPr/>
                    <a:lstStyle/>
                    <a:p>
                      <a:pPr rtl="0" fontAlgn="ctr"/>
                      <a:r>
                        <a:rPr lang="pt-BR" sz="1200" b="1">
                          <a:solidFill>
                            <a:srgbClr val="000000"/>
                          </a:solidFill>
                          <a:effectLst/>
                        </a:rPr>
                        <a:t>.</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Um período significa que o tempo expirou esperando por uma mensagem de resposta de eco.</a:t>
                      </a:r>
                    </a:p>
                    <a:p>
                      <a:pPr rtl="0" fontAlgn="ctr">
                        <a:buFont typeface="Arial" panose="020B0604020202020204" pitchFamily="34" charset="0"/>
                        <a:buChar char="•"/>
                      </a:pPr>
                      <a:r>
                        <a:rPr lang="pt-BR" sz="1200" b="0">
                          <a:solidFill>
                            <a:srgbClr val="000000"/>
                          </a:solidFill>
                          <a:effectLst/>
                        </a:rPr>
                        <a:t>Isso indica que ocorreu um problema de conectividade em algum lugar no caminho.</a:t>
                      </a:r>
                    </a:p>
                  </a:txBody>
                  <a:tcPr marL="47625" marR="47625" marT="47625" marB="47625" anchor="ctr"/>
                </a:tc>
                <a:extLst>
                  <a:ext uri="{0D108BD9-81ED-4DB2-BD59-A6C34878D82A}">
                    <a16:rowId xmlns:a16="http://schemas.microsoft.com/office/drawing/2014/main" val="51423680"/>
                  </a:ext>
                </a:extLst>
              </a:tr>
              <a:tr h="370840">
                <a:tc>
                  <a:txBody>
                    <a:bodyPr/>
                    <a:lstStyle/>
                    <a:p>
                      <a:pPr rtl="0" fontAlgn="ctr"/>
                      <a:r>
                        <a:rPr lang="pt-BR" sz="1200" b="1">
                          <a:solidFill>
                            <a:srgbClr val="000000"/>
                          </a:solidFill>
                          <a:effectLst/>
                        </a:rPr>
                        <a:t>U</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 "</a:t>
                      </a:r>
                      <a:r>
                        <a:rPr lang="pt-BR" sz="1200" b="1">
                          <a:solidFill>
                            <a:srgbClr val="000000"/>
                          </a:solidFill>
                          <a:effectLst/>
                        </a:rPr>
                        <a:t>U</a:t>
                      </a:r>
                      <a:r>
                        <a:rPr lang="pt-BR" sz="1200" b="0">
                          <a:solidFill>
                            <a:srgbClr val="000000"/>
                          </a:solidFill>
                          <a:effectLst/>
                        </a:rPr>
                        <a:t>" indica que um roteador no caminho respondeu com uma mensagem ICMP de destino inalcançável.</a:t>
                      </a:r>
                    </a:p>
                    <a:p>
                      <a:pPr rtl="0" fontAlgn="ctr">
                        <a:buFont typeface="Arial" panose="020B0604020202020204" pitchFamily="34" charset="0"/>
                        <a:buChar char="•"/>
                      </a:pPr>
                      <a:r>
                        <a:rPr lang="pt-BR" sz="1200" b="0">
                          <a:solidFill>
                            <a:srgbClr val="000000"/>
                          </a:solidFill>
                          <a:effectLst/>
                        </a:rPr>
                        <a:t>Possíveis motivos incluem que o roteador não sabe a direção para a rede de destino ou não conseguiu localizar o host na rede de destino.</a:t>
                      </a:r>
                    </a:p>
                  </a:txBody>
                  <a:tcPr marL="47625" marR="47625" marT="47625" marB="47625" anchor="ctr"/>
                </a:tc>
                <a:extLst>
                  <a:ext uri="{0D108BD9-81ED-4DB2-BD59-A6C34878D82A}">
                    <a16:rowId xmlns:a16="http://schemas.microsoft.com/office/drawing/2014/main" val="3522231268"/>
                  </a:ext>
                </a:extLst>
              </a:tr>
            </a:tbl>
          </a:graphicData>
        </a:graphic>
      </p:graphicFrame>
      <p:sp>
        <p:nvSpPr>
          <p:cNvPr id="2" name="TextBox 1">
            <a:extLst>
              <a:ext uri="{FF2B5EF4-FFF2-40B4-BE49-F238E27FC236}">
                <a16:creationId xmlns:a16="http://schemas.microsoft.com/office/drawing/2014/main" id="{3341920A-2AC3-4077-BEB9-5EF9B3E51CE8}"/>
              </a:ext>
            </a:extLst>
          </p:cNvPr>
          <p:cNvSpPr txBox="1"/>
          <p:nvPr/>
        </p:nvSpPr>
        <p:spPr>
          <a:xfrm>
            <a:off x="433659" y="4234759"/>
            <a:ext cx="8321060" cy="461665"/>
          </a:xfrm>
          <a:prstGeom prst="rect">
            <a:avLst/>
          </a:prstGeom>
          <a:noFill/>
        </p:spPr>
        <p:txBody>
          <a:bodyPr wrap="none" rtlCol="0">
            <a:spAutoFit/>
          </a:bodyPr>
          <a:lstStyle/>
          <a:p>
            <a:pPr rtl="0"/>
            <a:r>
              <a:rPr lang="pt-BR" sz="1200" b="1">
                <a:solidFill>
                  <a:srgbClr val="000000"/>
                </a:solidFill>
              </a:rPr>
              <a:t>Nota:</a:t>
            </a:r>
            <a:r>
              <a:rPr lang="pt-BR" sz="1200">
                <a:solidFill>
                  <a:srgbClr val="000000"/>
                </a:solidFill>
              </a:rPr>
              <a:t> Outras possíveis respostas de ping incluem Q, M,? , ou &amp;. No entanto, o significado destes estão fora do escopo para este módulo. </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Verificação de Conectividade</a:t>
            </a:r>
            <a:br>
              <a:rPr lang="en-US" dirty="0"/>
            </a:br>
            <a:r>
              <a:rPr lang="pt-BR" sz="2400"/>
              <a:t>Ping Estendido</a:t>
            </a:r>
          </a:p>
        </p:txBody>
      </p:sp>
      <p:sp>
        <p:nvSpPr>
          <p:cNvPr id="7" name="Content Placeholder 6">
            <a:extLst>
              <a:ext uri="{FF2B5EF4-FFF2-40B4-BE49-F238E27FC236}">
                <a16:creationId xmlns:a16="http://schemas.microsoft.com/office/drawing/2014/main" id="{392730A1-8E01-4B1C-80A8-4DC1FCCA5D82}"/>
              </a:ext>
            </a:extLst>
          </p:cNvPr>
          <p:cNvSpPr>
            <a:spLocks noGrp="1"/>
          </p:cNvSpPr>
          <p:nvPr>
            <p:ph idx="1"/>
          </p:nvPr>
        </p:nvSpPr>
        <p:spPr>
          <a:xfrm>
            <a:off x="266700" y="731837"/>
            <a:ext cx="3723409" cy="3627727"/>
          </a:xfrm>
        </p:spPr>
        <p:txBody>
          <a:bodyPr/>
          <a:lstStyle/>
          <a:p>
            <a:pPr marL="0" indent="0" algn="l" rtl="0"/>
            <a:r>
              <a:rPr lang="pt-BR" sz="1500">
                <a:solidFill>
                  <a:srgbClr val="000000"/>
                </a:solidFill>
              </a:rPr>
              <a:t>O Cisco IOS oferece um modo "estendido" do comando </a:t>
            </a:r>
            <a:r>
              <a:rPr lang="pt-BR" sz="1500" b="1">
                <a:solidFill>
                  <a:srgbClr val="000000"/>
                </a:solidFill>
              </a:rPr>
              <a:t>ping</a:t>
            </a:r>
            <a:r>
              <a:rPr lang="pt-BR" sz="1500">
                <a:solidFill>
                  <a:srgbClr val="000000"/>
                </a:solidFill>
              </a:rPr>
              <a:t>.</a:t>
            </a:r>
          </a:p>
          <a:p>
            <a:pPr marL="0" indent="0" algn="l"/>
            <a:endParaRPr lang="en-US" sz="1500" dirty="0">
              <a:solidFill>
                <a:srgbClr val="000000"/>
              </a:solidFill>
            </a:endParaRPr>
          </a:p>
          <a:p>
            <a:pPr marL="0" indent="0" algn="l" rtl="0"/>
            <a:r>
              <a:rPr lang="pt-BR" sz="1500">
                <a:solidFill>
                  <a:srgbClr val="000000"/>
                </a:solidFill>
              </a:rPr>
              <a:t>O ping estendido é inserido no modo EXEC privilegiado, digitando </a:t>
            </a:r>
            <a:r>
              <a:rPr lang="pt-BR" sz="1500" b="1">
                <a:solidFill>
                  <a:srgbClr val="000000"/>
                </a:solidFill>
              </a:rPr>
              <a:t>ping</a:t>
            </a:r>
            <a:r>
              <a:rPr lang="pt-BR" sz="1500">
                <a:solidFill>
                  <a:srgbClr val="000000"/>
                </a:solidFill>
              </a:rPr>
              <a:t> sem um endereço IP de destino. Em seguida, você receberá vários prompts para personalizar o </a:t>
            </a:r>
            <a:r>
              <a:rPr lang="pt-BR" sz="1500" b="1">
                <a:solidFill>
                  <a:srgbClr val="000000"/>
                </a:solidFill>
              </a:rPr>
              <a:t>ping</a:t>
            </a:r>
            <a:r>
              <a:rPr lang="pt-BR" sz="1500">
                <a:solidFill>
                  <a:srgbClr val="000000"/>
                </a:solidFill>
              </a:rPr>
              <a:t>estendido.</a:t>
            </a:r>
          </a:p>
          <a:p>
            <a:pPr marL="0" indent="0" algn="l"/>
            <a:endParaRPr lang="en-US" sz="1500" b="1" dirty="0">
              <a:solidFill>
                <a:srgbClr val="000000"/>
              </a:solidFill>
            </a:endParaRPr>
          </a:p>
          <a:p>
            <a:pPr marL="0" indent="0" algn="l" rtl="0"/>
            <a:r>
              <a:rPr lang="pt-BR" sz="1500" b="1">
                <a:solidFill>
                  <a:srgbClr val="000000"/>
                </a:solidFill>
              </a:rPr>
              <a:t>Nota: </a:t>
            </a:r>
            <a:r>
              <a:rPr lang="pt-BR" sz="1500">
                <a:solidFill>
                  <a:srgbClr val="000000"/>
                </a:solidFill>
              </a:rPr>
              <a:t>Pressionar </a:t>
            </a:r>
            <a:r>
              <a:rPr lang="pt-BR" sz="1500" b="1">
                <a:solidFill>
                  <a:srgbClr val="000000"/>
                </a:solidFill>
              </a:rPr>
              <a:t>Enter </a:t>
            </a:r>
            <a:r>
              <a:rPr lang="pt-BR" sz="1500">
                <a:solidFill>
                  <a:srgbClr val="000000"/>
                </a:solidFill>
              </a:rPr>
              <a:t>aceita os valores padrão indicados. O comando </a:t>
            </a:r>
            <a:r>
              <a:rPr lang="pt-BR" sz="1500" b="1">
                <a:solidFill>
                  <a:srgbClr val="000000"/>
                </a:solidFill>
              </a:rPr>
              <a:t>ping ipv6</a:t>
            </a:r>
            <a:r>
              <a:rPr lang="pt-BR" sz="1500">
                <a:solidFill>
                  <a:srgbClr val="000000"/>
                </a:solidFill>
              </a:rPr>
              <a:t> é usado para pings estendidos do IPv6.</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Conectividade</a:t>
            </a:r>
            <a:br>
              <a:rPr lang="en-US" dirty="0"/>
            </a:br>
            <a:r>
              <a:rPr lang="pt-BR" sz="2400"/>
              <a:t>Verificar Conectividade com Traceroute</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161926" y="731838"/>
            <a:ext cx="8592794" cy="1449388"/>
          </a:xfrm>
        </p:spPr>
        <p:txBody>
          <a:bodyPr/>
          <a:lstStyle/>
          <a:p>
            <a:pPr marL="0" indent="0" algn="l" rtl="0"/>
            <a:r>
              <a:rPr lang="pt-BR" sz="1600">
                <a:solidFill>
                  <a:srgbClr val="000000"/>
                </a:solidFill>
              </a:rPr>
              <a:t>O comando ping é útil para determinar rapidamente se há um problema de conectividade da Camada 3. No entanto, ele não identifica onde o problema está localizado ao longo do caminho.</a:t>
            </a:r>
          </a:p>
          <a:p>
            <a:pPr marL="285750" indent="-285750" algn="l" rtl="0">
              <a:buFont typeface="Arial" panose="020B0604020202020204" pitchFamily="34" charset="0"/>
              <a:buChar char="•"/>
            </a:pPr>
            <a:r>
              <a:rPr lang="pt-BR" sz="1600">
                <a:solidFill>
                  <a:srgbClr val="000000"/>
                </a:solidFill>
              </a:rPr>
              <a:t>Traceroute pode ajudar a localizar áreas problemáticas da Camada 3 em uma rede. O comando trace retorna uma lista dos saltos no roteamento de um pacote pela rede.</a:t>
            </a:r>
          </a:p>
          <a:p>
            <a:pPr marL="285750" indent="-285750" algn="l" rtl="0">
              <a:buFont typeface="Arial" panose="020B0604020202020204" pitchFamily="34" charset="0"/>
              <a:buChar char="•"/>
            </a:pPr>
            <a:r>
              <a:rPr lang="pt-BR" sz="1600">
                <a:solidFill>
                  <a:srgbClr val="000000"/>
                </a:solidFill>
              </a:rPr>
              <a:t>A sintaxe do comando trace varia entre os sistemas operacionais.</a:t>
            </a:r>
          </a:p>
        </p:txBody>
      </p:sp>
      <p:pic>
        <p:nvPicPr>
          <p:cNvPr id="5" name="Picture 4">
            <a:extLst>
              <a:ext uri="{FF2B5EF4-FFF2-40B4-BE49-F238E27FC236}">
                <a16:creationId xmlns:a16="http://schemas.microsoft.com/office/drawing/2014/main"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Conectividade</a:t>
            </a:r>
            <a:br>
              <a:rPr lang="en-US" dirty="0"/>
            </a:br>
            <a:r>
              <a:rPr lang="pt-BR" sz="2400"/>
              <a:t>Verificar Conectividade com Traceroute (Cont.)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474662" y="731838"/>
            <a:ext cx="8280057" cy="1741856"/>
          </a:xfrm>
        </p:spPr>
        <p:txBody>
          <a:bodyPr/>
          <a:lstStyle/>
          <a:p>
            <a:pPr marL="285750" indent="-285750" algn="l" rtl="0">
              <a:buFont typeface="Arial" panose="020B0604020202020204" pitchFamily="34" charset="0"/>
              <a:buChar char="•"/>
            </a:pPr>
            <a:r>
              <a:rPr lang="pt-BR" sz="1600">
                <a:solidFill>
                  <a:srgbClr val="000000"/>
                </a:solidFill>
              </a:rPr>
              <a:t>Segue-se uma saída de exemplo do comando </a:t>
            </a:r>
            <a:r>
              <a:rPr lang="pt-BR" sz="1600" b="1">
                <a:solidFill>
                  <a:srgbClr val="000000"/>
                </a:solidFill>
              </a:rPr>
              <a:t>tracert</a:t>
            </a:r>
            <a:r>
              <a:rPr lang="pt-BR" sz="1600">
                <a:solidFill>
                  <a:srgbClr val="000000"/>
                </a:solidFill>
              </a:rPr>
              <a:t> num anfitrião Windows 10.</a:t>
            </a:r>
          </a:p>
          <a:p>
            <a:pPr marL="0" indent="0" algn="l" rtl="0"/>
            <a:r>
              <a:rPr lang="pt-BR" sz="1600">
                <a:solidFill>
                  <a:srgbClr val="000000"/>
                </a:solidFill>
              </a:rPr>
              <a:t>		</a:t>
            </a:r>
            <a:r>
              <a:rPr lang="pt-BR" sz="1600" b="1">
                <a:solidFill>
                  <a:srgbClr val="000000"/>
                </a:solidFill>
              </a:rPr>
              <a:t>Observação:</a:t>
            </a:r>
            <a:r>
              <a:rPr lang="pt-BR" sz="1600">
                <a:solidFill>
                  <a:srgbClr val="000000"/>
                </a:solidFill>
              </a:rPr>
              <a:t> Use </a:t>
            </a:r>
            <a:r>
              <a:rPr lang="pt-BR" sz="1600" b="1">
                <a:solidFill>
                  <a:srgbClr val="000000"/>
                </a:solidFill>
              </a:rPr>
              <a:t>Ctrl-C</a:t>
            </a:r>
            <a:r>
              <a:rPr lang="pt-BR" sz="1600">
                <a:solidFill>
                  <a:srgbClr val="000000"/>
                </a:solidFill>
              </a:rPr>
              <a:t> para interromper um </a:t>
            </a:r>
            <a:r>
              <a:rPr lang="pt-BR" sz="1600" b="1">
                <a:solidFill>
                  <a:srgbClr val="000000"/>
                </a:solidFill>
              </a:rPr>
              <a:t>tracert</a:t>
            </a:r>
            <a:r>
              <a:rPr lang="pt-BR" sz="1600">
                <a:solidFill>
                  <a:srgbClr val="000000"/>
                </a:solidFill>
              </a:rPr>
              <a:t> no Windows.</a:t>
            </a:r>
          </a:p>
          <a:p>
            <a:pPr marL="342900" indent="-342900" algn="l" rtl="0">
              <a:buFont typeface="Arial" panose="020B0604020202020204" pitchFamily="34" charset="0"/>
              <a:buChar char="•"/>
            </a:pPr>
            <a:r>
              <a:rPr lang="pt-BR" sz="1600">
                <a:solidFill>
                  <a:srgbClr val="000000"/>
                </a:solidFill>
              </a:rPr>
              <a:t>A única resposta bem-sucedida foi do gateway no R1. Solicitações de rastreamento para o próximo salto expirado conforme indicado pelo asterisco (*), o que significa que o próximo roteador de salto não respondeu ou há uma falha no caminho de rede. Neste exemplo, parece haver um problema entre R1 e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Conectividade</a:t>
            </a:r>
            <a:br>
              <a:rPr lang="en-US" dirty="0"/>
            </a:br>
            <a:r>
              <a:rPr lang="pt-BR" sz="2400"/>
              <a:t>Verificar Conectividade com Ping (Cont.)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389281" y="731837"/>
            <a:ext cx="8754719" cy="314180"/>
          </a:xfrm>
        </p:spPr>
        <p:txBody>
          <a:bodyPr/>
          <a:lstStyle/>
          <a:p>
            <a:pPr marL="0" indent="0" algn="l" rtl="0"/>
            <a:r>
              <a:rPr lang="pt-BR" sz="1600">
                <a:solidFill>
                  <a:srgbClr val="000000"/>
                </a:solidFill>
              </a:rPr>
              <a:t>Seguem-se as saídas de exemplo do comando traceroute de R1:</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rtl="0">
              <a:buFont typeface="Arial" panose="020B0604020202020204" pitchFamily="34" charset="0"/>
              <a:buChar char="•"/>
            </a:pPr>
            <a:r>
              <a:rPr lang="pt-BR" sz="1600">
                <a:solidFill>
                  <a:srgbClr val="000000"/>
                </a:solidFill>
              </a:rPr>
              <a:t>À esquerda, o rastreamento validou que poderia atingir o PC B.</a:t>
            </a:r>
          </a:p>
          <a:p>
            <a:pPr marL="358835" lvl="1" indent="-285750" rtl="0">
              <a:buFont typeface="Arial" panose="020B0604020202020204" pitchFamily="34" charset="0"/>
              <a:buChar char="•"/>
            </a:pPr>
            <a:r>
              <a:rPr lang="pt-BR" sz="1600">
                <a:solidFill>
                  <a:srgbClr val="000000"/>
                </a:solidFill>
              </a:rPr>
              <a:t>À direita, o host 10.1.1.10 não estava disponível e a saída mostra asteriscos onde as respostas expiraram. Os tempos limite indicam um potencial problema de rede. </a:t>
            </a:r>
          </a:p>
          <a:p>
            <a:pPr marL="358835" lvl="1" indent="-285750" rtl="0">
              <a:buFont typeface="Arial" panose="020B0604020202020204" pitchFamily="34" charset="0"/>
              <a:buChar char="•"/>
            </a:pPr>
            <a:r>
              <a:rPr lang="pt-BR" sz="1600">
                <a:solidFill>
                  <a:srgbClr val="000000"/>
                </a:solidFill>
              </a:rPr>
              <a:t>Use </a:t>
            </a:r>
            <a:r>
              <a:rPr lang="pt-BR" sz="1600" b="1">
                <a:solidFill>
                  <a:srgbClr val="000000"/>
                </a:solidFill>
              </a:rPr>
              <a:t>Ctrl-Shift-6</a:t>
            </a:r>
            <a:r>
              <a:rPr lang="pt-BR" sz="1600">
                <a:solidFill>
                  <a:srgbClr val="000000"/>
                </a:solidFill>
              </a:rPr>
              <a:t> para interromper um </a:t>
            </a:r>
            <a:r>
              <a:rPr lang="pt-BR" sz="1600" b="1">
                <a:solidFill>
                  <a:srgbClr val="000000"/>
                </a:solidFill>
              </a:rPr>
              <a:t>traceroute</a:t>
            </a:r>
            <a:r>
              <a:rPr lang="pt-BR" sz="1600">
                <a:solidFill>
                  <a:srgbClr val="000000"/>
                </a:solidFill>
              </a:rPr>
              <a:t> no Cisco IOS.</a:t>
            </a:r>
          </a:p>
          <a:p>
            <a:endParaRPr lang="en-US" sz="1400" b="1" dirty="0">
              <a:solidFill>
                <a:srgbClr val="000000"/>
              </a:solidFill>
            </a:endParaRPr>
          </a:p>
          <a:p>
            <a:pPr rtl="0"/>
            <a:r>
              <a:rPr lang="pt-BR" sz="1400" b="1">
                <a:solidFill>
                  <a:srgbClr val="000000"/>
                </a:solidFill>
              </a:rPr>
              <a:t>Nota</a:t>
            </a:r>
            <a:r>
              <a:rPr lang="pt-BR" sz="1400">
                <a:solidFill>
                  <a:srgbClr val="000000"/>
                </a:solidFill>
              </a:rPr>
              <a:t>: A implementação do Windows do traceroute (tracert) envia solicitações de eco do ICMP. Cisco IOS e Linux usam UDP com um número de porta inválido. O destino final retornará uma mensagem de porta ICMP inacessível. </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a Conectividade</a:t>
            </a:r>
            <a:br>
              <a:rPr lang="en-US" dirty="0"/>
            </a:br>
            <a:r>
              <a:rPr lang="pt-BR" sz="2400"/>
              <a:t>Traceroute Estendido</a:t>
            </a:r>
          </a:p>
        </p:txBody>
      </p:sp>
      <p:sp>
        <p:nvSpPr>
          <p:cNvPr id="7" name="Content Placeholder 6">
            <a:extLst>
              <a:ext uri="{FF2B5EF4-FFF2-40B4-BE49-F238E27FC236}">
                <a16:creationId xmlns:a16="http://schemas.microsoft.com/office/drawing/2014/main" id="{0DDBD792-C3EC-49E8-BFF9-83E19B8F1159}"/>
              </a:ext>
            </a:extLst>
          </p:cNvPr>
          <p:cNvSpPr>
            <a:spLocks noGrp="1"/>
          </p:cNvSpPr>
          <p:nvPr>
            <p:ph idx="1"/>
          </p:nvPr>
        </p:nvSpPr>
        <p:spPr>
          <a:xfrm>
            <a:off x="443345" y="731838"/>
            <a:ext cx="8345488" cy="1839912"/>
          </a:xfrm>
        </p:spPr>
        <p:txBody>
          <a:bodyPr/>
          <a:lstStyle/>
          <a:p>
            <a:pPr marL="0" indent="0" algn="l" rtl="0"/>
            <a:r>
              <a:rPr lang="pt-BR" sz="1600">
                <a:solidFill>
                  <a:srgbClr val="000000"/>
                </a:solidFill>
              </a:rPr>
              <a:t>Como o comando </a:t>
            </a:r>
            <a:r>
              <a:rPr lang="pt-BR" sz="1600" b="1">
                <a:solidFill>
                  <a:srgbClr val="000000"/>
                </a:solidFill>
              </a:rPr>
              <a:t>ping</a:t>
            </a:r>
            <a:r>
              <a:rPr lang="pt-BR" sz="1600">
                <a:solidFill>
                  <a:srgbClr val="000000"/>
                </a:solidFill>
              </a:rPr>
              <a:t> estendido, há também um comando </a:t>
            </a:r>
            <a:r>
              <a:rPr lang="pt-BR" sz="1600" b="1">
                <a:solidFill>
                  <a:srgbClr val="000000"/>
                </a:solidFill>
              </a:rPr>
              <a:t>traceroute</a:t>
            </a:r>
            <a:r>
              <a:rPr lang="pt-BR" sz="1600">
                <a:solidFill>
                  <a:srgbClr val="000000"/>
                </a:solidFill>
              </a:rPr>
              <a:t> estendido. Ele permite que o administrador ajuste parâmetros relacionados à operação de comando. </a:t>
            </a:r>
          </a:p>
          <a:p>
            <a:pPr marL="0" indent="0" algn="l"/>
            <a:endParaRPr lang="en-US" sz="1600" dirty="0">
              <a:solidFill>
                <a:srgbClr val="000000"/>
              </a:solidFill>
            </a:endParaRPr>
          </a:p>
          <a:p>
            <a:pPr marL="0" indent="0" algn="l" rtl="0"/>
            <a:r>
              <a:rPr lang="pt-BR" sz="1600">
                <a:solidFill>
                  <a:srgbClr val="000000"/>
                </a:solidFill>
              </a:rPr>
              <a:t>O comando </a:t>
            </a:r>
            <a:r>
              <a:rPr lang="pt-BR" sz="1600" b="1">
                <a:solidFill>
                  <a:srgbClr val="000000"/>
                </a:solidFill>
              </a:rPr>
              <a:t>tracert</a:t>
            </a:r>
            <a:r>
              <a:rPr lang="pt-BR" sz="1600">
                <a:solidFill>
                  <a:srgbClr val="000000"/>
                </a:solidFill>
              </a:rPr>
              <a:t> do Windows permite a entrada de vários parâmetros por meio de opções na linha de comando. No entanto, ele não é guiado como o comando estendido traceroute IOS. A saída a seguir exibe as opções disponíveis para o comando </a:t>
            </a:r>
            <a:r>
              <a:rPr lang="pt-BR" sz="1600" b="1">
                <a:solidFill>
                  <a:srgbClr val="000000"/>
                </a:solidFill>
              </a:rPr>
              <a:t>tracert</a:t>
            </a:r>
            <a:r>
              <a:rPr lang="pt-BR" sz="1600">
                <a:solidFill>
                  <a:srgbClr val="000000"/>
                </a:solidFill>
              </a:rPr>
              <a:t> do Windows:</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Verificar a</a:t>
            </a:r>
            <a:r>
              <a:rPr lang="pt-BR" sz="2400"/>
              <a:t>Conectividade Traceroute Estendido (Cont.) </a:t>
            </a:r>
          </a:p>
        </p:txBody>
      </p:sp>
      <p:sp>
        <p:nvSpPr>
          <p:cNvPr id="4" name="Content Placeholder 3">
            <a:extLst>
              <a:ext uri="{FF2B5EF4-FFF2-40B4-BE49-F238E27FC236}">
                <a16:creationId xmlns:a16="http://schemas.microsoft.com/office/drawing/2014/main" id="{07861E12-DF1B-4298-BC04-F1489B20AB4B}"/>
              </a:ext>
            </a:extLst>
          </p:cNvPr>
          <p:cNvSpPr>
            <a:spLocks noGrp="1"/>
          </p:cNvSpPr>
          <p:nvPr>
            <p:ph idx="1"/>
          </p:nvPr>
        </p:nvSpPr>
        <p:spPr>
          <a:xfrm>
            <a:off x="474662" y="731837"/>
            <a:ext cx="5177993" cy="3689897"/>
          </a:xfrm>
        </p:spPr>
        <p:txBody>
          <a:bodyPr/>
          <a:lstStyle/>
          <a:p>
            <a:pPr marL="285750" indent="-285750" algn="l" rtl="0">
              <a:buFont typeface="Arial" panose="020B0604020202020204" pitchFamily="34" charset="0"/>
              <a:buChar char="•"/>
            </a:pPr>
            <a:r>
              <a:rPr lang="pt-BR" sz="1600">
                <a:solidFill>
                  <a:srgbClr val="000000"/>
                </a:solidFill>
              </a:rPr>
              <a:t>A opção </a:t>
            </a:r>
            <a:r>
              <a:rPr lang="pt-BR" sz="1600" b="1">
                <a:solidFill>
                  <a:srgbClr val="000000"/>
                </a:solidFill>
              </a:rPr>
              <a:t>traceroute</a:t>
            </a:r>
            <a:r>
              <a:rPr lang="pt-BR" sz="1600">
                <a:solidFill>
                  <a:srgbClr val="000000"/>
                </a:solidFill>
              </a:rPr>
              <a:t> estendido do Cisco IOS permite que o usuário crie um tipo especial de rastreamento ajustando parâmetros relacionados à operação do comando. </a:t>
            </a:r>
          </a:p>
          <a:p>
            <a:pPr marL="285750" indent="-285750" algn="l" rtl="0">
              <a:buFont typeface="Arial" panose="020B0604020202020204" pitchFamily="34" charset="0"/>
              <a:buChar char="•"/>
            </a:pPr>
            <a:r>
              <a:rPr lang="pt-BR" sz="1600">
                <a:solidFill>
                  <a:srgbClr val="000000"/>
                </a:solidFill>
              </a:rPr>
              <a:t>O traceroute estendido é inserido no modo EXEC privilegiado digitando </a:t>
            </a:r>
            <a:r>
              <a:rPr lang="pt-BR" sz="1600" b="1">
                <a:solidFill>
                  <a:srgbClr val="000000"/>
                </a:solidFill>
              </a:rPr>
              <a:t>traceroute</a:t>
            </a:r>
            <a:r>
              <a:rPr lang="pt-BR" sz="1600">
                <a:solidFill>
                  <a:srgbClr val="000000"/>
                </a:solidFill>
              </a:rPr>
              <a:t>sem um endereço IP de destino. O IOS orientará você pelas opções de comando apresentando diversos prompts relacionados à configuração de todos os parâmetros diferentes.</a:t>
            </a:r>
          </a:p>
          <a:p>
            <a:pPr marL="285750" indent="-285750" algn="l">
              <a:buFont typeface="Arial" panose="020B0604020202020204" pitchFamily="34" charset="0"/>
              <a:buChar char="•"/>
            </a:pPr>
            <a:endParaRPr lang="en-US" sz="1600" dirty="0">
              <a:solidFill>
                <a:srgbClr val="000000"/>
              </a:solidFill>
            </a:endParaRPr>
          </a:p>
          <a:p>
            <a:pPr marL="285750" indent="-285750" algn="l" rtl="0">
              <a:buFont typeface="Arial" panose="020B0604020202020204" pitchFamily="34" charset="0"/>
              <a:buChar char="•"/>
            </a:pPr>
            <a:r>
              <a:rPr lang="pt-BR" sz="1600" b="1">
                <a:solidFill>
                  <a:srgbClr val="000000"/>
                </a:solidFill>
              </a:rPr>
              <a:t>Observação</a:t>
            </a:r>
            <a:r>
              <a:rPr lang="pt-BR" sz="1600">
                <a:solidFill>
                  <a:srgbClr val="000000"/>
                </a:solidFill>
              </a:rPr>
              <a:t>:Ao pressionar </a:t>
            </a:r>
            <a:r>
              <a:rPr lang="pt-BR" sz="1600" b="1">
                <a:solidFill>
                  <a:srgbClr val="000000"/>
                </a:solidFill>
              </a:rPr>
              <a:t>Enter</a:t>
            </a:r>
            <a:r>
              <a:rPr lang="pt-BR" sz="1600">
                <a:solidFill>
                  <a:srgbClr val="000000"/>
                </a:solidFill>
              </a:rPr>
              <a:t>, você aceita os valores padrão indicados.</a:t>
            </a:r>
          </a:p>
        </p:txBody>
      </p:sp>
      <p:pic>
        <p:nvPicPr>
          <p:cNvPr id="5" name="Picture 4">
            <a:extLst>
              <a:ext uri="{FF2B5EF4-FFF2-40B4-BE49-F238E27FC236}">
                <a16:creationId xmlns:a16="http://schemas.microsoft.com/office/drawing/2014/main"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Verificação de Conectividade</a:t>
            </a:r>
            <a:br>
              <a:rPr lang="en-US" dirty="0"/>
            </a:br>
            <a:r>
              <a:rPr lang="pt-BR" sz="2400"/>
              <a:t>Linha de Base de Rede</a:t>
            </a:r>
          </a:p>
        </p:txBody>
      </p:sp>
      <p:sp>
        <p:nvSpPr>
          <p:cNvPr id="6" name="Content Placeholder 5">
            <a:extLst>
              <a:ext uri="{FF2B5EF4-FFF2-40B4-BE49-F238E27FC236}">
                <a16:creationId xmlns:a16="http://schemas.microsoft.com/office/drawing/2014/main" id="{A78E6CE1-5A04-4670-B83B-B684916AEE63}"/>
              </a:ext>
            </a:extLst>
          </p:cNvPr>
          <p:cNvSpPr>
            <a:spLocks noGrp="1"/>
          </p:cNvSpPr>
          <p:nvPr>
            <p:ph idx="1"/>
          </p:nvPr>
        </p:nvSpPr>
        <p:spPr>
          <a:xfrm>
            <a:off x="257176" y="731837"/>
            <a:ext cx="8497544" cy="3689897"/>
          </a:xfrm>
        </p:spPr>
        <p:txBody>
          <a:bodyPr/>
          <a:lstStyle/>
          <a:p>
            <a:pPr marL="285750" indent="-285750" algn="l" rtl="0">
              <a:buFont typeface="Arial" panose="020B0604020202020204" pitchFamily="34" charset="0"/>
              <a:buChar char="•"/>
            </a:pPr>
            <a:r>
              <a:rPr lang="pt-BR" sz="1600">
                <a:solidFill>
                  <a:srgbClr val="000000"/>
                </a:solidFill>
              </a:rPr>
              <a:t>Uma das ferramentas mais eficazes para o monitoramento e a solução de problemas de desempenho de rede é estabelecer uma linha de base da rede. </a:t>
            </a:r>
          </a:p>
          <a:p>
            <a:pPr marL="285750" indent="-285750" algn="l" rtl="0">
              <a:buFont typeface="Arial" panose="020B0604020202020204" pitchFamily="34" charset="0"/>
              <a:buChar char="•"/>
            </a:pPr>
            <a:r>
              <a:rPr lang="pt-BR" sz="1600">
                <a:solidFill>
                  <a:srgbClr val="000000"/>
                </a:solidFill>
              </a:rPr>
              <a:t>Um método para iniciar uma linha de base é copiar e colar os resultados de um ping, trace, ou outro comando relevante executado em um arquivo texto. Esses arquivos de texto podem ser marcados com a data e salvos em um arquivo para posterior recuperação e comparação.</a:t>
            </a:r>
          </a:p>
          <a:p>
            <a:pPr marL="285750" indent="-285750" algn="l" rtl="0">
              <a:buFont typeface="Arial" panose="020B0604020202020204" pitchFamily="34" charset="0"/>
              <a:buChar char="•"/>
            </a:pPr>
            <a:r>
              <a:rPr lang="pt-BR" sz="1600">
                <a:solidFill>
                  <a:srgbClr val="000000"/>
                </a:solidFill>
              </a:rPr>
              <a:t>Entre os itens a serem considerados estão as mensagens de erro e os tempos de resposta de cada host.</a:t>
            </a:r>
          </a:p>
          <a:p>
            <a:pPr marL="285750" indent="-285750" algn="l" rtl="0">
              <a:buFont typeface="Arial" panose="020B0604020202020204" pitchFamily="34" charset="0"/>
              <a:buChar char="•"/>
            </a:pPr>
            <a:r>
              <a:rPr lang="pt-BR" sz="1600">
                <a:solidFill>
                  <a:srgbClr val="000000"/>
                </a:solidFill>
              </a:rPr>
              <a:t>Redes corporativas devem possuir linhas de base extensas, mais extensas do que podemos descrever neste curso. Ferramentas profissionais de software estão disponíveis para armazenamento e manutenção das informações de linha de base.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Verificando a Conectividade - </a:t>
            </a:r>
            <a:br>
              <a:rPr lang="en-US" sz="1600" dirty="0"/>
            </a:br>
            <a:r>
              <a:rPr lang="pt-BR" sz="2400"/>
              <a:t>Laboratório - Teste de Latência da Rede com Ping e Traceroute</a:t>
            </a:r>
          </a:p>
        </p:txBody>
      </p:sp>
      <p:sp>
        <p:nvSpPr>
          <p:cNvPr id="5" name="Content Placeholder 4">
            <a:extLst>
              <a:ext uri="{FF2B5EF4-FFF2-40B4-BE49-F238E27FC236}">
                <a16:creationId xmlns:a16="http://schemas.microsoft.com/office/drawing/2014/main" id="{E7522A69-FB62-4668-BCF4-DEEA4C4B1809}"/>
              </a:ext>
            </a:extLst>
          </p:cNvPr>
          <p:cNvSpPr>
            <a:spLocks noGrp="1"/>
          </p:cNvSpPr>
          <p:nvPr>
            <p:ph idx="1"/>
          </p:nvPr>
        </p:nvSpPr>
        <p:spPr>
          <a:xfrm>
            <a:off x="474662" y="731837"/>
            <a:ext cx="8280057" cy="3689897"/>
          </a:xfrm>
        </p:spPr>
        <p:txBody>
          <a:bodyPr/>
          <a:lstStyle/>
          <a:p>
            <a:pPr marL="0" indent="0" algn="l" rtl="0"/>
            <a:r>
              <a:rPr lang="pt-BR">
                <a:solidFill>
                  <a:srgbClr val="000000"/>
                </a:solidFill>
              </a:rPr>
              <a:t>Nesse laboratório, você completará os seguintes objetivos:</a:t>
            </a:r>
          </a:p>
          <a:p>
            <a:pPr marL="342900" indent="-342900" algn="l" rtl="0">
              <a:buFont typeface="Arial" panose="020B0604020202020204" pitchFamily="34" charset="0"/>
              <a:buChar char="•"/>
            </a:pPr>
            <a:r>
              <a:rPr lang="pt-BR">
                <a:solidFill>
                  <a:srgbClr val="000000"/>
                </a:solidFill>
              </a:rPr>
              <a:t>Parte 1: Usar Ping para Documentar a Latência da Rede</a:t>
            </a:r>
          </a:p>
          <a:p>
            <a:pPr marL="342900" indent="-342900" algn="l" rtl="0">
              <a:buFont typeface="Arial" panose="020B0604020202020204" pitchFamily="34" charset="0"/>
              <a:buChar char="•"/>
            </a:pPr>
            <a:r>
              <a:rPr lang="pt-BR">
                <a:solidFill>
                  <a:srgbClr val="000000"/>
                </a:solidFill>
              </a:rPr>
              <a:t>Parte 2: Usar Traceroute para Documentar a Latência de Rede</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1440878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17.5 - Host e Comandos IOS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 </a:t>
            </a:r>
            <a:br>
              <a:rPr lang="en-US" dirty="0"/>
            </a:br>
            <a:r>
              <a:rPr lang="pt-BR" sz="2400"/>
              <a:t>Configuração de IP em um Host do Windows</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66700" y="731838"/>
            <a:ext cx="8553450" cy="2771484"/>
          </a:xfrm>
        </p:spPr>
        <p:txBody>
          <a:bodyPr/>
          <a:lstStyle/>
          <a:p>
            <a:pPr marL="0" indent="0" algn="l" rtl="0"/>
            <a:r>
              <a:rPr lang="pt-BR" sz="1500">
                <a:solidFill>
                  <a:srgbClr val="000000"/>
                </a:solidFill>
              </a:rPr>
              <a:t>No Windows 10, você pode acessar os detalhes do endereço IP do </a:t>
            </a:r>
            <a:r>
              <a:rPr lang="pt-BR" sz="1500" b="1">
                <a:solidFill>
                  <a:srgbClr val="000000"/>
                </a:solidFill>
              </a:rPr>
              <a:t>Centro de Rede e Compartilhamento</a:t>
            </a:r>
            <a:r>
              <a:rPr lang="pt-BR" sz="1500">
                <a:solidFill>
                  <a:srgbClr val="000000"/>
                </a:solidFill>
              </a:rPr>
              <a:t> para exibir rapidamente as quatro configurações importantes: endereço, máscara, roteador e DNS. Ou você pode emitir o comando </a:t>
            </a:r>
            <a:r>
              <a:rPr lang="pt-BR" sz="1500" b="1">
                <a:solidFill>
                  <a:srgbClr val="000000"/>
                </a:solidFill>
              </a:rPr>
              <a:t>ipconfig</a:t>
            </a:r>
            <a:r>
              <a:rPr lang="pt-BR" sz="1500">
                <a:solidFill>
                  <a:srgbClr val="000000"/>
                </a:solidFill>
              </a:rPr>
              <a:t> na linha de comando de um computador Windows.</a:t>
            </a:r>
          </a:p>
          <a:p>
            <a:pPr marL="342900" indent="-342900" algn="l" rtl="0">
              <a:buFont typeface="Arial" panose="020B0604020202020204" pitchFamily="34" charset="0"/>
              <a:buChar char="•"/>
            </a:pPr>
            <a:r>
              <a:rPr lang="pt-BR" sz="1500">
                <a:solidFill>
                  <a:srgbClr val="000000"/>
                </a:solidFill>
              </a:rPr>
              <a:t>Use o comando </a:t>
            </a:r>
            <a:r>
              <a:rPr lang="pt-BR" sz="1500" b="1">
                <a:solidFill>
                  <a:srgbClr val="000000"/>
                </a:solidFill>
              </a:rPr>
              <a:t>ipconfig /all</a:t>
            </a:r>
            <a:r>
              <a:rPr lang="pt-BR" sz="1500">
                <a:solidFill>
                  <a:srgbClr val="000000"/>
                </a:solidFill>
              </a:rPr>
              <a:t> para visualizar o endereço MAC, bem como vários detalhes sobre o endereçamento da camada 3 do dispositivo.</a:t>
            </a:r>
          </a:p>
          <a:p>
            <a:pPr marL="342900" indent="-342900" algn="l" rtl="0">
              <a:buFont typeface="Arial" panose="020B0604020202020204" pitchFamily="34" charset="0"/>
              <a:buChar char="•"/>
            </a:pPr>
            <a:r>
              <a:rPr lang="pt-BR" sz="1500">
                <a:solidFill>
                  <a:srgbClr val="000000"/>
                </a:solidFill>
              </a:rPr>
              <a:t>Se um host estiver configurado como um cliente DHCP, a configuração do endereço IP poderá ser renovada usando os comandos </a:t>
            </a:r>
            <a:r>
              <a:rPr lang="pt-BR" sz="1500" b="1">
                <a:solidFill>
                  <a:srgbClr val="000000"/>
                </a:solidFill>
              </a:rPr>
              <a:t>ipconfig /release</a:t>
            </a:r>
            <a:r>
              <a:rPr lang="pt-BR" sz="1500">
                <a:solidFill>
                  <a:srgbClr val="000000"/>
                </a:solidFill>
              </a:rPr>
              <a:t> e </a:t>
            </a:r>
            <a:r>
              <a:rPr lang="pt-BR" sz="1500" b="1">
                <a:solidFill>
                  <a:srgbClr val="000000"/>
                </a:solidFill>
              </a:rPr>
              <a:t>ipconfig /renew</a:t>
            </a:r>
            <a:r>
              <a:rPr lang="pt-BR" sz="1500">
                <a:solidFill>
                  <a:srgbClr val="000000"/>
                </a:solidFill>
              </a:rPr>
              <a:t> .</a:t>
            </a:r>
          </a:p>
          <a:p>
            <a:pPr marL="342900" indent="-342900" algn="l" rtl="0">
              <a:buFont typeface="Arial" panose="020B0604020202020204" pitchFamily="34" charset="0"/>
              <a:buChar char="•"/>
            </a:pPr>
            <a:r>
              <a:rPr lang="pt-BR" sz="1500">
                <a:solidFill>
                  <a:srgbClr val="000000"/>
                </a:solidFill>
              </a:rPr>
              <a:t>O serviço Cliente DNS nos computadores com Windows também otimiza o desempenho da decisão do nome DNS ao armazenar nomes previamente definidos na memória. O comando </a:t>
            </a:r>
            <a:r>
              <a:rPr lang="pt-BR" sz="1500" b="1">
                <a:solidFill>
                  <a:srgbClr val="000000"/>
                </a:solidFill>
              </a:rPr>
              <a:t>ipconfig /displaydns </a:t>
            </a:r>
            <a:r>
              <a:rPr lang="pt-BR" sz="1500">
                <a:solidFill>
                  <a:srgbClr val="000000"/>
                </a:solidFill>
              </a:rPr>
              <a:t>exibe todas as inserções do DNS em cache em um sistema de computador Windows.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Configuração IP em um Host Linux</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00026" y="819151"/>
            <a:ext cx="4674322" cy="3602584"/>
          </a:xfrm>
        </p:spPr>
        <p:txBody>
          <a:bodyPr/>
          <a:lstStyle/>
          <a:p>
            <a:pPr marL="342900" indent="-342900" algn="l" rtl="0">
              <a:buFont typeface="Arial" panose="020B0604020202020204" pitchFamily="34" charset="0"/>
              <a:buChar char="•"/>
            </a:pPr>
            <a:r>
              <a:rPr lang="pt-BR" sz="1600">
                <a:solidFill>
                  <a:srgbClr val="000000"/>
                </a:solidFill>
              </a:rPr>
              <a:t>A verificação das configurações de IP usando a GUI em uma máquina Linux será diferente dependendo da distribuição Linux e da interface de desktop.</a:t>
            </a:r>
          </a:p>
          <a:p>
            <a:pPr marL="342900" indent="-342900" algn="l" rtl="0">
              <a:buFont typeface="Arial" panose="020B0604020202020204" pitchFamily="34" charset="0"/>
              <a:buChar char="•"/>
            </a:pPr>
            <a:r>
              <a:rPr lang="pt-BR" sz="1600">
                <a:solidFill>
                  <a:srgbClr val="000000"/>
                </a:solidFill>
              </a:rPr>
              <a:t>Na linha de comando, use o comando </a:t>
            </a:r>
            <a:r>
              <a:rPr lang="pt-BR" sz="1600" b="1">
                <a:solidFill>
                  <a:srgbClr val="000000"/>
                </a:solidFill>
              </a:rPr>
              <a:t>ifconfig</a:t>
            </a:r>
            <a:r>
              <a:rPr lang="pt-BR" sz="1600">
                <a:solidFill>
                  <a:srgbClr val="000000"/>
                </a:solidFill>
              </a:rPr>
              <a:t> para exibir o status das interfaces ativas no momento e sua configuração IP.</a:t>
            </a:r>
          </a:p>
          <a:p>
            <a:pPr marL="342900" indent="-342900" algn="l" rtl="0">
              <a:buFont typeface="Arial" panose="020B0604020202020204" pitchFamily="34" charset="0"/>
              <a:buChar char="•"/>
            </a:pPr>
            <a:r>
              <a:rPr lang="pt-BR" sz="1600">
                <a:solidFill>
                  <a:srgbClr val="000000"/>
                </a:solidFill>
              </a:rPr>
              <a:t>O comando </a:t>
            </a:r>
            <a:r>
              <a:rPr lang="pt-BR" sz="1600" b="1">
                <a:solidFill>
                  <a:srgbClr val="000000"/>
                </a:solidFill>
              </a:rPr>
              <a:t>IP address do</a:t>
            </a:r>
            <a:r>
              <a:rPr lang="pt-BR" sz="1600">
                <a:solidFill>
                  <a:srgbClr val="000000"/>
                </a:solidFill>
              </a:rPr>
              <a:t> Linux é usado para exibir endereços e suas propriedades. Ele também pode ser usado para adicionar ou excluir endereços IP.</a:t>
            </a:r>
          </a:p>
          <a:p>
            <a:pPr marL="0" indent="0" algn="l"/>
            <a:endParaRPr lang="en-US" sz="1600" b="1" dirty="0">
              <a:solidFill>
                <a:srgbClr val="000000"/>
              </a:solidFill>
            </a:endParaRPr>
          </a:p>
          <a:p>
            <a:pPr marL="0" indent="0" algn="l" rtl="0"/>
            <a:r>
              <a:rPr lang="pt-BR" sz="1600" b="1">
                <a:solidFill>
                  <a:srgbClr val="000000"/>
                </a:solidFill>
              </a:rPr>
              <a:t>Observação:</a:t>
            </a:r>
            <a:r>
              <a:rPr lang="pt-BR" sz="1600">
                <a:solidFill>
                  <a:srgbClr val="000000"/>
                </a:solidFill>
              </a:rPr>
              <a:t> A saída exibida pode variar dependendo da distribuição Linux. </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Configuração IP em um Host de MacOS</a:t>
            </a:r>
          </a:p>
        </p:txBody>
      </p:sp>
      <p:sp>
        <p:nvSpPr>
          <p:cNvPr id="6" name="Content Placeholder 5">
            <a:extLst>
              <a:ext uri="{FF2B5EF4-FFF2-40B4-BE49-F238E27FC236}">
                <a16:creationId xmlns:a16="http://schemas.microsoft.com/office/drawing/2014/main" id="{E018F0E6-A545-473E-A9D3-201EC6272E44}"/>
              </a:ext>
            </a:extLst>
          </p:cNvPr>
          <p:cNvSpPr>
            <a:spLocks noGrp="1"/>
          </p:cNvSpPr>
          <p:nvPr>
            <p:ph idx="1"/>
          </p:nvPr>
        </p:nvSpPr>
        <p:spPr>
          <a:xfrm>
            <a:off x="474662" y="864899"/>
            <a:ext cx="4305605" cy="3556835"/>
          </a:xfrm>
        </p:spPr>
        <p:txBody>
          <a:bodyPr/>
          <a:lstStyle/>
          <a:p>
            <a:pPr marL="285750" indent="-285750" algn="l" rtl="0">
              <a:buFont typeface="Arial" panose="020B0604020202020204" pitchFamily="34" charset="0"/>
              <a:buChar char="•"/>
            </a:pPr>
            <a:r>
              <a:rPr lang="pt-BR" sz="1600">
                <a:solidFill>
                  <a:srgbClr val="000000"/>
                </a:solidFill>
              </a:rPr>
              <a:t>Na GUI de um host Mac, abra </a:t>
            </a:r>
            <a:r>
              <a:rPr lang="pt-BR" sz="1600" b="1">
                <a:solidFill>
                  <a:srgbClr val="000000"/>
                </a:solidFill>
              </a:rPr>
              <a:t>Preferências de Rede &gt; Avançadas</a:t>
            </a:r>
            <a:r>
              <a:rPr lang="pt-BR" sz="1600">
                <a:solidFill>
                  <a:srgbClr val="000000"/>
                </a:solidFill>
              </a:rPr>
              <a:t> para obter as informações de endereçamento IP.</a:t>
            </a:r>
          </a:p>
          <a:p>
            <a:pPr marL="285750" indent="-285750" algn="l" rtl="0">
              <a:buFont typeface="Arial" panose="020B0604020202020204" pitchFamily="34" charset="0"/>
              <a:buChar char="•"/>
            </a:pPr>
            <a:r>
              <a:rPr lang="pt-BR" sz="1600">
                <a:solidFill>
                  <a:srgbClr val="000000"/>
                </a:solidFill>
              </a:rPr>
              <a:t>O comando </a:t>
            </a:r>
            <a:r>
              <a:rPr lang="pt-BR" sz="1600" b="1">
                <a:solidFill>
                  <a:srgbClr val="000000"/>
                </a:solidFill>
              </a:rPr>
              <a:t>ifconfig</a:t>
            </a:r>
            <a:r>
              <a:rPr lang="pt-BR" sz="1600">
                <a:solidFill>
                  <a:srgbClr val="000000"/>
                </a:solidFill>
              </a:rPr>
              <a:t> também pode ser usado para verificar a configuração IP da interface na linha de comando.</a:t>
            </a:r>
          </a:p>
          <a:p>
            <a:pPr marL="285750" indent="-285750" algn="l" rtl="0">
              <a:buFont typeface="Arial" panose="020B0604020202020204" pitchFamily="34" charset="0"/>
              <a:buChar char="•"/>
            </a:pPr>
            <a:r>
              <a:rPr lang="pt-BR" sz="1600">
                <a:solidFill>
                  <a:srgbClr val="000000"/>
                </a:solidFill>
              </a:rPr>
              <a:t>Outros comandos úteis do macOS para verificar as configurações de IP do host incluem </a:t>
            </a:r>
            <a:r>
              <a:rPr lang="pt-BR" sz="1600" b="1">
                <a:solidFill>
                  <a:srgbClr val="000000"/>
                </a:solidFill>
              </a:rPr>
              <a:t>networksetup -listallnetworkservices</a:t>
            </a:r>
            <a:r>
              <a:rPr lang="pt-BR" sz="1600">
                <a:solidFill>
                  <a:srgbClr val="000000"/>
                </a:solidFill>
              </a:rPr>
              <a:t> e </a:t>
            </a:r>
            <a:r>
              <a:rPr lang="pt-BR" sz="1600" b="1">
                <a:solidFill>
                  <a:srgbClr val="000000"/>
                </a:solidFill>
              </a:rPr>
              <a:t>networksetup -getinfo &lt; serviço de rede &gt; </a:t>
            </a:r>
            <a:r>
              <a:rPr lang="pt-BR" sz="1600">
                <a:solidFill>
                  <a:srgbClr val="000000"/>
                </a:solidFill>
              </a:rPr>
              <a:t>.</a:t>
            </a:r>
          </a:p>
        </p:txBody>
      </p:sp>
      <p:pic>
        <p:nvPicPr>
          <p:cNvPr id="7" name="Picture 6">
            <a:extLst>
              <a:ext uri="{FF2B5EF4-FFF2-40B4-BE49-F238E27FC236}">
                <a16:creationId xmlns:a16="http://schemas.microsoft.com/office/drawing/2014/main" id="{EE795C2D-8259-4647-9ACD-26D36EE5517C}"/>
              </a:ext>
            </a:extLst>
          </p:cNvPr>
          <p:cNvPicPr>
            <a:picLocks noChangeAspect="1"/>
          </p:cNvPicPr>
          <p:nvPr/>
        </p:nvPicPr>
        <p:blipFill>
          <a:blip r:embed="rId3"/>
          <a:stretch>
            <a:fillRect/>
          </a:stretch>
        </p:blipFill>
        <p:spPr>
          <a:xfrm>
            <a:off x="4780267" y="864899"/>
            <a:ext cx="4090199" cy="3115974"/>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O Comando arp.</a:t>
            </a:r>
          </a:p>
        </p:txBody>
      </p:sp>
      <p:sp>
        <p:nvSpPr>
          <p:cNvPr id="4" name="Content Placeholder 3">
            <a:extLst>
              <a:ext uri="{FF2B5EF4-FFF2-40B4-BE49-F238E27FC236}">
                <a16:creationId xmlns:a16="http://schemas.microsoft.com/office/drawing/2014/main" id="{CE59173F-7994-4B5D-8201-E7BBC1B93ED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O comando </a:t>
            </a:r>
            <a:r>
              <a:rPr lang="pt-BR" sz="1600" b="1">
                <a:solidFill>
                  <a:srgbClr val="000000"/>
                </a:solidFill>
              </a:rPr>
              <a:t>arp</a:t>
            </a:r>
            <a:r>
              <a:rPr lang="pt-BR" sz="1600">
                <a:solidFill>
                  <a:srgbClr val="000000"/>
                </a:solidFill>
              </a:rPr>
              <a:t> é executado a partir do prompt de comando do Windows, Linux ou Mac. O comando lista todos os dispositivos atualmente no cache ARP do host.</a:t>
            </a:r>
          </a:p>
          <a:p>
            <a:pPr marL="342900" indent="-342900" algn="l" rtl="0">
              <a:buFont typeface="Arial" panose="020B0604020202020204" pitchFamily="34" charset="0"/>
              <a:buChar char="•"/>
            </a:pPr>
            <a:r>
              <a:rPr lang="pt-BR" sz="1600">
                <a:solidFill>
                  <a:srgbClr val="000000"/>
                </a:solidFill>
              </a:rPr>
              <a:t>O comando </a:t>
            </a:r>
            <a:r>
              <a:rPr lang="pt-BR" sz="1600" b="1">
                <a:solidFill>
                  <a:srgbClr val="000000"/>
                </a:solidFill>
              </a:rPr>
              <a:t>arp -a</a:t>
            </a:r>
            <a:r>
              <a:rPr lang="pt-BR" sz="1600">
                <a:solidFill>
                  <a:srgbClr val="000000"/>
                </a:solidFill>
              </a:rPr>
              <a:t> exibe o endereço IP conhecido e a vinculação de endereço MAC. O cache do ARP exibe apenas informações de dispositivos que foram acessados recentemente.</a:t>
            </a:r>
          </a:p>
          <a:p>
            <a:pPr marL="342900" indent="-342900" algn="l" rtl="0">
              <a:buFont typeface="Arial" panose="020B0604020202020204" pitchFamily="34" charset="0"/>
              <a:buChar char="•"/>
            </a:pPr>
            <a:r>
              <a:rPr lang="pt-BR" sz="1600">
                <a:solidFill>
                  <a:srgbClr val="000000"/>
                </a:solidFill>
              </a:rPr>
              <a:t>Para assegurar que a cache ARP esteja preenchida, faça </a:t>
            </a:r>
            <a:r>
              <a:rPr lang="pt-BR" sz="1600" b="1">
                <a:solidFill>
                  <a:srgbClr val="000000"/>
                </a:solidFill>
              </a:rPr>
              <a:t>ping</a:t>
            </a:r>
            <a:r>
              <a:rPr lang="pt-BR" sz="1600">
                <a:solidFill>
                  <a:srgbClr val="000000"/>
                </a:solidFill>
              </a:rPr>
              <a:t> em um dispositivo para que ele tenha uma entrada na tabela ARP.</a:t>
            </a:r>
          </a:p>
          <a:p>
            <a:pPr marL="342900" indent="-342900" algn="l" rtl="0">
              <a:buFont typeface="Arial" panose="020B0604020202020204" pitchFamily="34" charset="0"/>
              <a:buChar char="•"/>
            </a:pPr>
            <a:r>
              <a:rPr lang="pt-BR" sz="1600">
                <a:solidFill>
                  <a:srgbClr val="000000"/>
                </a:solidFill>
              </a:rPr>
              <a:t>O cache pode ser limpo usando o comando </a:t>
            </a:r>
            <a:r>
              <a:rPr lang="pt-BR" sz="1600" b="1">
                <a:solidFill>
                  <a:srgbClr val="000000"/>
                </a:solidFill>
              </a:rPr>
              <a:t>netsh interface ip delete arpcache</a:t>
            </a:r>
            <a:r>
              <a:rPr lang="pt-BR" sz="1600">
                <a:solidFill>
                  <a:srgbClr val="000000"/>
                </a:solidFill>
              </a:rPr>
              <a:t> e depois no caso em que o administrador da rede queira repovoar o cache com informações atualizadas.</a:t>
            </a:r>
          </a:p>
          <a:p>
            <a:pPr marL="73085" lvl="1" indent="0">
              <a:buNone/>
            </a:pPr>
            <a:endParaRPr lang="en-US" sz="1600" b="1" dirty="0">
              <a:solidFill>
                <a:srgbClr val="000000"/>
              </a:solidFill>
            </a:endParaRPr>
          </a:p>
          <a:p>
            <a:pPr marL="73085" lvl="1" indent="0" rtl="0">
              <a:buNone/>
            </a:pPr>
            <a:r>
              <a:rPr lang="pt-BR" sz="1600" b="1">
                <a:solidFill>
                  <a:srgbClr val="000000"/>
                </a:solidFill>
              </a:rPr>
              <a:t>Observação</a:t>
            </a:r>
            <a:r>
              <a:rPr lang="pt-BR" sz="1600">
                <a:solidFill>
                  <a:srgbClr val="000000"/>
                </a:solidFill>
              </a:rPr>
              <a:t>: Você pode precisar de acesso de administrador no host para poder usar o  comando netsh interface ip delete arpcache.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Comandos Comuns Revisitados: show </a:t>
            </a:r>
          </a:p>
        </p:txBody>
      </p:sp>
      <p:graphicFrame>
        <p:nvGraphicFramePr>
          <p:cNvPr id="5" name="Table 5">
            <a:extLst>
              <a:ext uri="{FF2B5EF4-FFF2-40B4-BE49-F238E27FC236}">
                <a16:creationId xmlns:a16="http://schemas.microsoft.com/office/drawing/2014/main"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val="223375126"/>
                    </a:ext>
                  </a:extLst>
                </a:gridCol>
                <a:gridCol w="5309899">
                  <a:extLst>
                    <a:ext uri="{9D8B030D-6E8A-4147-A177-3AD203B41FA5}">
                      <a16:colId xmlns:a16="http://schemas.microsoft.com/office/drawing/2014/main" val="3464202880"/>
                    </a:ext>
                  </a:extLst>
                </a:gridCol>
              </a:tblGrid>
              <a:tr h="370840">
                <a:tc>
                  <a:txBody>
                    <a:bodyPr/>
                    <a:lstStyle/>
                    <a:p>
                      <a:pPr rtl="0"/>
                      <a:r>
                        <a:rPr lang="pt-BR"/>
                        <a:t>Comando</a:t>
                      </a:r>
                    </a:p>
                  </a:txBody>
                  <a:tcPr/>
                </a:tc>
                <a:tc>
                  <a:txBody>
                    <a:bodyPr/>
                    <a:lstStyle/>
                    <a:p>
                      <a:pPr rtl="0"/>
                      <a:r>
                        <a:rPr lang="pt-BR"/>
                        <a:t>Descrição</a:t>
                      </a:r>
                    </a:p>
                  </a:txBody>
                  <a:tcPr/>
                </a:tc>
                <a:extLst>
                  <a:ext uri="{0D108BD9-81ED-4DB2-BD59-A6C34878D82A}">
                    <a16:rowId xmlns:a16="http://schemas.microsoft.com/office/drawing/2014/main" val="4117537356"/>
                  </a:ext>
                </a:extLst>
              </a:tr>
              <a:tr h="370840">
                <a:tc>
                  <a:txBody>
                    <a:bodyPr/>
                    <a:lstStyle/>
                    <a:p>
                      <a:pPr rtl="0"/>
                      <a:r>
                        <a:rPr lang="pt-BR"/>
                        <a:t>show running-config</a:t>
                      </a:r>
                    </a:p>
                  </a:txBody>
                  <a:tcPr/>
                </a:tc>
                <a:tc>
                  <a:txBody>
                    <a:bodyPr/>
                    <a:lstStyle/>
                    <a:p>
                      <a:pPr rtl="0"/>
                      <a:r>
                        <a:rPr lang="pt-BR"/>
                        <a:t>Verifica a configuração e as configurações atuais</a:t>
                      </a:r>
                    </a:p>
                  </a:txBody>
                  <a:tcPr/>
                </a:tc>
                <a:extLst>
                  <a:ext uri="{0D108BD9-81ED-4DB2-BD59-A6C34878D82A}">
                    <a16:rowId xmlns:a16="http://schemas.microsoft.com/office/drawing/2014/main" val="2176404569"/>
                  </a:ext>
                </a:extLst>
              </a:tr>
              <a:tr h="370840">
                <a:tc>
                  <a:txBody>
                    <a:bodyPr/>
                    <a:lstStyle/>
                    <a:p>
                      <a:pPr rtl="0"/>
                      <a:r>
                        <a:rPr lang="pt-BR"/>
                        <a:t>show interfaces</a:t>
                      </a:r>
                    </a:p>
                  </a:txBody>
                  <a:tcPr/>
                </a:tc>
                <a:tc>
                  <a:txBody>
                    <a:bodyPr/>
                    <a:lstStyle/>
                    <a:p>
                      <a:pPr rtl="0"/>
                      <a:r>
                        <a:rPr lang="pt-BR"/>
                        <a:t>Verifica o status da interface e exibe quaisquer mensagens de erro</a:t>
                      </a:r>
                    </a:p>
                  </a:txBody>
                  <a:tcPr/>
                </a:tc>
                <a:extLst>
                  <a:ext uri="{0D108BD9-81ED-4DB2-BD59-A6C34878D82A}">
                    <a16:rowId xmlns:a16="http://schemas.microsoft.com/office/drawing/2014/main" val="910297493"/>
                  </a:ext>
                </a:extLst>
              </a:tr>
              <a:tr h="370840">
                <a:tc>
                  <a:txBody>
                    <a:bodyPr/>
                    <a:lstStyle/>
                    <a:p>
                      <a:pPr rtl="0"/>
                      <a:r>
                        <a:rPr lang="pt-BR"/>
                        <a:t>show ip interface</a:t>
                      </a:r>
                    </a:p>
                  </a:txBody>
                  <a:tcPr/>
                </a:tc>
                <a:tc>
                  <a:txBody>
                    <a:bodyPr/>
                    <a:lstStyle/>
                    <a:p>
                      <a:pPr rtl="0"/>
                      <a:r>
                        <a:rPr lang="pt-BR"/>
                        <a:t>Verifica as informações da Camada 3 de uma interface</a:t>
                      </a:r>
                    </a:p>
                  </a:txBody>
                  <a:tcPr/>
                </a:tc>
                <a:extLst>
                  <a:ext uri="{0D108BD9-81ED-4DB2-BD59-A6C34878D82A}">
                    <a16:rowId xmlns:a16="http://schemas.microsoft.com/office/drawing/2014/main" val="1308024001"/>
                  </a:ext>
                </a:extLst>
              </a:tr>
              <a:tr h="370840">
                <a:tc>
                  <a:txBody>
                    <a:bodyPr/>
                    <a:lstStyle/>
                    <a:p>
                      <a:pPr rtl="0"/>
                      <a:r>
                        <a:rPr lang="pt-BR"/>
                        <a:t>show arp</a:t>
                      </a:r>
                    </a:p>
                  </a:txBody>
                  <a:tcPr/>
                </a:tc>
                <a:tc>
                  <a:txBody>
                    <a:bodyPr/>
                    <a:lstStyle/>
                    <a:p>
                      <a:pPr rtl="0"/>
                      <a:r>
                        <a:rPr lang="pt-BR"/>
                        <a:t>Verifica a lista de hosts conhecidos nas LANs Ethernet locais</a:t>
                      </a:r>
                    </a:p>
                  </a:txBody>
                  <a:tcPr/>
                </a:tc>
                <a:extLst>
                  <a:ext uri="{0D108BD9-81ED-4DB2-BD59-A6C34878D82A}">
                    <a16:rowId xmlns:a16="http://schemas.microsoft.com/office/drawing/2014/main" val="2805593407"/>
                  </a:ext>
                </a:extLst>
              </a:tr>
              <a:tr h="370840">
                <a:tc>
                  <a:txBody>
                    <a:bodyPr/>
                    <a:lstStyle/>
                    <a:p>
                      <a:pPr rtl="0"/>
                      <a:r>
                        <a:rPr lang="pt-BR"/>
                        <a:t>show ip route</a:t>
                      </a:r>
                    </a:p>
                  </a:txBody>
                  <a:tcPr/>
                </a:tc>
                <a:tc>
                  <a:txBody>
                    <a:bodyPr/>
                    <a:lstStyle/>
                    <a:p>
                      <a:pPr rtl="0"/>
                      <a:r>
                        <a:rPr lang="pt-BR"/>
                        <a:t>Verifica as informações de roteamento da Camada 3</a:t>
                      </a:r>
                    </a:p>
                  </a:txBody>
                  <a:tcPr/>
                </a:tc>
                <a:extLst>
                  <a:ext uri="{0D108BD9-81ED-4DB2-BD59-A6C34878D82A}">
                    <a16:rowId xmlns:a16="http://schemas.microsoft.com/office/drawing/2014/main" val="2189178930"/>
                  </a:ext>
                </a:extLst>
              </a:tr>
              <a:tr h="370840">
                <a:tc>
                  <a:txBody>
                    <a:bodyPr/>
                    <a:lstStyle/>
                    <a:p>
                      <a:pPr rtl="0"/>
                      <a:r>
                        <a:rPr lang="pt-BR"/>
                        <a:t>show protocols</a:t>
                      </a:r>
                    </a:p>
                  </a:txBody>
                  <a:tcPr/>
                </a:tc>
                <a:tc>
                  <a:txBody>
                    <a:bodyPr/>
                    <a:lstStyle/>
                    <a:p>
                      <a:pPr rtl="0"/>
                      <a:r>
                        <a:rPr lang="pt-BR"/>
                        <a:t>Verifica quais protocolos estão operacionais</a:t>
                      </a:r>
                    </a:p>
                  </a:txBody>
                  <a:tcPr/>
                </a:tc>
                <a:extLst>
                  <a:ext uri="{0D108BD9-81ED-4DB2-BD59-A6C34878D82A}">
                    <a16:rowId xmlns:a16="http://schemas.microsoft.com/office/drawing/2014/main" val="1028142805"/>
                  </a:ext>
                </a:extLst>
              </a:tr>
              <a:tr h="370840">
                <a:tc>
                  <a:txBody>
                    <a:bodyPr/>
                    <a:lstStyle/>
                    <a:p>
                      <a:pPr rtl="0"/>
                      <a:r>
                        <a:rPr lang="pt-BR"/>
                        <a:t>show version</a:t>
                      </a:r>
                    </a:p>
                  </a:txBody>
                  <a:tcPr/>
                </a:tc>
                <a:tc>
                  <a:txBody>
                    <a:bodyPr/>
                    <a:lstStyle/>
                    <a:p>
                      <a:pPr rtl="0"/>
                      <a:r>
                        <a:rPr lang="pt-BR"/>
                        <a:t>Verifica a memória, as interfaces e as licenças do dispositivo</a:t>
                      </a:r>
                    </a:p>
                  </a:txBody>
                  <a:tcPr/>
                </a:tc>
                <a:extLst>
                  <a:ext uri="{0D108BD9-81ED-4DB2-BD59-A6C34878D82A}">
                    <a16:rowId xmlns:a16="http://schemas.microsoft.com/office/drawing/2014/main"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O Comando show cdp neighbors</a:t>
            </a:r>
          </a:p>
        </p:txBody>
      </p:sp>
      <p:sp>
        <p:nvSpPr>
          <p:cNvPr id="4" name="Content Placeholder 3">
            <a:extLst>
              <a:ext uri="{FF2B5EF4-FFF2-40B4-BE49-F238E27FC236}">
                <a16:creationId xmlns:a16="http://schemas.microsoft.com/office/drawing/2014/main" id="{682697CA-53E5-4917-B256-83476300494D}"/>
              </a:ext>
            </a:extLst>
          </p:cNvPr>
          <p:cNvSpPr>
            <a:spLocks noGrp="1"/>
          </p:cNvSpPr>
          <p:nvPr>
            <p:ph idx="1"/>
          </p:nvPr>
        </p:nvSpPr>
        <p:spPr>
          <a:xfrm>
            <a:off x="152400" y="731837"/>
            <a:ext cx="8602319" cy="2782888"/>
          </a:xfrm>
        </p:spPr>
        <p:txBody>
          <a:bodyPr/>
          <a:lstStyle/>
          <a:p>
            <a:pPr marL="0" indent="0" algn="l" rtl="0"/>
            <a:r>
              <a:rPr lang="pt-BR" sz="1600">
                <a:solidFill>
                  <a:srgbClr val="000000"/>
                </a:solidFill>
              </a:rPr>
              <a:t>O CDP fornece as seguintes informações sobre cada dispositivo CDP vizinho:</a:t>
            </a:r>
          </a:p>
          <a:p>
            <a:pPr marL="415985" lvl="1" indent="-342900" rtl="0">
              <a:buFont typeface="Arial" panose="020B0604020202020204" pitchFamily="34" charset="0"/>
              <a:buChar char="•"/>
            </a:pPr>
            <a:r>
              <a:rPr lang="pt-BR" sz="1600" b="1">
                <a:solidFill>
                  <a:srgbClr val="000000"/>
                </a:solidFill>
              </a:rPr>
              <a:t>Identificadores </a:t>
            </a:r>
            <a:r>
              <a:rPr lang="pt-BR" sz="1600">
                <a:solidFill>
                  <a:srgbClr val="000000"/>
                </a:solidFill>
              </a:rPr>
              <a:t>de dispositivo- O nome do host configurado de um switch, roteador ou outro dispositivo</a:t>
            </a:r>
          </a:p>
          <a:p>
            <a:pPr marL="415985" lvl="1" indent="-342900" rtl="0">
              <a:buFont typeface="Arial" panose="020B0604020202020204" pitchFamily="34" charset="0"/>
              <a:buChar char="•"/>
            </a:pPr>
            <a:r>
              <a:rPr lang="pt-BR" sz="1600">
                <a:solidFill>
                  <a:srgbClr val="000000"/>
                </a:solidFill>
              </a:rPr>
              <a:t>Lista de endereços</a:t>
            </a:r>
            <a:r>
              <a:rPr lang="pt-BR" sz="1600" b="1">
                <a:solidFill>
                  <a:srgbClr val="000000"/>
                </a:solidFill>
              </a:rPr>
              <a:t> - pelo menos um endereço de camada de rede para cada protocolo compatível</a:t>
            </a:r>
          </a:p>
          <a:p>
            <a:pPr marL="415985" lvl="1" indent="-342900" rtl="0">
              <a:buFont typeface="Arial" panose="020B0604020202020204" pitchFamily="34" charset="0"/>
              <a:buChar char="•"/>
            </a:pPr>
            <a:r>
              <a:rPr lang="pt-BR" sz="1600">
                <a:solidFill>
                  <a:srgbClr val="000000"/>
                </a:solidFill>
              </a:rPr>
              <a:t>Identificador de porta</a:t>
            </a:r>
            <a:r>
              <a:rPr lang="pt-BR" sz="1600" b="1">
                <a:solidFill>
                  <a:srgbClr val="000000"/>
                </a:solidFill>
              </a:rPr>
              <a:t> - o nome de uma porta local e remota na forma de uma string de caracteres ASCII, como FastEthernet 0/0</a:t>
            </a:r>
          </a:p>
          <a:p>
            <a:pPr marL="415985" lvl="1" indent="-342900" rtl="0">
              <a:buFont typeface="Arial" panose="020B0604020202020204" pitchFamily="34" charset="0"/>
              <a:buChar char="•"/>
            </a:pPr>
            <a:r>
              <a:rPr lang="pt-BR" sz="1600" b="1">
                <a:solidFill>
                  <a:srgbClr val="000000"/>
                </a:solidFill>
              </a:rPr>
              <a:t>Lista de capacidades</a:t>
            </a:r>
            <a:r>
              <a:rPr lang="pt-BR" sz="1600">
                <a:solidFill>
                  <a:srgbClr val="000000"/>
                </a:solidFill>
              </a:rPr>
              <a:t> - Se um dispositivo específico é um switch de Camada 2 ou um switch de Camada 3</a:t>
            </a:r>
          </a:p>
          <a:p>
            <a:pPr marL="415985" lvl="1" indent="-342900" rtl="0">
              <a:buFont typeface="Arial" panose="020B0604020202020204" pitchFamily="34" charset="0"/>
              <a:buChar char="•"/>
            </a:pPr>
            <a:r>
              <a:rPr lang="pt-BR" sz="1600">
                <a:solidFill>
                  <a:srgbClr val="000000"/>
                </a:solidFill>
              </a:rPr>
              <a:t>Plataforma</a:t>
            </a:r>
            <a:r>
              <a:rPr lang="pt-BR" sz="1600" b="1">
                <a:solidFill>
                  <a:srgbClr val="000000"/>
                </a:solidFill>
              </a:rPr>
              <a:t> - A plataforma de hardware do dispositivo</a:t>
            </a:r>
          </a:p>
          <a:p>
            <a:pPr marL="73085" lvl="1" indent="0" rtl="0">
              <a:buNone/>
            </a:pPr>
            <a:r>
              <a:rPr lang="pt-BR" sz="1600">
                <a:solidFill>
                  <a:srgbClr val="000000"/>
                </a:solidFill>
              </a:rPr>
              <a:t>O comando </a:t>
            </a:r>
            <a:r>
              <a:rPr lang="pt-BR" sz="1600" b="1">
                <a:solidFill>
                  <a:srgbClr val="000000"/>
                </a:solidFill>
              </a:rPr>
              <a:t>show cdp neighbors detail</a:t>
            </a:r>
            <a:r>
              <a:rPr lang="pt-BR" sz="1600">
                <a:solidFill>
                  <a:srgbClr val="000000"/>
                </a:solidFill>
              </a:rPr>
              <a:t> revela o endereço IP de um dispositivo vizinho.</a:t>
            </a:r>
          </a:p>
        </p:txBody>
      </p:sp>
      <p:pic>
        <p:nvPicPr>
          <p:cNvPr id="5" name="Picture 4">
            <a:extLst>
              <a:ext uri="{FF2B5EF4-FFF2-40B4-BE49-F238E27FC236}">
                <a16:creationId xmlns:a16="http://schemas.microsoft.com/office/drawing/2014/main"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O Comando show ip interface brief</a:t>
            </a:r>
          </a:p>
        </p:txBody>
      </p:sp>
      <p:sp>
        <p:nvSpPr>
          <p:cNvPr id="6" name="Content Placeholder 5">
            <a:extLst>
              <a:ext uri="{FF2B5EF4-FFF2-40B4-BE49-F238E27FC236}">
                <a16:creationId xmlns:a16="http://schemas.microsoft.com/office/drawing/2014/main" id="{07860DBB-DE49-4AE4-8013-02A3A77F3FF2}"/>
              </a:ext>
            </a:extLst>
          </p:cNvPr>
          <p:cNvSpPr>
            <a:spLocks noGrp="1"/>
          </p:cNvSpPr>
          <p:nvPr>
            <p:ph idx="1"/>
          </p:nvPr>
        </p:nvSpPr>
        <p:spPr>
          <a:xfrm>
            <a:off x="474662" y="731838"/>
            <a:ext cx="8280057" cy="1030962"/>
          </a:xfrm>
        </p:spPr>
        <p:txBody>
          <a:bodyPr/>
          <a:lstStyle/>
          <a:p>
            <a:pPr marL="0" indent="0" algn="l" rtl="0"/>
            <a:r>
              <a:rPr lang="pt-BR" sz="1600">
                <a:solidFill>
                  <a:srgbClr val="000000"/>
                </a:solidFill>
              </a:rPr>
              <a:t>Um dos comandos mais usados é o comando </a:t>
            </a:r>
            <a:r>
              <a:rPr lang="pt-BR" sz="1600" b="1">
                <a:solidFill>
                  <a:srgbClr val="000000"/>
                </a:solidFill>
              </a:rPr>
              <a:t>show ip interface brief</a:t>
            </a:r>
            <a:r>
              <a:rPr lang="pt-BR" sz="1600">
                <a:solidFill>
                  <a:srgbClr val="000000"/>
                </a:solidFill>
              </a:rPr>
              <a:t>. Ele exibe um resultado mais abreviado do que o comando </a:t>
            </a:r>
            <a:r>
              <a:rPr lang="pt-BR" sz="1600" b="1">
                <a:solidFill>
                  <a:srgbClr val="000000"/>
                </a:solidFill>
              </a:rPr>
              <a:t>show ip interface</a:t>
            </a:r>
            <a:r>
              <a:rPr lang="pt-BR" sz="1600">
                <a:solidFill>
                  <a:srgbClr val="000000"/>
                </a:solidFill>
              </a:rPr>
              <a:t>. Ele exibe um resumo das principais informações para todas as interfaces de rede em um roteador.</a:t>
            </a:r>
          </a:p>
        </p:txBody>
      </p:sp>
      <p:pic>
        <p:nvPicPr>
          <p:cNvPr id="7" name="Picture 6">
            <a:extLst>
              <a:ext uri="{FF2B5EF4-FFF2-40B4-BE49-F238E27FC236}">
                <a16:creationId xmlns:a16="http://schemas.microsoft.com/office/drawing/2014/main"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Vídeo – O Comando show version </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lang="pt-BR" sz="1600">
                <a:solidFill>
                  <a:srgbClr val="000000"/>
                </a:solidFill>
              </a:rPr>
              <a:t>Este vídeo demonstrará o uso do comando show version para visualizar informações sobre o roteador.</a:t>
            </a:r>
          </a:p>
        </p:txBody>
      </p:sp>
    </p:spTree>
    <p:extLst>
      <p:ext uri="{BB962C8B-B14F-4D97-AF65-F5344CB8AC3E}">
        <p14:creationId xmlns:p14="http://schemas.microsoft.com/office/powerpoint/2010/main" val="85877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Comandos de Host e IOS</a:t>
            </a:r>
            <a:br>
              <a:rPr lang="en-US" dirty="0"/>
            </a:br>
            <a:r>
              <a:rPr lang="pt-BR" sz="2400"/>
              <a:t>Packet Tracer – Interpretar a Saída do Comando show </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lang="pt-BR" sz="1600">
                <a:solidFill>
                  <a:srgbClr val="000000"/>
                </a:solidFill>
              </a:rPr>
              <a:t>Esta atividade foi planejada como complemento sobre o uso dos comandos </a:t>
            </a:r>
            <a:r>
              <a:rPr lang="pt-BR" sz="1600" b="1">
                <a:solidFill>
                  <a:srgbClr val="000000"/>
                </a:solidFill>
              </a:rPr>
              <a:t>show</a:t>
            </a:r>
            <a:r>
              <a:rPr lang="pt-BR" sz="1600">
                <a:solidFill>
                  <a:srgbClr val="000000"/>
                </a:solidFill>
              </a:rPr>
              <a:t> do roteador. Você não precisa configurar, mas sim analisar a saída de vários comandos show.</a:t>
            </a:r>
          </a:p>
        </p:txBody>
      </p:sp>
    </p:spTree>
    <p:extLst>
      <p:ext uri="{BB962C8B-B14F-4D97-AF65-F5344CB8AC3E}">
        <p14:creationId xmlns:p14="http://schemas.microsoft.com/office/powerpoint/2010/main" val="48954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17.6 – Metodologias de Solução de Problemas</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Metodologias de Solução de Problemas</a:t>
            </a:r>
            <a:br>
              <a:rPr lang="en-US" dirty="0"/>
            </a:br>
            <a:r>
              <a:rPr lang="pt-BR" sz="2400"/>
              <a:t>Abordagens Básicas de Solução de Problemas</a:t>
            </a:r>
          </a:p>
        </p:txBody>
      </p:sp>
      <p:graphicFrame>
        <p:nvGraphicFramePr>
          <p:cNvPr id="6" name="Table 6">
            <a:extLst>
              <a:ext uri="{FF2B5EF4-FFF2-40B4-BE49-F238E27FC236}">
                <a16:creationId xmlns:a16="http://schemas.microsoft.com/office/drawing/2014/main"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val="2245074904"/>
                    </a:ext>
                  </a:extLst>
                </a:gridCol>
                <a:gridCol w="5467927">
                  <a:extLst>
                    <a:ext uri="{9D8B030D-6E8A-4147-A177-3AD203B41FA5}">
                      <a16:colId xmlns:a16="http://schemas.microsoft.com/office/drawing/2014/main" val="1707349653"/>
                    </a:ext>
                  </a:extLst>
                </a:gridCol>
              </a:tblGrid>
              <a:tr h="338947">
                <a:tc>
                  <a:txBody>
                    <a:bodyPr/>
                    <a:lstStyle/>
                    <a:p>
                      <a:pPr algn="l" rtl="0" fontAlgn="ctr"/>
                      <a:r>
                        <a:rPr lang="pt-BR" sz="1200">
                          <a:effectLst/>
                        </a:rPr>
                        <a:t>Etapa</a:t>
                      </a:r>
                    </a:p>
                  </a:txBody>
                  <a:tcPr marL="47625" marR="47625" marT="47625" marB="47625" anchor="ctr"/>
                </a:tc>
                <a:tc>
                  <a:txBody>
                    <a:bodyPr/>
                    <a:lstStyle/>
                    <a:p>
                      <a:pPr algn="l" rtl="0" fontAlgn="ctr"/>
                      <a:r>
                        <a:rPr lang="pt-BR" sz="1200" b="1">
                          <a:effectLst/>
                        </a:rPr>
                        <a:t>Descrição</a:t>
                      </a:r>
                    </a:p>
                  </a:txBody>
                  <a:tcPr marL="47625" marR="47625" marT="47625" marB="47625" anchor="ctr"/>
                </a:tc>
                <a:extLst>
                  <a:ext uri="{0D108BD9-81ED-4DB2-BD59-A6C34878D82A}">
                    <a16:rowId xmlns:a16="http://schemas.microsoft.com/office/drawing/2014/main" val="972381799"/>
                  </a:ext>
                </a:extLst>
              </a:tr>
              <a:tr h="588515">
                <a:tc>
                  <a:txBody>
                    <a:bodyPr/>
                    <a:lstStyle/>
                    <a:p>
                      <a:pPr rtl="0" fontAlgn="ctr"/>
                      <a:r>
                        <a:rPr lang="pt-BR" sz="1200" b="1">
                          <a:effectLst/>
                        </a:rPr>
                        <a:t>Etapa 1. Identificar o Problema</a:t>
                      </a:r>
                    </a:p>
                  </a:txBody>
                  <a:tcPr marL="47625" marR="47625" marT="47625" marB="47625" anchor="ctr"/>
                </a:tc>
                <a:tc>
                  <a:txBody>
                    <a:bodyPr/>
                    <a:lstStyle/>
                    <a:p>
                      <a:pPr rtl="0" fontAlgn="ctr">
                        <a:buFont typeface="Arial" panose="020B0604020202020204" pitchFamily="34" charset="0"/>
                        <a:buChar char="•"/>
                      </a:pPr>
                      <a:r>
                        <a:rPr lang="pt-BR" sz="1200" b="0">
                          <a:effectLst/>
                        </a:rPr>
                        <a:t>A primeira etapa no processo de solução de problemas.</a:t>
                      </a:r>
                    </a:p>
                    <a:p>
                      <a:pPr rtl="0" fontAlgn="ctr">
                        <a:buFont typeface="Arial" panose="020B0604020202020204" pitchFamily="34" charset="0"/>
                        <a:buChar char="•"/>
                      </a:pPr>
                      <a:r>
                        <a:rPr lang="pt-BR" sz="1200" b="0">
                          <a:effectLst/>
                        </a:rPr>
                        <a:t>Embora ferramentas possam ser usadas nesta etapa, uma conversa com o usuário geralmente é muito útil.</a:t>
                      </a:r>
                    </a:p>
                  </a:txBody>
                  <a:tcPr marL="47625" marR="47625" marT="47625" marB="47625" anchor="ctr"/>
                </a:tc>
                <a:extLst>
                  <a:ext uri="{0D108BD9-81ED-4DB2-BD59-A6C34878D82A}">
                    <a16:rowId xmlns:a16="http://schemas.microsoft.com/office/drawing/2014/main" val="1578081030"/>
                  </a:ext>
                </a:extLst>
              </a:tr>
              <a:tr h="421363">
                <a:tc>
                  <a:txBody>
                    <a:bodyPr/>
                    <a:lstStyle/>
                    <a:p>
                      <a:pPr rtl="0" fontAlgn="ctr"/>
                      <a:r>
                        <a:rPr lang="pt-BR" sz="1200" b="1">
                          <a:effectLst/>
                        </a:rPr>
                        <a:t>Etapa 2. Estabelecer uma teoria de causas prováveis</a:t>
                      </a:r>
                    </a:p>
                  </a:txBody>
                  <a:tcPr marL="47625" marR="47625" marT="47625" marB="47625" anchor="ctr"/>
                </a:tc>
                <a:tc>
                  <a:txBody>
                    <a:bodyPr/>
                    <a:lstStyle/>
                    <a:p>
                      <a:pPr rtl="0" fontAlgn="ctr">
                        <a:buFont typeface="Arial" panose="020B0604020202020204" pitchFamily="34" charset="0"/>
                        <a:buChar char="•"/>
                      </a:pPr>
                      <a:r>
                        <a:rPr lang="pt-BR" sz="1200" b="0">
                          <a:effectLst/>
                        </a:rPr>
                        <a:t>Depois que o problema é identificado, tente estabelecer uma teoria de causas prováveis.</a:t>
                      </a:r>
                    </a:p>
                    <a:p>
                      <a:pPr rtl="0" fontAlgn="ctr">
                        <a:buFont typeface="Arial" panose="020B0604020202020204" pitchFamily="34" charset="0"/>
                        <a:buChar char="•"/>
                      </a:pPr>
                      <a:r>
                        <a:rPr lang="pt-BR" sz="1200" b="0">
                          <a:effectLst/>
                        </a:rPr>
                        <a:t>Esta etapa renderá algumas causas prováveis do problema.</a:t>
                      </a:r>
                    </a:p>
                  </a:txBody>
                  <a:tcPr marL="47625" marR="47625" marT="47625" marB="47625" anchor="ctr"/>
                </a:tc>
                <a:extLst>
                  <a:ext uri="{0D108BD9-81ED-4DB2-BD59-A6C34878D82A}">
                    <a16:rowId xmlns:a16="http://schemas.microsoft.com/office/drawing/2014/main" val="3071355853"/>
                  </a:ext>
                </a:extLst>
              </a:tr>
              <a:tr h="1089971">
                <a:tc>
                  <a:txBody>
                    <a:bodyPr/>
                    <a:lstStyle/>
                    <a:p>
                      <a:pPr rtl="0" fontAlgn="ctr"/>
                      <a:r>
                        <a:rPr lang="pt-BR" sz="1200" b="1">
                          <a:effectLst/>
                        </a:rPr>
                        <a:t>Etapa 3. Testar a Teoria para Determinar a Causa</a:t>
                      </a:r>
                    </a:p>
                  </a:txBody>
                  <a:tcPr marL="47625" marR="47625" marT="47625" marB="47625" anchor="ctr"/>
                </a:tc>
                <a:tc>
                  <a:txBody>
                    <a:bodyPr/>
                    <a:lstStyle/>
                    <a:p>
                      <a:pPr rtl="0" fontAlgn="ctr">
                        <a:buFont typeface="Arial" panose="020B0604020202020204" pitchFamily="34" charset="0"/>
                        <a:buChar char="•"/>
                      </a:pPr>
                      <a:r>
                        <a:rPr lang="pt-BR" sz="1200" b="0">
                          <a:effectLst/>
                        </a:rPr>
                        <a:t>De acordo com as causas prováveis, teste suas teorias para determinar qual delas é a causa do problema.</a:t>
                      </a:r>
                    </a:p>
                    <a:p>
                      <a:pPr rtl="0" fontAlgn="ctr">
                        <a:buFont typeface="Arial" panose="020B0604020202020204" pitchFamily="34" charset="0"/>
                        <a:buChar char="•"/>
                      </a:pPr>
                      <a:r>
                        <a:rPr lang="pt-BR" sz="1200" b="0">
                          <a:effectLst/>
                        </a:rPr>
                        <a:t>Um técnico pode aplicar uma solução rápida para testar e verificar se resolve o problema.</a:t>
                      </a:r>
                    </a:p>
                    <a:p>
                      <a:pPr rtl="0" fontAlgn="ctr">
                        <a:buFont typeface="Arial" panose="020B0604020202020204" pitchFamily="34" charset="0"/>
                        <a:buChar char="•"/>
                      </a:pPr>
                      <a:r>
                        <a:rPr lang="pt-BR" sz="1200" b="0">
                          <a:effectLst/>
                        </a:rPr>
                        <a:t>Se uma solução rápida não corrigir o problema, talvez seja necessário pesquisar mais sobre o problema para estabelecer a causa exata.</a:t>
                      </a:r>
                    </a:p>
                  </a:txBody>
                  <a:tcPr marL="47625" marR="47625" marT="47625" marB="47625" anchor="ctr"/>
                </a:tc>
                <a:extLst>
                  <a:ext uri="{0D108BD9-81ED-4DB2-BD59-A6C34878D82A}">
                    <a16:rowId xmlns:a16="http://schemas.microsoft.com/office/drawing/2014/main" val="2284438502"/>
                  </a:ext>
                </a:extLst>
              </a:tr>
              <a:tr h="421363">
                <a:tc>
                  <a:txBody>
                    <a:bodyPr/>
                    <a:lstStyle/>
                    <a:p>
                      <a:pPr rtl="0" fontAlgn="ctr"/>
                      <a:r>
                        <a:rPr lang="pt-BR" sz="1200" b="1">
                          <a:effectLst/>
                        </a:rPr>
                        <a:t>Etapa 4. Estabelecer um plano de ação e implementar a solução</a:t>
                      </a:r>
                    </a:p>
                  </a:txBody>
                  <a:tcPr marL="47625" marR="47625" marT="47625" marB="47625" anchor="ctr"/>
                </a:tc>
                <a:tc>
                  <a:txBody>
                    <a:bodyPr/>
                    <a:lstStyle/>
                    <a:p>
                      <a:pPr rtl="0" fontAlgn="ctr"/>
                      <a:r>
                        <a:rPr lang="pt-BR" sz="1200" b="0">
                          <a:effectLst/>
                        </a:rPr>
                        <a:t>Depois de determinar a causa exata do problema, estabeleça um plano de ação para resolvê-lo e implementar a solução.</a:t>
                      </a:r>
                    </a:p>
                  </a:txBody>
                  <a:tcPr marL="47625" marR="47625" marT="47625" marB="47625" anchor="ctr"/>
                </a:tc>
                <a:extLst>
                  <a:ext uri="{0D108BD9-81ED-4DB2-BD59-A6C34878D82A}">
                    <a16:rowId xmlns:a16="http://schemas.microsoft.com/office/drawing/2014/main" val="2107132597"/>
                  </a:ext>
                </a:extLst>
              </a:tr>
              <a:tr h="421363">
                <a:tc>
                  <a:txBody>
                    <a:bodyPr/>
                    <a:lstStyle/>
                    <a:p>
                      <a:pPr rtl="0" fontAlgn="ctr"/>
                      <a:r>
                        <a:rPr lang="pt-BR" sz="1200" b="1">
                          <a:effectLst/>
                        </a:rPr>
                        <a:t>Etapa 5. Verifique a solução e implemente medidas preventivas</a:t>
                      </a:r>
                    </a:p>
                  </a:txBody>
                  <a:tcPr marL="47625" marR="47625" marT="47625" marB="47625" anchor="ctr"/>
                </a:tc>
                <a:tc>
                  <a:txBody>
                    <a:bodyPr/>
                    <a:lstStyle/>
                    <a:p>
                      <a:pPr rtl="0" fontAlgn="ctr">
                        <a:buFont typeface="Arial" panose="020B0604020202020204" pitchFamily="34" charset="0"/>
                        <a:buChar char="•"/>
                      </a:pPr>
                      <a:r>
                        <a:rPr lang="pt-BR" sz="1200" b="0">
                          <a:effectLst/>
                        </a:rPr>
                        <a:t>Depois de corrigir o problema, verifique a funcionalidade completa.</a:t>
                      </a:r>
                    </a:p>
                    <a:p>
                      <a:pPr rtl="0" fontAlgn="ctr">
                        <a:buFont typeface="Arial" panose="020B0604020202020204" pitchFamily="34" charset="0"/>
                        <a:buChar char="•"/>
                      </a:pPr>
                      <a:r>
                        <a:rPr lang="pt-BR" sz="1200" b="0">
                          <a:effectLst/>
                        </a:rPr>
                        <a:t>Se aplicável, implemente medidas preventivas.</a:t>
                      </a:r>
                    </a:p>
                  </a:txBody>
                  <a:tcPr marL="47625" marR="47625" marT="47625" marB="47625" anchor="ctr"/>
                </a:tc>
                <a:extLst>
                  <a:ext uri="{0D108BD9-81ED-4DB2-BD59-A6C34878D82A}">
                    <a16:rowId xmlns:a16="http://schemas.microsoft.com/office/drawing/2014/main" val="3499597970"/>
                  </a:ext>
                </a:extLst>
              </a:tr>
              <a:tr h="588515">
                <a:tc>
                  <a:txBody>
                    <a:bodyPr/>
                    <a:lstStyle/>
                    <a:p>
                      <a:pPr rtl="0" fontAlgn="ctr"/>
                      <a:r>
                        <a:rPr lang="pt-BR" sz="1200" b="1">
                          <a:effectLst/>
                        </a:rPr>
                        <a:t>Etapa 6. Documentar Descobertas, Ações e Resultados</a:t>
                      </a:r>
                    </a:p>
                  </a:txBody>
                  <a:tcPr marL="47625" marR="47625" marT="47625" marB="47625" anchor="ctr"/>
                </a:tc>
                <a:tc>
                  <a:txBody>
                    <a:bodyPr/>
                    <a:lstStyle/>
                    <a:p>
                      <a:pPr rtl="0" fontAlgn="ctr">
                        <a:buFont typeface="Arial" panose="020B0604020202020204" pitchFamily="34" charset="0"/>
                        <a:buChar char="•"/>
                      </a:pPr>
                      <a:r>
                        <a:rPr lang="pt-BR" sz="1200" b="0">
                          <a:effectLst/>
                        </a:rPr>
                        <a:t>Na etapa final do processo de solução de problemas, documente as descobertas, as ações e os resultados.</a:t>
                      </a:r>
                    </a:p>
                    <a:p>
                      <a:pPr rtl="0" fontAlgn="ctr">
                        <a:buFont typeface="Arial" panose="020B0604020202020204" pitchFamily="34" charset="0"/>
                        <a:buChar char="•"/>
                      </a:pPr>
                      <a:r>
                        <a:rPr lang="pt-BR" sz="1200" b="0">
                          <a:effectLst/>
                        </a:rPr>
                        <a:t>Essa documentação será muito importante para referência futura.</a:t>
                      </a:r>
                    </a:p>
                  </a:txBody>
                  <a:tcPr marL="47625" marR="47625" marT="47625" marB="47625" anchor="ctr"/>
                </a:tc>
                <a:extLst>
                  <a:ext uri="{0D108BD9-81ED-4DB2-BD59-A6C34878D82A}">
                    <a16:rowId xmlns:a16="http://schemas.microsoft.com/office/drawing/2014/main"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Metodologias de Solução de Problemas</a:t>
            </a:r>
            <a:br>
              <a:rPr lang="en-US" dirty="0"/>
            </a:br>
            <a:r>
              <a:rPr lang="pt-BR" sz="2400"/>
              <a:t>Resolver ou Escalonar?</a:t>
            </a:r>
          </a:p>
        </p:txBody>
      </p:sp>
      <p:sp>
        <p:nvSpPr>
          <p:cNvPr id="5" name="Content Placeholder 4">
            <a:extLst>
              <a:ext uri="{FF2B5EF4-FFF2-40B4-BE49-F238E27FC236}">
                <a16:creationId xmlns:a16="http://schemas.microsoft.com/office/drawing/2014/main" id="{30C19F0F-DCFC-46F1-B6A1-E7B4560DF0C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pt-BR" sz="1600">
                <a:solidFill>
                  <a:srgbClr val="000000"/>
                </a:solidFill>
              </a:rPr>
              <a:t>Em algumas situações, talvez não seja possível resolver o problema imediatamente. Um problema deve ser escalado quando requer uma decisão do gerente, algum conhecimento específico ou nível de acesso à rede indisponível para o técnico de solução de problemas.</a:t>
            </a:r>
          </a:p>
          <a:p>
            <a:pPr marL="342900" indent="-342900" algn="l" rtl="0">
              <a:buFont typeface="Arial" panose="020B0604020202020204" pitchFamily="34" charset="0"/>
              <a:buChar char="•"/>
            </a:pPr>
            <a:r>
              <a:rPr lang="pt-BR" sz="1600">
                <a:solidFill>
                  <a:srgbClr val="000000"/>
                </a:solidFill>
              </a:rPr>
              <a:t>Uma política da empresa deve indicar claramente quando e como um técnico deve escalar um problema.</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Metodologias de Solução de Problemas</a:t>
            </a:r>
            <a:br>
              <a:rPr lang="en-US" dirty="0"/>
            </a:br>
            <a:r>
              <a:rPr lang="pt-BR" sz="2400"/>
              <a:t>O Comando debug</a:t>
            </a:r>
          </a:p>
        </p:txBody>
      </p:sp>
      <p:sp>
        <p:nvSpPr>
          <p:cNvPr id="4" name="Content Placeholder 3">
            <a:extLst>
              <a:ext uri="{FF2B5EF4-FFF2-40B4-BE49-F238E27FC236}">
                <a16:creationId xmlns:a16="http://schemas.microsoft.com/office/drawing/2014/main" id="{055810E9-59A6-4F1D-9857-313BB3E519C4}"/>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pt-BR" sz="1400">
                <a:solidFill>
                  <a:srgbClr val="000000"/>
                </a:solidFill>
              </a:rPr>
              <a:t>O comando IOS </a:t>
            </a:r>
            <a:r>
              <a:rPr lang="pt-BR" sz="1400" b="1">
                <a:solidFill>
                  <a:srgbClr val="000000"/>
                </a:solidFill>
              </a:rPr>
              <a:t>debug</a:t>
            </a:r>
            <a:r>
              <a:rPr lang="pt-BR" sz="1400">
                <a:solidFill>
                  <a:srgbClr val="000000"/>
                </a:solidFill>
              </a:rPr>
              <a:t> permite ao administrador exibir mensagens de processo, protocolo, mecanismo e evento do SO em tempo real para análise. </a:t>
            </a:r>
          </a:p>
          <a:p>
            <a:pPr marL="342900" indent="-342900" algn="l" rtl="0">
              <a:buFont typeface="Arial" panose="020B0604020202020204" pitchFamily="34" charset="0"/>
              <a:buChar char="•"/>
            </a:pPr>
            <a:r>
              <a:rPr lang="pt-BR" sz="1400">
                <a:solidFill>
                  <a:srgbClr val="000000"/>
                </a:solidFill>
              </a:rPr>
              <a:t>Todos os comandos de </a:t>
            </a:r>
            <a:r>
              <a:rPr lang="pt-BR" sz="1400" b="1">
                <a:solidFill>
                  <a:srgbClr val="000000"/>
                </a:solidFill>
              </a:rPr>
              <a:t>debug</a:t>
            </a:r>
            <a:r>
              <a:rPr lang="pt-BR" sz="1400">
                <a:solidFill>
                  <a:srgbClr val="000000"/>
                </a:solidFill>
              </a:rPr>
              <a:t> são inseridos no modo EXEC privilegiado. O Cisco IOS permite restringir a saída de </a:t>
            </a:r>
            <a:r>
              <a:rPr lang="pt-BR" sz="1400" b="1">
                <a:solidFill>
                  <a:srgbClr val="000000"/>
                </a:solidFill>
              </a:rPr>
              <a:t>debug</a:t>
            </a:r>
            <a:r>
              <a:rPr lang="pt-BR" sz="1400">
                <a:solidFill>
                  <a:srgbClr val="000000"/>
                </a:solidFill>
              </a:rPr>
              <a:t> para incluir somente o recurso ou sub-recurso relevante. Use comandos de </a:t>
            </a:r>
            <a:r>
              <a:rPr lang="pt-BR" sz="1400" b="1">
                <a:solidFill>
                  <a:srgbClr val="000000"/>
                </a:solidFill>
              </a:rPr>
              <a:t>debug</a:t>
            </a:r>
            <a:r>
              <a:rPr lang="pt-BR" sz="1400">
                <a:solidFill>
                  <a:srgbClr val="000000"/>
                </a:solidFill>
              </a:rPr>
              <a:t> apenas para solucionar problemas específicos.</a:t>
            </a:r>
          </a:p>
          <a:p>
            <a:pPr marL="415985" lvl="1" indent="-342900" rtl="0">
              <a:buFont typeface="Arial" panose="020B0604020202020204" pitchFamily="34" charset="0"/>
              <a:buChar char="•"/>
            </a:pPr>
            <a:r>
              <a:rPr lang="pt-BR">
                <a:solidFill>
                  <a:srgbClr val="000000"/>
                </a:solidFill>
              </a:rPr>
              <a:t>Para listar uma breve descrição das opções do comando de debug, use o comando </a:t>
            </a:r>
            <a:r>
              <a:rPr lang="pt-BR" b="1">
                <a:solidFill>
                  <a:srgbClr val="000000"/>
                </a:solidFill>
              </a:rPr>
              <a:t>debug?</a:t>
            </a:r>
            <a:r>
              <a:rPr lang="pt-BR">
                <a:solidFill>
                  <a:srgbClr val="000000"/>
                </a:solidFill>
              </a:rPr>
              <a:t> no modo EXEC privilegiado na linha de comando.</a:t>
            </a:r>
          </a:p>
          <a:p>
            <a:pPr marL="415985" lvl="1" indent="-342900" rtl="0">
              <a:buFont typeface="Arial" panose="020B0604020202020204" pitchFamily="34" charset="0"/>
              <a:buChar char="•"/>
            </a:pPr>
            <a:r>
              <a:rPr lang="pt-BR">
                <a:solidFill>
                  <a:srgbClr val="000000"/>
                </a:solidFill>
              </a:rPr>
              <a:t>Para desativar um determinado recurso de depuração, adicione a palavra-chave </a:t>
            </a:r>
            <a:r>
              <a:rPr lang="pt-BR" b="1">
                <a:solidFill>
                  <a:srgbClr val="000000"/>
                </a:solidFill>
              </a:rPr>
              <a:t>na</a:t>
            </a:r>
            <a:r>
              <a:rPr lang="pt-BR">
                <a:solidFill>
                  <a:srgbClr val="000000"/>
                </a:solidFill>
              </a:rPr>
              <a:t> frente do comando de </a:t>
            </a:r>
            <a:r>
              <a:rPr lang="pt-BR" b="1">
                <a:solidFill>
                  <a:srgbClr val="000000"/>
                </a:solidFill>
              </a:rPr>
              <a:t>debug</a:t>
            </a:r>
            <a:r>
              <a:rPr lang="pt-BR">
                <a:solidFill>
                  <a:srgbClr val="000000"/>
                </a:solidFill>
              </a:rPr>
              <a:t>:</a:t>
            </a:r>
          </a:p>
          <a:p>
            <a:pPr marL="415985" lvl="1" indent="-342900" rtl="0">
              <a:buFont typeface="Arial" panose="020B0604020202020204" pitchFamily="34" charset="0"/>
              <a:buChar char="•"/>
            </a:pPr>
            <a:r>
              <a:rPr lang="pt-BR">
                <a:solidFill>
                  <a:srgbClr val="000000"/>
                </a:solidFill>
              </a:rPr>
              <a:t>Outra opção é inserir o formulário </a:t>
            </a:r>
            <a:r>
              <a:rPr lang="pt-BR" b="1">
                <a:solidFill>
                  <a:srgbClr val="000000"/>
                </a:solidFill>
              </a:rPr>
              <a:t>undebug</a:t>
            </a:r>
            <a:r>
              <a:rPr lang="pt-BR">
                <a:solidFill>
                  <a:srgbClr val="000000"/>
                </a:solidFill>
              </a:rPr>
              <a:t> do comando no modo EXEC privilegiado:</a:t>
            </a:r>
          </a:p>
          <a:p>
            <a:pPr marL="415985" lvl="1" indent="-342900" rtl="0">
              <a:buFont typeface="Arial" panose="020B0604020202020204" pitchFamily="34" charset="0"/>
              <a:buChar char="•"/>
            </a:pPr>
            <a:r>
              <a:rPr lang="pt-BR">
                <a:solidFill>
                  <a:srgbClr val="000000"/>
                </a:solidFill>
              </a:rPr>
              <a:t>Para desativar de uma vez todos os comandos de debug, use o comando </a:t>
            </a:r>
            <a:r>
              <a:rPr lang="pt-BR" b="1">
                <a:solidFill>
                  <a:srgbClr val="000000"/>
                </a:solidFill>
              </a:rPr>
              <a:t>undebug all</a:t>
            </a:r>
            <a:r>
              <a:rPr lang="pt-BR">
                <a:solidFill>
                  <a:srgbClr val="000000"/>
                </a:solidFill>
              </a:rPr>
              <a:t>:</a:t>
            </a:r>
          </a:p>
          <a:p>
            <a:pPr marL="342900" indent="-342900" algn="l" rtl="0">
              <a:buFont typeface="Arial" panose="020B0604020202020204" pitchFamily="34" charset="0"/>
              <a:buChar char="•"/>
            </a:pPr>
            <a:r>
              <a:rPr lang="pt-BR" sz="1400">
                <a:solidFill>
                  <a:srgbClr val="000000"/>
                </a:solidFill>
              </a:rPr>
              <a:t>Seja cauteloso ao usar alguns comandos de </a:t>
            </a:r>
            <a:r>
              <a:rPr lang="pt-BR" sz="1400" b="1">
                <a:solidFill>
                  <a:srgbClr val="000000"/>
                </a:solidFill>
              </a:rPr>
              <a:t>debug</a:t>
            </a:r>
            <a:r>
              <a:rPr lang="pt-BR" sz="1400">
                <a:solidFill>
                  <a:srgbClr val="000000"/>
                </a:solidFill>
              </a:rPr>
              <a:t>, pois eles podem gerar uma quantidade substancial de saída e usar uma grande parte dos recursos do sistema. O roteador pode ficar tão ocupado exibindo mensagens </a:t>
            </a:r>
            <a:r>
              <a:rPr lang="pt-BR" sz="1400" b="1">
                <a:solidFill>
                  <a:srgbClr val="000000"/>
                </a:solidFill>
              </a:rPr>
              <a:t>debug</a:t>
            </a:r>
            <a:r>
              <a:rPr lang="pt-BR" sz="1400">
                <a:solidFill>
                  <a:srgbClr val="000000"/>
                </a:solidFill>
              </a:rPr>
              <a:t> que não teria capacidade de processamento suficiente para executar suas funções de rede ou até ouvir comandos para desativar a depuração.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Metodologias de Solução de Problemas</a:t>
            </a:r>
            <a:br>
              <a:rPr lang="en-US" dirty="0"/>
            </a:br>
            <a:r>
              <a:rPr lang="pt-BR" sz="2400"/>
              <a:t>O Comando terminal monitor</a:t>
            </a:r>
          </a:p>
        </p:txBody>
      </p:sp>
      <p:sp>
        <p:nvSpPr>
          <p:cNvPr id="5" name="Content Placeholder 4">
            <a:extLst>
              <a:ext uri="{FF2B5EF4-FFF2-40B4-BE49-F238E27FC236}">
                <a16:creationId xmlns:a16="http://schemas.microsoft.com/office/drawing/2014/main" id="{67D403C5-B81D-431B-B2D2-68B008D495BC}"/>
              </a:ext>
            </a:extLst>
          </p:cNvPr>
          <p:cNvSpPr>
            <a:spLocks noGrp="1"/>
          </p:cNvSpPr>
          <p:nvPr>
            <p:ph idx="1"/>
          </p:nvPr>
        </p:nvSpPr>
        <p:spPr>
          <a:xfrm>
            <a:off x="474662" y="731837"/>
            <a:ext cx="3857193" cy="3689897"/>
          </a:xfrm>
        </p:spPr>
        <p:txBody>
          <a:bodyPr/>
          <a:lstStyle/>
          <a:p>
            <a:pPr marL="342900" indent="-342900" algn="l" rtl="0">
              <a:buFont typeface="Arial" panose="020B0604020202020204" pitchFamily="34" charset="0"/>
              <a:buChar char="•"/>
            </a:pPr>
            <a:endParaRPr/>
          </a:p>
          <a:p>
            <a:pPr marL="342900" indent="-342900" algn="l" rtl="0">
              <a:buFont typeface="Arial" panose="020B0604020202020204" pitchFamily="34" charset="0"/>
              <a:buChar char="•"/>
            </a:pPr>
            <a:r>
              <a:rPr lang="pt-BR" sz="1600">
                <a:solidFill>
                  <a:srgbClr val="000000"/>
                </a:solidFill>
              </a:rPr>
              <a:t>Para direcionar a exibição das mensagens de registro do sistema em um terminal (console virtual), use o comando </a:t>
            </a:r>
            <a:r>
              <a:rPr lang="pt-BR" sz="1600" b="1">
                <a:solidFill>
                  <a:srgbClr val="000000"/>
                </a:solidFill>
              </a:rPr>
              <a:t>terminal monitor</a:t>
            </a:r>
            <a:r>
              <a:rPr lang="pt-BR" sz="1600">
                <a:solidFill>
                  <a:srgbClr val="000000"/>
                </a:solidFill>
              </a:rPr>
              <a:t> no modo EXEC privilegiado. Para interromper o registro de mensagens em um terminal, use o comando EXEC privilegiado do </a:t>
            </a:r>
            <a:r>
              <a:rPr lang="pt-BR" sz="1600" b="1">
                <a:solidFill>
                  <a:srgbClr val="000000"/>
                </a:solidFill>
              </a:rPr>
              <a:t>terminal no monitor</a:t>
            </a:r>
            <a:r>
              <a:rPr lang="pt-BR" sz="1600">
                <a:solidFill>
                  <a:srgbClr val="000000"/>
                </a:solidFill>
              </a:rPr>
              <a:t>.</a:t>
            </a:r>
          </a:p>
        </p:txBody>
      </p:sp>
      <p:pic>
        <p:nvPicPr>
          <p:cNvPr id="7" name="Picture 6">
            <a:extLst>
              <a:ext uri="{FF2B5EF4-FFF2-40B4-BE49-F238E27FC236}">
                <a16:creationId xmlns:a16="http://schemas.microsoft.com/office/drawing/2014/main"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17.7 – Cenários de Solução de Problemas</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Operação Duplex e Problemas de Incompatibilidade</a:t>
            </a:r>
          </a:p>
        </p:txBody>
      </p:sp>
      <p:sp>
        <p:nvSpPr>
          <p:cNvPr id="4" name="Content Placeholder 3">
            <a:extLst>
              <a:ext uri="{FF2B5EF4-FFF2-40B4-BE49-F238E27FC236}">
                <a16:creationId xmlns:a16="http://schemas.microsoft.com/office/drawing/2014/main" id="{75F3AEFC-34C7-446B-AB27-8AE657AE5B78}"/>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lang="pt-BR" sz="1600">
                <a:solidFill>
                  <a:srgbClr val="000000"/>
                </a:solidFill>
              </a:rPr>
              <a:t>As interfaces Ethernet de interconexão devem operar no mesmo modo duplex para obter melhor desempenho de comunicação e evitar ineficiência e latência no link.</a:t>
            </a:r>
          </a:p>
          <a:p>
            <a:pPr marL="285750" indent="-285750" algn="l" rtl="0">
              <a:buFont typeface="Arial" panose="020B0604020202020204" pitchFamily="34" charset="0"/>
              <a:buChar char="•"/>
            </a:pPr>
            <a:r>
              <a:rPr lang="pt-BR" sz="1600">
                <a:solidFill>
                  <a:srgbClr val="000000"/>
                </a:solidFill>
              </a:rPr>
              <a:t>O recurso de negociação automática Ethernet facilita a configuração, minimiza problemas e maximiza o desempenho do link entre dois links Ethernet interconectados. Primeiramente, os dispositivos conectados anunciam seus recursos de compatibilidade e, depois, escolhem o modo de desempenho mais alto, compatível com as duas extremidades.</a:t>
            </a:r>
          </a:p>
          <a:p>
            <a:pPr marL="285750" indent="-285750" algn="l" rtl="0">
              <a:buFont typeface="Arial" panose="020B0604020202020204" pitchFamily="34" charset="0"/>
              <a:buChar char="•"/>
            </a:pPr>
            <a:r>
              <a:rPr lang="pt-BR" sz="1600">
                <a:solidFill>
                  <a:srgbClr val="000000"/>
                </a:solidFill>
              </a:rPr>
              <a:t>Se um dos dois dispositivos conectados estiverem operando no modo full-duplex e o outro no modo half-duplex, ocorrerá uma incompatibilidade de duplex. Já que a comunicação de dados ocorre por meio de um link físico, no caso de uma incompatibilidade de duplex o desempenho do link físico seria muito ruim.</a:t>
            </a:r>
          </a:p>
          <a:p>
            <a:pPr marL="285750" indent="-285750" algn="l" rtl="0">
              <a:buFont typeface="Arial" panose="020B0604020202020204" pitchFamily="34" charset="0"/>
              <a:buChar char="•"/>
            </a:pPr>
            <a:r>
              <a:rPr lang="pt-BR" sz="1600">
                <a:solidFill>
                  <a:srgbClr val="000000"/>
                </a:solidFill>
              </a:rPr>
              <a:t>As incompatibilidades duplex são normalmente causadas por uma interface mal configurada ou, em casos raros, por uma negociação automática com falha. As incompatibilidades de duplex podem ser difíceis de resolver, visto que a comunicação entre os dispositivos continua ocorrendo.</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Problemas de Endereçamento IP em Dispositivos IOS</a:t>
            </a:r>
          </a:p>
        </p:txBody>
      </p:sp>
      <p:sp>
        <p:nvSpPr>
          <p:cNvPr id="5" name="Content Placeholder 4">
            <a:extLst>
              <a:ext uri="{FF2B5EF4-FFF2-40B4-BE49-F238E27FC236}">
                <a16:creationId xmlns:a16="http://schemas.microsoft.com/office/drawing/2014/main" id="{4089B99F-CCB5-409E-A46F-AD649A1893BE}"/>
              </a:ext>
            </a:extLst>
          </p:cNvPr>
          <p:cNvSpPr>
            <a:spLocks noGrp="1"/>
          </p:cNvSpPr>
          <p:nvPr>
            <p:ph idx="1"/>
          </p:nvPr>
        </p:nvSpPr>
        <p:spPr>
          <a:xfrm>
            <a:off x="474662" y="731838"/>
            <a:ext cx="8280057" cy="1907598"/>
          </a:xfrm>
        </p:spPr>
        <p:txBody>
          <a:bodyPr/>
          <a:lstStyle/>
          <a:p>
            <a:pPr marL="342900" indent="-342900" algn="l" rtl="0">
              <a:buFont typeface="Arial" panose="020B0604020202020204" pitchFamily="34" charset="0"/>
              <a:buChar char="•"/>
            </a:pPr>
            <a:r>
              <a:rPr lang="pt-BR" sz="1400">
                <a:solidFill>
                  <a:srgbClr val="000000"/>
                </a:solidFill>
              </a:rPr>
              <a:t>Duas causas comuns de atribuição de IPv4 incorreta são os erros de atribuição manual ou problemas relacionados a DHCP.</a:t>
            </a:r>
          </a:p>
          <a:p>
            <a:pPr marL="342900" indent="-342900" algn="l" rtl="0">
              <a:buFont typeface="Arial" panose="020B0604020202020204" pitchFamily="34" charset="0"/>
              <a:buChar char="•"/>
            </a:pPr>
            <a:r>
              <a:rPr lang="pt-BR" sz="1400">
                <a:solidFill>
                  <a:srgbClr val="000000"/>
                </a:solidFill>
              </a:rPr>
              <a:t>Os administradores de rede normalmente precisam atribuir de forma manual os endereços IP aos dispositivos, como servidores e roteadores. Se for cometido um erro durante a atribuição, provavelmente ocorrerão problemas de comunicação com o dispositivo.</a:t>
            </a:r>
          </a:p>
          <a:p>
            <a:pPr marL="342900" indent="-342900" algn="l" rtl="0">
              <a:buFont typeface="Arial" panose="020B0604020202020204" pitchFamily="34" charset="0"/>
              <a:buChar char="•"/>
            </a:pPr>
            <a:r>
              <a:rPr lang="pt-BR" sz="1400">
                <a:solidFill>
                  <a:srgbClr val="000000"/>
                </a:solidFill>
              </a:rPr>
              <a:t>Em um dispositivo IOS, use os comandos </a:t>
            </a:r>
            <a:r>
              <a:rPr lang="pt-BR" sz="1400" b="1">
                <a:solidFill>
                  <a:srgbClr val="000000"/>
                </a:solidFill>
              </a:rPr>
              <a:t>show ip interface</a:t>
            </a:r>
            <a:r>
              <a:rPr lang="pt-BR" sz="1400">
                <a:solidFill>
                  <a:srgbClr val="000000"/>
                </a:solidFill>
              </a:rPr>
              <a:t> ou </a:t>
            </a:r>
            <a:r>
              <a:rPr lang="pt-BR" sz="1400" b="1">
                <a:solidFill>
                  <a:srgbClr val="000000"/>
                </a:solidFill>
              </a:rPr>
              <a:t>show ip interface brief</a:t>
            </a:r>
            <a:r>
              <a:rPr lang="pt-BR" sz="1400">
                <a:solidFill>
                  <a:srgbClr val="000000"/>
                </a:solidFill>
              </a:rPr>
              <a:t> para verificar quais endereços IPv4 foram atribuídos às interfaces de rede. Por exemplo, emitir o comando </a:t>
            </a:r>
            <a:r>
              <a:rPr lang="pt-BR" sz="1400" b="1">
                <a:solidFill>
                  <a:srgbClr val="000000"/>
                </a:solidFill>
              </a:rPr>
              <a:t>show ip interfacebrief</a:t>
            </a:r>
            <a:r>
              <a:rPr lang="pt-BR" sz="1400">
                <a:solidFill>
                  <a:srgbClr val="000000"/>
                </a:solidFill>
              </a:rPr>
              <a:t> conforme mostrado validaria o status da interface em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Problemas de Endereçamento IP em Dispositivos Finais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pt-BR" sz="1500">
                <a:solidFill>
                  <a:srgbClr val="000000"/>
                </a:solidFill>
              </a:rPr>
              <a:t>Em máquinas com Windows, quando o dispositivo não consegue entrar em contato com um servidor DHCP, o Windows atribui automaticamente um endereço que pertence ao intervalo 169.254.0.0/16. Esse recurso é chamado de endereçamento IP privado automático (APIPA). </a:t>
            </a:r>
          </a:p>
          <a:p>
            <a:pPr marL="342900" indent="-342900" algn="l" rtl="0">
              <a:buFont typeface="Arial" panose="020B0604020202020204" pitchFamily="34" charset="0"/>
              <a:buChar char="•"/>
            </a:pPr>
            <a:r>
              <a:rPr lang="pt-BR" sz="1500">
                <a:solidFill>
                  <a:srgbClr val="000000"/>
                </a:solidFill>
              </a:rPr>
              <a:t>Freqüentemente, um computador com um endereço APIPA não poderá se comunicar com outros dispositivos na rede, porque esses dispositivos provavelmente não pertencerão à rede 169.254.0.0/16. </a:t>
            </a:r>
          </a:p>
          <a:p>
            <a:pPr marL="415985" lvl="1" indent="-342900" rtl="0">
              <a:buFont typeface="Arial" panose="020B0604020202020204" pitchFamily="34" charset="0"/>
              <a:buChar char="•"/>
            </a:pPr>
            <a:r>
              <a:rPr lang="pt-BR" b="1">
                <a:solidFill>
                  <a:srgbClr val="000000"/>
                </a:solidFill>
              </a:rPr>
              <a:t>Nota</a:t>
            </a:r>
            <a:r>
              <a:rPr lang="pt-BR">
                <a:solidFill>
                  <a:srgbClr val="000000"/>
                </a:solidFill>
              </a:rPr>
              <a:t>: Outros sistemas operacionais, como Linux e OS X, não usam APIPA. </a:t>
            </a:r>
          </a:p>
          <a:p>
            <a:pPr marL="342900" indent="-342900" algn="l" rtl="0">
              <a:buFont typeface="Arial" panose="020B0604020202020204" pitchFamily="34" charset="0"/>
              <a:buChar char="•"/>
            </a:pPr>
            <a:r>
              <a:rPr lang="pt-BR" sz="1500">
                <a:solidFill>
                  <a:srgbClr val="000000"/>
                </a:solidFill>
              </a:rPr>
              <a:t>Se o dispositivo não puder se comunicar com o servidor DHCP, o servidor não conseguirá atribuir um endereço IPv4 para a rede específica e o dispositivo não será capaz de se comunicar.</a:t>
            </a:r>
          </a:p>
          <a:p>
            <a:pPr marL="342900" indent="-342900" algn="l" rtl="0">
              <a:buFont typeface="Arial" panose="020B0604020202020204" pitchFamily="34" charset="0"/>
              <a:buChar char="•"/>
            </a:pPr>
            <a:r>
              <a:rPr lang="pt-BR" sz="1500">
                <a:solidFill>
                  <a:srgbClr val="000000"/>
                </a:solidFill>
              </a:rPr>
              <a:t>Para verificar os endereços IP atribuídos a um computador com Windows, use o comando </a:t>
            </a:r>
            <a:r>
              <a:rPr lang="pt-BR" sz="1500" b="1">
                <a:solidFill>
                  <a:srgbClr val="000000"/>
                </a:solidFill>
              </a:rPr>
              <a:t>ipconfig</a:t>
            </a:r>
            <a:r>
              <a:rPr lang="pt-BR" sz="1500">
                <a:solidFill>
                  <a:srgbClr val="000000"/>
                </a:solidFill>
              </a:rPr>
              <a: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Problemas de Gateway Padrão</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pt-BR" sz="1500">
                <a:solidFill>
                  <a:srgbClr val="000000"/>
                </a:solidFill>
              </a:rPr>
              <a:t>O gateway padrão para um dispositivo final é o dispositivo de rede mais próximo, pertencente à mesma rede que o dispositivo final, que pode encaminhar tráfego para outras redes. Se um dispositivo tiver um endereço de gateway padrão errado ou inexistente, ele não conseguirá se comunicar com os dispositivos em redes remotas. </a:t>
            </a:r>
          </a:p>
          <a:p>
            <a:pPr marL="342900" indent="-342900" algn="l" rtl="0">
              <a:buFont typeface="Arial" panose="020B0604020202020204" pitchFamily="34" charset="0"/>
              <a:buChar char="•"/>
            </a:pPr>
            <a:r>
              <a:rPr lang="pt-BR" sz="1500">
                <a:solidFill>
                  <a:srgbClr val="000000"/>
                </a:solidFill>
              </a:rPr>
              <a:t>Semelhantes aos problemas de endereçamento IPv4, os problemas de gateway padrão podem estar relacionados à configuração errada (no caso de atribuição manual) ou a problemas de DHCP (se a atribuição manual estiver em uso).</a:t>
            </a:r>
          </a:p>
          <a:p>
            <a:pPr marL="342900" indent="-342900" algn="l" rtl="0">
              <a:buFont typeface="Arial" panose="020B0604020202020204" pitchFamily="34" charset="0"/>
              <a:buChar char="•"/>
            </a:pPr>
            <a:r>
              <a:rPr lang="pt-BR" sz="1500">
                <a:solidFill>
                  <a:srgbClr val="000000"/>
                </a:solidFill>
              </a:rPr>
              <a:t>Para verificar o gateway padrão em computadores baseados no Windows, use o comando </a:t>
            </a:r>
            <a:r>
              <a:rPr lang="pt-BR" sz="1500" b="1">
                <a:solidFill>
                  <a:srgbClr val="000000"/>
                </a:solidFill>
              </a:rPr>
              <a:t>ipconfig</a:t>
            </a:r>
            <a:r>
              <a:rPr lang="pt-BR" sz="1500">
                <a:solidFill>
                  <a:srgbClr val="000000"/>
                </a:solidFill>
              </a:rPr>
              <a:t>.</a:t>
            </a:r>
          </a:p>
          <a:p>
            <a:pPr marL="342900" indent="-342900" algn="l" rtl="0">
              <a:buFont typeface="Arial" panose="020B0604020202020204" pitchFamily="34" charset="0"/>
              <a:buChar char="•"/>
            </a:pPr>
            <a:r>
              <a:rPr lang="pt-BR" sz="1500">
                <a:solidFill>
                  <a:srgbClr val="000000"/>
                </a:solidFill>
              </a:rPr>
              <a:t>Em um roteador, use o comando </a:t>
            </a:r>
            <a:r>
              <a:rPr lang="pt-BR" sz="1500" b="1">
                <a:solidFill>
                  <a:srgbClr val="000000"/>
                </a:solidFill>
              </a:rPr>
              <a:t>show ip route </a:t>
            </a:r>
            <a:r>
              <a:rPr lang="pt-BR" sz="1500">
                <a:solidFill>
                  <a:srgbClr val="000000"/>
                </a:solidFill>
              </a:rPr>
              <a:t>para listar a tabela de roteamento e verificar se o gateway padrão, conhecido como uma rota padrão, foi definido. Essa rota é usada quando o endereço de destino do pacote não corresponde a nenhuma outra rota na tabela de roteamento.</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Resolução de Problemas de DNS.</a:t>
            </a:r>
          </a:p>
        </p:txBody>
      </p:sp>
      <p:sp>
        <p:nvSpPr>
          <p:cNvPr id="5" name="Content Placeholder 4">
            <a:extLst>
              <a:ext uri="{FF2B5EF4-FFF2-40B4-BE49-F238E27FC236}">
                <a16:creationId xmlns:a16="http://schemas.microsoft.com/office/drawing/2014/main" id="{A0557B6B-70FF-4372-BD6F-76E2BCF4EBCC}"/>
              </a:ext>
            </a:extLst>
          </p:cNvPr>
          <p:cNvSpPr>
            <a:spLocks noGrp="1"/>
          </p:cNvSpPr>
          <p:nvPr>
            <p:ph idx="1"/>
          </p:nvPr>
        </p:nvSpPr>
        <p:spPr>
          <a:xfrm>
            <a:off x="474662" y="731836"/>
            <a:ext cx="8280057" cy="3689897"/>
          </a:xfrm>
        </p:spPr>
        <p:txBody>
          <a:bodyPr/>
          <a:lstStyle/>
          <a:p>
            <a:pPr marL="342900" indent="-342900" algn="l" rtl="0">
              <a:buFont typeface="Arial" panose="020B0604020202020204" pitchFamily="34" charset="0"/>
              <a:buChar char="•"/>
            </a:pPr>
            <a:r>
              <a:rPr lang="pt-BR" sz="1400">
                <a:solidFill>
                  <a:srgbClr val="000000"/>
                </a:solidFill>
              </a:rPr>
              <a:t>É comum que os usuários relacionem por engano a operação de um link da Internet com a disponibilidade do DNS. </a:t>
            </a:r>
          </a:p>
          <a:p>
            <a:pPr marL="342900" indent="-342900" algn="l" rtl="0">
              <a:buFont typeface="Arial" panose="020B0604020202020204" pitchFamily="34" charset="0"/>
              <a:buChar char="•"/>
            </a:pPr>
            <a:r>
              <a:rPr lang="pt-BR" sz="1400">
                <a:solidFill>
                  <a:srgbClr val="000000"/>
                </a:solidFill>
              </a:rPr>
              <a:t>Os endereços do servidor DNS podem ser atribuídos manualmente ou automaticamente via DHCP.</a:t>
            </a:r>
          </a:p>
          <a:p>
            <a:pPr marL="342900" indent="-342900" algn="l" rtl="0">
              <a:buFont typeface="Arial" panose="020B0604020202020204" pitchFamily="34" charset="0"/>
              <a:buChar char="•"/>
            </a:pPr>
            <a:r>
              <a:rPr lang="pt-BR" sz="1400">
                <a:solidFill>
                  <a:srgbClr val="000000"/>
                </a:solidFill>
              </a:rPr>
              <a:t>Embora seja comum para as empresas gerenciarem seus próprios servidores DNS, qualquer servidor DNS alcançável pode ser usado para resolver nomes. </a:t>
            </a:r>
          </a:p>
          <a:p>
            <a:pPr marL="342900" indent="-342900" algn="l" rtl="0">
              <a:buFont typeface="Arial" panose="020B0604020202020204" pitchFamily="34" charset="0"/>
              <a:buChar char="•"/>
            </a:pPr>
            <a:r>
              <a:rPr lang="pt-BR" sz="1400">
                <a:solidFill>
                  <a:srgbClr val="000000"/>
                </a:solidFill>
              </a:rPr>
              <a:t>A Cisco oferece OpenDNS que fornece serviço DNS seguro filtrando phishing e alguns sites de malware. Os endereços OpenDNS são 208.67.222.222 e 208.67.220.220. Recursos avançados, como filtragem de conteúdo da Web e segurança, estão disponíveis para famílias e empresas.</a:t>
            </a:r>
          </a:p>
          <a:p>
            <a:pPr marL="342900" indent="-342900" algn="l" rtl="0">
              <a:buFont typeface="Arial" panose="020B0604020202020204" pitchFamily="34" charset="0"/>
              <a:buChar char="•"/>
            </a:pPr>
            <a:r>
              <a:rPr lang="pt-BR" sz="1400">
                <a:solidFill>
                  <a:srgbClr val="000000"/>
                </a:solidFill>
              </a:rPr>
              <a:t>Use o </a:t>
            </a:r>
            <a:r>
              <a:rPr lang="pt-BR" sz="1400" b="1">
                <a:solidFill>
                  <a:srgbClr val="000000"/>
                </a:solidFill>
              </a:rPr>
              <a:t>ipconfig /all</a:t>
            </a:r>
            <a:r>
              <a:rPr lang="pt-BR" sz="1400">
                <a:solidFill>
                  <a:srgbClr val="000000"/>
                </a:solidFill>
              </a:rPr>
              <a:t> como mostrado para verificar qual servidor DNS está sendo usado pelo computador Windows.</a:t>
            </a:r>
          </a:p>
          <a:p>
            <a:pPr marL="342900" indent="-342900" algn="l" rtl="0">
              <a:buFont typeface="Arial" panose="020B0604020202020204" pitchFamily="34" charset="0"/>
              <a:buChar char="•"/>
            </a:pPr>
            <a:r>
              <a:rPr lang="pt-BR" sz="1400">
                <a:solidFill>
                  <a:srgbClr val="000000"/>
                </a:solidFill>
              </a:rPr>
              <a:t>O comando </a:t>
            </a:r>
            <a:r>
              <a:rPr lang="pt-BR" sz="1400" b="1">
                <a:solidFill>
                  <a:srgbClr val="000000"/>
                </a:solidFill>
              </a:rPr>
              <a:t>nslookup</a:t>
            </a:r>
            <a:r>
              <a:rPr lang="pt-BR" sz="1400">
                <a:solidFill>
                  <a:srgbClr val="000000"/>
                </a:solidFill>
              </a:rPr>
              <a:t> é outra ferramenta útil para solucionar problemas de DNS em PCs. Com o </a:t>
            </a:r>
            <a:r>
              <a:rPr lang="pt-BR" sz="1400" b="1">
                <a:solidFill>
                  <a:srgbClr val="000000"/>
                </a:solidFill>
              </a:rPr>
              <a:t>nslookup</a:t>
            </a:r>
            <a:r>
              <a:rPr lang="pt-BR" sz="1400">
                <a:solidFill>
                  <a:srgbClr val="000000"/>
                </a:solidFill>
              </a:rPr>
              <a:t>, um usuário pode fazer manualmente consultas de DNS e analisar a resposta de DNS.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Packet Tracer – Solucione Problemas de Conectividade</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pt-BR" sz="1800">
                <a:solidFill>
                  <a:srgbClr val="000000"/>
                </a:solidFill>
              </a:rPr>
              <a:t>O objetivo desta atividade do Packet Tracer é solucionar problemas de conectividade, se possível. Caso contrário, os problemas deverão ser documentados de forma clara para que possam ser encaminhados.</a:t>
            </a:r>
          </a:p>
        </p:txBody>
      </p:sp>
    </p:spTree>
    <p:extLst>
      <p:ext uri="{BB962C8B-B14F-4D97-AF65-F5344CB8AC3E}">
        <p14:creationId xmlns:p14="http://schemas.microsoft.com/office/powerpoint/2010/main" val="178203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301675"/>
          </a:xfrm>
        </p:spPr>
        <p:txBody>
          <a:bodyPr/>
          <a:lstStyle/>
          <a:p>
            <a:pPr rtl="0"/>
            <a:r>
              <a:rPr lang="pt-BR" sz="1600"/>
              <a:t>Cenários de Solução de Problemas</a:t>
            </a:r>
            <a:br>
              <a:rPr lang="en-US" sz="1600" dirty="0"/>
            </a:br>
            <a:r>
              <a:rPr lang="pt-BR" sz="2400"/>
              <a:t>Packet Tracer – Solucione Problemas de Conectividade– Modo Físico</a:t>
            </a:r>
            <a:br>
              <a:rPr lang="en-US" sz="2400" dirty="0"/>
            </a:br>
            <a:r>
              <a:rPr lang="pt-BR" sz="2400"/>
              <a:t>Laboratório - Solucione Problemas de Conectividade </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596924"/>
            <a:ext cx="8280057" cy="3689897"/>
          </a:xfrm>
        </p:spPr>
        <p:txBody>
          <a:bodyPr/>
          <a:lstStyle/>
          <a:p>
            <a:pPr marL="0" indent="0" algn="l" rtl="0"/>
            <a:r>
              <a:rPr lang="pt-BR" sz="1800">
                <a:solidFill>
                  <a:srgbClr val="000000"/>
                </a:solidFill>
              </a:rPr>
              <a:t>Nesta atividade do modo físico do Packet Tracer e no laboratório, você completará os seguintes objetivos:</a:t>
            </a:r>
          </a:p>
          <a:p>
            <a:pPr marL="342900" indent="-342900" algn="l" rtl="0">
              <a:buFont typeface="Arial" panose="020B0604020202020204" pitchFamily="34" charset="0"/>
              <a:buChar char="•"/>
            </a:pPr>
            <a:r>
              <a:rPr lang="pt-BR" sz="1800">
                <a:solidFill>
                  <a:srgbClr val="000000"/>
                </a:solidFill>
              </a:rPr>
              <a:t>Identificar o problema</a:t>
            </a:r>
          </a:p>
          <a:p>
            <a:pPr marL="342900" indent="-342900" algn="l" rtl="0">
              <a:buFont typeface="Arial" panose="020B0604020202020204" pitchFamily="34" charset="0"/>
              <a:buChar char="•"/>
            </a:pPr>
            <a:r>
              <a:rPr lang="pt-BR" sz="1800">
                <a:solidFill>
                  <a:srgbClr val="000000"/>
                </a:solidFill>
              </a:rPr>
              <a:t>Implementar alterações de rede</a:t>
            </a:r>
          </a:p>
          <a:p>
            <a:pPr marL="342900" indent="-342900" algn="l" rtl="0">
              <a:buFont typeface="Arial" panose="020B0604020202020204" pitchFamily="34" charset="0"/>
              <a:buChar char="•"/>
            </a:pPr>
            <a:r>
              <a:rPr lang="pt-BR" sz="1800">
                <a:solidFill>
                  <a:srgbClr val="000000"/>
                </a:solidFill>
              </a:rPr>
              <a:t>Verificar a funcionalidade completa</a:t>
            </a:r>
          </a:p>
          <a:p>
            <a:pPr marL="342900" indent="-342900" algn="l" rtl="0">
              <a:buFont typeface="Arial" panose="020B0604020202020204" pitchFamily="34" charset="0"/>
              <a:buChar char="•"/>
            </a:pPr>
            <a:r>
              <a:rPr lang="pt-BR" sz="1800">
                <a:solidFill>
                  <a:srgbClr val="000000"/>
                </a:solidFill>
              </a:rPr>
              <a:t>Documentar descobertas e alterações de configuração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354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17.8 -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29870"/>
          </a:xfrm>
        </p:spPr>
        <p:txBody>
          <a:bodyPr/>
          <a:lstStyle/>
          <a:p>
            <a:pPr rtl="0"/>
            <a:r>
              <a:rPr lang="pt-BR" sz="1600"/>
              <a:t>Cenários de Solução de Problemas</a:t>
            </a:r>
            <a:br>
              <a:rPr lang="en-US" sz="1600" dirty="0"/>
            </a:br>
            <a:r>
              <a:rPr lang="pt-BR" sz="2400"/>
              <a:t>Packet Tracer – Projeto e Desenvolvimento de uma Pequena Rede de Negócios – Modo Físico</a:t>
            </a:r>
            <a:br>
              <a:rPr lang="en-US" sz="2400" dirty="0"/>
            </a:br>
            <a:r>
              <a:rPr lang="pt-BR" sz="2400"/>
              <a:t>Laboratório – Projeto e Desenvolvimento de uma Pequena Rede de Negócios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291236"/>
            <a:ext cx="8280057" cy="2592276"/>
          </a:xfrm>
        </p:spPr>
        <p:txBody>
          <a:bodyPr/>
          <a:lstStyle/>
          <a:p>
            <a:pPr marL="0" indent="0" algn="l" rtl="0"/>
            <a:r>
              <a:rPr lang="pt-BR" sz="1600">
                <a:solidFill>
                  <a:srgbClr val="000000"/>
                </a:solidFill>
              </a:rPr>
              <a:t>Nesta atividade do modo físico do Packet Tracer e no laboratório, você completará os seguintes objetivos:</a:t>
            </a:r>
          </a:p>
          <a:p>
            <a:pPr marL="0" indent="0" algn="l"/>
            <a:endParaRPr lang="en-US" sz="1600" dirty="0">
              <a:solidFill>
                <a:srgbClr val="000000"/>
              </a:solidFill>
            </a:endParaRPr>
          </a:p>
          <a:p>
            <a:pPr marL="285750" indent="-285750" algn="l" rtl="0">
              <a:buFont typeface="Arial" panose="020B0604020202020204" pitchFamily="34" charset="0"/>
              <a:buChar char="•"/>
            </a:pPr>
            <a:r>
              <a:rPr lang="pt-BR" sz="1600">
                <a:solidFill>
                  <a:srgbClr val="000000"/>
                </a:solidFill>
              </a:rPr>
              <a:t>Projeto e Desenvolvimento de uma Rede</a:t>
            </a:r>
          </a:p>
          <a:p>
            <a:pPr marL="285750" indent="-285750" algn="l" rtl="0">
              <a:buFont typeface="Arial" panose="020B0604020202020204" pitchFamily="34" charset="0"/>
              <a:buChar char="•"/>
            </a:pPr>
            <a:r>
              <a:rPr lang="pt-BR" sz="1600">
                <a:solidFill>
                  <a:srgbClr val="000000"/>
                </a:solidFill>
              </a:rPr>
              <a:t>Explicar como é criada uma pequena rede de segmentos diretamente conectados, configurados e verificados</a:t>
            </a:r>
          </a:p>
        </p:txBody>
      </p:sp>
    </p:spTree>
    <p:extLst>
      <p:ext uri="{BB962C8B-B14F-4D97-AF65-F5344CB8AC3E}">
        <p14:creationId xmlns:p14="http://schemas.microsoft.com/office/powerpoint/2010/main" val="406982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Solucionando problemas de cenários </a:t>
            </a:r>
            <a:br>
              <a:rPr lang="en-US" sz="1600" dirty="0"/>
            </a:br>
            <a:r>
              <a:rPr lang="pt-BR" sz="2400"/>
              <a:t>Packet Tracer - Desafio de integração de habilidades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Nesta atividade de Tracer de Pacotes, você usará todas as habilidades adquiridas ao longo deste curso.</a:t>
            </a:r>
          </a:p>
          <a:p>
            <a:pPr marL="0" indent="0" algn="l"/>
            <a:endParaRPr lang="en-US" sz="1600" dirty="0">
              <a:solidFill>
                <a:srgbClr val="000000"/>
              </a:solidFill>
            </a:endParaRPr>
          </a:p>
          <a:p>
            <a:pPr marL="0" indent="0" algn="l" rtl="0"/>
            <a:r>
              <a:rPr lang="pt-BR" sz="1600">
                <a:solidFill>
                  <a:srgbClr val="000000"/>
                </a:solidFill>
              </a:rPr>
              <a:t>Cenário:</a:t>
            </a:r>
          </a:p>
          <a:p>
            <a:pPr marL="0" indent="0" algn="l"/>
            <a:endParaRPr lang="en-US" sz="1600" dirty="0">
              <a:solidFill>
                <a:srgbClr val="000000"/>
              </a:solidFill>
            </a:endParaRPr>
          </a:p>
          <a:p>
            <a:pPr marL="0" indent="0" algn="l" rtl="0"/>
            <a:r>
              <a:rPr lang="pt-BR" sz="1600">
                <a:solidFill>
                  <a:srgbClr val="000000"/>
                </a:solidFill>
              </a:rPr>
              <a:t>Os roteadores Central, do cluster do ISP e o servidor Web estão completamente configurados. Você deve criar um novo esquema de endereçamento IPv4 que acomode 4 sub-redes usando a rede 192.168.0.0/24. O maior departamento de TI precisa de 25 hosts. O maior departamento de vendas (Sales) precisa de 50 hosts. A sub-rede para o restante da equipe (staff) precisa de 100 hosts. Uma sub-rede para convidados (guest) será futuramente adicionada para acomodar 25 hosts. Você também deve concluir as configurações básicas de segurança e as configurações de interface no R1. Em seguida, você definirá a interface SVI e as configurações básicas de segurança nos comutadores S1, S2 e S3.</a:t>
            </a:r>
          </a:p>
        </p:txBody>
      </p:sp>
    </p:spTree>
    <p:extLst>
      <p:ext uri="{BB962C8B-B14F-4D97-AF65-F5344CB8AC3E}">
        <p14:creationId xmlns:p14="http://schemas.microsoft.com/office/powerpoint/2010/main" val="2446794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Cenários de Solução de Problemas</a:t>
            </a:r>
            <a:br>
              <a:rPr lang="en-US" sz="1600" dirty="0"/>
            </a:br>
            <a:r>
              <a:rPr lang="pt-BR" sz="2400"/>
              <a:t>Packet Tracer – Desafio de Solução de Problemas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Nesta atividade de rastreador de pacotes, você solucionará e resolverá vários problemas em uma LAN existente.</a:t>
            </a:r>
          </a:p>
        </p:txBody>
      </p:sp>
    </p:spTree>
    <p:extLst>
      <p:ext uri="{BB962C8B-B14F-4D97-AF65-F5344CB8AC3E}">
        <p14:creationId xmlns:p14="http://schemas.microsoft.com/office/powerpoint/2010/main" val="43625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15="http://schemas.microsoft.com/office/drawing/2012/chart" xmlns:c="http://schemas.openxmlformats.org/drawingml/2006/chart"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Prático e Quiz</a:t>
            </a:r>
            <a:br>
              <a:rPr lang="en-US" dirty="0">
                <a:latin typeface="Arial" charset="0"/>
              </a:rPr>
            </a:br>
            <a:r>
              <a:rPr lang="pt-BR">
                <a:latin typeface="Arial" charset="0"/>
              </a:rPr>
              <a:t>O Que eu Aprendi Neste Módulo?</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5357" y="687724"/>
            <a:ext cx="8853286" cy="4155319"/>
          </a:xfrm>
        </p:spPr>
        <p:txBody>
          <a:bodyPr/>
          <a:lstStyle/>
          <a:p>
            <a:pPr rtl="0">
              <a:spcBef>
                <a:spcPts val="0"/>
              </a:spcBef>
              <a:spcAft>
                <a:spcPts val="0"/>
              </a:spcAft>
              <a:buFont typeface="Arial" panose="020B0604020202020204" pitchFamily="34" charset="0"/>
              <a:buChar char="•"/>
            </a:pPr>
            <a:r>
              <a:rPr lang="pt-BR" sz="1600"/>
              <a:t>Os fatores a serem considerados ao selecionar dispositivos de rede para uma rede pequena são custo, velocidade e tipos de portas/interfaces, capacidade de expansão e recursos e serviços do SO. </a:t>
            </a:r>
          </a:p>
          <a:p>
            <a:pPr rtl="0">
              <a:spcBef>
                <a:spcPts val="0"/>
              </a:spcBef>
              <a:spcAft>
                <a:spcPts val="0"/>
              </a:spcAft>
              <a:buFont typeface="Arial" panose="020B0604020202020204" pitchFamily="34" charset="0"/>
              <a:buChar char="•"/>
            </a:pPr>
            <a:r>
              <a:rPr lang="pt-BR" sz="1600"/>
              <a:t>Ao implementar uma rede, crie um esquema de endereçamento IP e use-o em dispositivos finais, servidores e periféricos e dispositivos intermediários. </a:t>
            </a:r>
          </a:p>
          <a:p>
            <a:pPr rtl="0">
              <a:spcBef>
                <a:spcPts val="0"/>
              </a:spcBef>
              <a:spcAft>
                <a:spcPts val="0"/>
              </a:spcAft>
              <a:buFont typeface="Arial" panose="020B0604020202020204" pitchFamily="34" charset="0"/>
              <a:buChar char="•"/>
            </a:pPr>
            <a:r>
              <a:rPr lang="pt-BR" sz="1600"/>
              <a:t>A redundância pode ser conseguida instalando equipamentos duplicados, mas também pode ser fornecida fornecendo links de rede duplicados para áreas críticas. </a:t>
            </a:r>
          </a:p>
          <a:p>
            <a:pPr rtl="0">
              <a:spcBef>
                <a:spcPts val="0"/>
              </a:spcBef>
              <a:spcAft>
                <a:spcPts val="0"/>
              </a:spcAft>
              <a:buFont typeface="Arial" panose="020B0604020202020204" pitchFamily="34" charset="0"/>
              <a:buChar char="•"/>
            </a:pPr>
            <a:r>
              <a:rPr lang="pt-BR" sz="1600"/>
              <a:t>Os roteadores e comutadores em uma rede pequena devem ser configurados para rastrear o tráfego em tempo real, como voz e vídeo, de maneira possível em relação a outro tráfego de dados. </a:t>
            </a:r>
          </a:p>
          <a:p>
            <a:pPr rtl="0">
              <a:spcBef>
                <a:spcPts val="0"/>
              </a:spcBef>
              <a:spcAft>
                <a:spcPts val="0"/>
              </a:spcAft>
              <a:buFont typeface="Arial" panose="020B0604020202020204" pitchFamily="34" charset="0"/>
              <a:buChar char="•"/>
            </a:pPr>
            <a:r>
              <a:rPr lang="pt-BR" sz="1600"/>
              <a:t>Há duas formas de programas de software ou processos que fornecem acesso à rede: aplicações de rede e serviços da camada de aplicação.</a:t>
            </a:r>
          </a:p>
          <a:p>
            <a:pPr rtl="0">
              <a:spcBef>
                <a:spcPts val="0"/>
              </a:spcBef>
              <a:spcAft>
                <a:spcPts val="0"/>
              </a:spcAft>
              <a:buFont typeface="Arial" panose="020B0604020202020204" pitchFamily="34" charset="0"/>
              <a:buChar char="•"/>
            </a:pPr>
            <a:r>
              <a:rPr lang="pt-BR" sz="1600"/>
              <a:t>Para dimensionar uma rede, vários elementos são necessários: documentação de rede, inventário de dispositivos, orçamento e análise de tráfego. </a:t>
            </a:r>
          </a:p>
          <a:p>
            <a:pPr rtl="0">
              <a:spcBef>
                <a:spcPts val="0"/>
              </a:spcBef>
              <a:spcAft>
                <a:spcPts val="0"/>
              </a:spcAft>
              <a:buFont typeface="Arial" panose="020B0604020202020204" pitchFamily="34" charset="0"/>
              <a:buChar char="•"/>
            </a:pPr>
            <a:r>
              <a:rPr lang="pt-BR" sz="1600"/>
              <a:t>O comando ping é a maneira mais eficaz de testar rapidamente a conectividade da Camada 3 entre um endereço IP de origem e de destino. </a:t>
            </a:r>
          </a:p>
          <a:p>
            <a:pPr rtl="0">
              <a:spcBef>
                <a:spcPts val="0"/>
              </a:spcBef>
              <a:spcAft>
                <a:spcPts val="0"/>
              </a:spcAft>
              <a:buFont typeface="Arial" panose="020B0604020202020204" pitchFamily="34" charset="0"/>
              <a:buChar char="•"/>
            </a:pPr>
            <a:r>
              <a:rPr lang="pt-BR" sz="1600"/>
              <a:t>O Cisco IOS oferece um modo “estendido” do comando ping que permite ao usuário criar tipos especiais de pings ajustando parâmetros relacionados à operação do comando.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Prático e Quiz</a:t>
            </a:r>
            <a:br>
              <a:rPr lang="en-US" dirty="0">
                <a:latin typeface="Arial" charset="0"/>
              </a:rPr>
            </a:br>
            <a:r>
              <a:rPr lang="pt-BR">
                <a:latin typeface="Arial" charset="0"/>
              </a:rPr>
              <a:t>O Que eu Aprendi Neste Módulo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O comando trace retorna uma lista dos saltos no roteamento de um pacote pela rede. </a:t>
            </a:r>
          </a:p>
          <a:p>
            <a:pPr rtl="0">
              <a:spcBef>
                <a:spcPts val="0"/>
              </a:spcBef>
              <a:spcAft>
                <a:spcPts val="0"/>
              </a:spcAft>
              <a:buFont typeface="Arial" panose="020B0604020202020204" pitchFamily="34" charset="0"/>
              <a:buChar char="•"/>
            </a:pPr>
            <a:r>
              <a:rPr lang="pt-BR" sz="1600"/>
              <a:t>Há também um comando traceroute estendido. Ele permite que o administrador ajuste parâmetros relacionados à operação de comando. </a:t>
            </a:r>
          </a:p>
          <a:p>
            <a:pPr rtl="0">
              <a:spcBef>
                <a:spcPts val="0"/>
              </a:spcBef>
              <a:spcAft>
                <a:spcPts val="0"/>
              </a:spcAft>
              <a:buFont typeface="Arial" panose="020B0604020202020204" pitchFamily="34" charset="0"/>
              <a:buChar char="•"/>
            </a:pPr>
            <a:r>
              <a:rPr lang="pt-BR" sz="1600"/>
              <a:t>Os administradores de rede exibem as informações de endereçamento IP (endereço, máscara, roteador e DNS) em um host Windows emitindo o comando ipconfig. Outros comandos necessários são </a:t>
            </a:r>
            <a:r>
              <a:rPr lang="pt-BR" sz="1600" b="1"/>
              <a:t>ipconfig /all</a:t>
            </a:r>
            <a:r>
              <a:rPr lang="pt-BR" sz="1600"/>
              <a:t>, </a:t>
            </a:r>
            <a:r>
              <a:rPr lang="pt-BR" sz="1600" b="1"/>
              <a:t>ipconfig /release</a:t>
            </a:r>
            <a:r>
              <a:rPr lang="pt-BR" sz="1600"/>
              <a:t>e </a:t>
            </a:r>
            <a:r>
              <a:rPr lang="pt-BR" sz="1600" b="1"/>
              <a:t>ipconfig /renew</a:t>
            </a:r>
            <a:r>
              <a:rPr lang="pt-BR" sz="1600"/>
              <a:t>e </a:t>
            </a:r>
            <a:r>
              <a:rPr lang="pt-BR" sz="1600" b="1"/>
              <a:t>ipconfig /displaydns</a:t>
            </a:r>
            <a:r>
              <a:rPr lang="pt-BR" sz="1600"/>
              <a:t>. </a:t>
            </a:r>
          </a:p>
          <a:p>
            <a:pPr rtl="0">
              <a:spcBef>
                <a:spcPts val="0"/>
              </a:spcBef>
              <a:spcAft>
                <a:spcPts val="0"/>
              </a:spcAft>
              <a:buFont typeface="Arial" panose="020B0604020202020204" pitchFamily="34" charset="0"/>
              <a:buChar char="•"/>
            </a:pPr>
            <a:r>
              <a:rPr lang="pt-BR" sz="1600"/>
              <a:t>A verificação das configurações de IP usando a GUI em uma máquina Linux será diferente dependendo da distribuição Linux (distro) e da interface de desktop. Os comandos necessários são ifconfig e ip address. </a:t>
            </a:r>
          </a:p>
          <a:p>
            <a:pPr rtl="0">
              <a:spcBef>
                <a:spcPts val="0"/>
              </a:spcBef>
              <a:spcAft>
                <a:spcPts val="0"/>
              </a:spcAft>
              <a:buFont typeface="Arial" panose="020B0604020202020204" pitchFamily="34" charset="0"/>
              <a:buChar char="•"/>
            </a:pPr>
            <a:r>
              <a:rPr lang="pt-BR" sz="1600"/>
              <a:t>Na GUI de um host Mac, abra Preferências de Rede &gt; Avançadas para obter as informações de endereçamento IP. Outros comandos de endereçamento IP para Mac são ifconfig e networksetup -listallnetworkservices e networksetup -getinfo &lt;network service&gt;. </a:t>
            </a:r>
          </a:p>
          <a:p>
            <a:pPr rtl="0">
              <a:spcBef>
                <a:spcPts val="0"/>
              </a:spcBef>
              <a:spcAft>
                <a:spcPts val="0"/>
              </a:spcAft>
              <a:buFont typeface="Arial" panose="020B0604020202020204" pitchFamily="34" charset="0"/>
              <a:buChar char="•"/>
            </a:pPr>
            <a:r>
              <a:rPr lang="pt-BR" sz="1600"/>
              <a:t>O comando </a:t>
            </a:r>
            <a:r>
              <a:rPr lang="pt-BR" sz="1600" b="1"/>
              <a:t>arp</a:t>
            </a:r>
            <a:r>
              <a:rPr lang="pt-BR" sz="1600"/>
              <a:t> é executado a partir do prompt de comando do Windows, Linux ou Mac. O comando lista todos os dispositivos atualmente no cache ARP do host, que inclui o endereço IPv4, endereço físico e o tipo de endereçamento (estático / dinâmico) para cada dispositivo. </a:t>
            </a:r>
          </a:p>
          <a:p>
            <a:pPr rtl="0">
              <a:spcBef>
                <a:spcPts val="0"/>
              </a:spcBef>
              <a:spcAft>
                <a:spcPts val="0"/>
              </a:spcAft>
              <a:buFont typeface="Arial" panose="020B0604020202020204" pitchFamily="34" charset="0"/>
              <a:buChar char="•"/>
            </a:pPr>
            <a:r>
              <a:rPr lang="pt-BR" sz="1600"/>
              <a:t>O comando </a:t>
            </a:r>
            <a:r>
              <a:rPr lang="pt-BR" sz="1600" b="1"/>
              <a:t>arp -a</a:t>
            </a:r>
            <a:r>
              <a:rPr lang="pt-BR" sz="1600"/>
              <a:t> exibe o endereço IP conhecido e a vinculação de endereço MAC.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5184685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Prático e Quiz</a:t>
            </a:r>
            <a:br>
              <a:rPr lang="en-US" dirty="0">
                <a:latin typeface="Arial" charset="0"/>
              </a:rPr>
            </a:br>
            <a:r>
              <a:rPr lang="pt-BR">
                <a:latin typeface="Arial" charset="0"/>
              </a:rPr>
              <a:t>O Que eu Aprendi Neste Módulo?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4065" y="687724"/>
            <a:ext cx="9066610" cy="4155319"/>
          </a:xfrm>
        </p:spPr>
        <p:txBody>
          <a:bodyPr/>
          <a:lstStyle/>
          <a:p>
            <a:pPr rtl="0">
              <a:spcBef>
                <a:spcPts val="0"/>
              </a:spcBef>
              <a:spcAft>
                <a:spcPts val="0"/>
              </a:spcAft>
              <a:buFont typeface="Arial" panose="020B0604020202020204" pitchFamily="34" charset="0"/>
              <a:buChar char="•"/>
            </a:pPr>
            <a:r>
              <a:rPr lang="pt-BR" sz="1450"/>
              <a:t>Os comandos show comuns são </a:t>
            </a:r>
            <a:r>
              <a:rPr lang="pt-BR" sz="1450" b="1"/>
              <a:t>show running-config</a:t>
            </a:r>
            <a:r>
              <a:rPr lang="pt-BR" sz="1450"/>
              <a:t>, </a:t>
            </a:r>
            <a:r>
              <a:rPr lang="pt-BR" sz="1450" b="1"/>
              <a:t>show interfaces</a:t>
            </a:r>
            <a:r>
              <a:rPr lang="pt-BR" sz="1450"/>
              <a:t>, </a:t>
            </a:r>
            <a:r>
              <a:rPr lang="pt-BR" sz="1450" b="1"/>
              <a:t>show ip address</a:t>
            </a:r>
            <a:r>
              <a:rPr lang="pt-BR" sz="1450"/>
              <a:t>, </a:t>
            </a:r>
            <a:r>
              <a:rPr lang="pt-BR" sz="1450" b="1"/>
              <a:t>show arp</a:t>
            </a:r>
            <a:r>
              <a:rPr lang="pt-BR" sz="1450"/>
              <a:t>, </a:t>
            </a:r>
            <a:r>
              <a:rPr lang="pt-BR" sz="1450" b="1"/>
              <a:t>show ip route</a:t>
            </a:r>
            <a:r>
              <a:rPr lang="pt-BR" sz="1450"/>
              <a:t>, </a:t>
            </a:r>
            <a:r>
              <a:rPr lang="pt-BR" sz="1450" b="1"/>
              <a:t>show protocols</a:t>
            </a:r>
            <a:r>
              <a:rPr lang="pt-BR" sz="1450"/>
              <a:t>e </a:t>
            </a:r>
            <a:r>
              <a:rPr lang="pt-BR" sz="1450" b="1"/>
              <a:t>show version</a:t>
            </a:r>
            <a:r>
              <a:rPr lang="pt-BR" sz="1450"/>
              <a:t>. O comando </a:t>
            </a:r>
            <a:r>
              <a:rPr lang="pt-BR" sz="1450" b="1"/>
              <a:t>show cdp neighbor</a:t>
            </a:r>
            <a:r>
              <a:rPr lang="pt-BR" sz="1450"/>
              <a:t> fornece as seguintes informações sobre cada dispositivo vizinho do CDP: identificadores, lista de endereços, identificador de porta, lista de recursos e plataforma. </a:t>
            </a:r>
          </a:p>
          <a:p>
            <a:pPr rtl="0">
              <a:spcBef>
                <a:spcPts val="0"/>
              </a:spcBef>
              <a:spcAft>
                <a:spcPts val="0"/>
              </a:spcAft>
              <a:buFont typeface="Arial" panose="020B0604020202020204" pitchFamily="34" charset="0"/>
              <a:buChar char="•"/>
            </a:pPr>
            <a:r>
              <a:rPr lang="pt-BR" sz="1450"/>
              <a:t>O comando </a:t>
            </a:r>
            <a:r>
              <a:rPr lang="pt-BR" sz="1450" b="1"/>
              <a:t>show cdp neighbors detail </a:t>
            </a:r>
            <a:r>
              <a:rPr lang="pt-BR" sz="1450"/>
              <a:t>ajudará a determinar se um dos vizinhos CDP apresenta um erro de configuração IP. </a:t>
            </a:r>
          </a:p>
          <a:p>
            <a:pPr rtl="0">
              <a:spcBef>
                <a:spcPts val="0"/>
              </a:spcBef>
              <a:spcAft>
                <a:spcPts val="0"/>
              </a:spcAft>
              <a:buFont typeface="Arial" panose="020B0604020202020204" pitchFamily="34" charset="0"/>
              <a:buChar char="•"/>
            </a:pPr>
            <a:r>
              <a:rPr lang="pt-BR" sz="1450"/>
              <a:t>A saída de </a:t>
            </a:r>
            <a:r>
              <a:rPr lang="pt-BR" sz="1450" b="1"/>
              <a:t>show ip interface brief</a:t>
            </a:r>
            <a:r>
              <a:rPr lang="pt-BR" sz="1450"/>
              <a:t> exibe todas as interfaces no roteador, o endereço IP atribuído a cada interface, se houver, e o status operacional da interface.</a:t>
            </a:r>
          </a:p>
          <a:p>
            <a:pPr rtl="0">
              <a:spcBef>
                <a:spcPts val="0"/>
              </a:spcBef>
              <a:spcAft>
                <a:spcPts val="0"/>
              </a:spcAft>
              <a:buFont typeface="Arial" panose="020B0604020202020204" pitchFamily="34" charset="0"/>
              <a:buChar char="•"/>
            </a:pPr>
            <a:r>
              <a:rPr lang="pt-BR" sz="1450"/>
              <a:t>As seis etapas básicas para a solução de problemas da Etapa 1. Identificar o problema 2. Estabeleça uma teoria das causas prováveis. Etapa 3. Teste da teoria para determinar a causa. Etapa 4. Estabeleça um plano de ação e implemente a solução. Etapa 5. Verificar a solução e implementar medidas preventivas. Etapa 6. Documentar as descobertas, as ações e os resultados.</a:t>
            </a:r>
          </a:p>
          <a:p>
            <a:pPr rtl="0">
              <a:spcBef>
                <a:spcPts val="0"/>
              </a:spcBef>
              <a:spcAft>
                <a:spcPts val="0"/>
              </a:spcAft>
              <a:buFont typeface="Arial" panose="020B0604020202020204" pitchFamily="34" charset="0"/>
              <a:buChar char="•"/>
            </a:pPr>
            <a:r>
              <a:rPr lang="pt-BR" sz="1450"/>
              <a:t>Um problema deve ser escalado quando requerer a decisão de um gerente, algum conhecimento específico ou nível de acesso à rede indisponível para o técnico de solução de problemas. </a:t>
            </a:r>
          </a:p>
          <a:p>
            <a:pPr rtl="0">
              <a:spcBef>
                <a:spcPts val="0"/>
              </a:spcBef>
              <a:spcAft>
                <a:spcPts val="0"/>
              </a:spcAft>
              <a:buFont typeface="Arial" panose="020B0604020202020204" pitchFamily="34" charset="0"/>
              <a:buChar char="•"/>
            </a:pPr>
            <a:r>
              <a:rPr lang="pt-BR" sz="1450"/>
              <a:t>Os processos, protocolos, mecanismos e eventos do IOS geram mensagens para comunicar seus status. O comando de debug do IOS permite que o administrador exiba essas mensagens em tempo real para análise. </a:t>
            </a:r>
          </a:p>
          <a:p>
            <a:pPr rtl="0">
              <a:spcBef>
                <a:spcPts val="0"/>
              </a:spcBef>
              <a:spcAft>
                <a:spcPts val="0"/>
              </a:spcAft>
              <a:buFont typeface="Arial" panose="020B0604020202020204" pitchFamily="34" charset="0"/>
              <a:buChar char="•"/>
            </a:pPr>
            <a:r>
              <a:rPr lang="pt-BR" sz="1450"/>
              <a:t>Para direcionar a exibição das mensagens de registro do sistema em um terminal (console virtual), use o comando terminal monitor no modo EXEC privilegiado.</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65653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400">
                <a:latin typeface="Arial" charset="0"/>
              </a:rPr>
              <a:t>Módulo 17: Desenvolvendo uma Pequena Rede</a:t>
            </a:r>
            <a:br>
              <a:rPr lang="en-US" dirty="0">
                <a:latin typeface="Arial" charset="0"/>
              </a:rPr>
            </a:br>
            <a:r>
              <a:rPr lang="pt-BR">
                <a:latin typeface="Arial" charset="0"/>
              </a:rPr>
              <a:t>Novos Termos e Comandos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427935" cy="4155319"/>
          </a:xfrm>
        </p:spPr>
        <p:txBody>
          <a:bodyPr/>
          <a:lstStyle/>
          <a:p>
            <a:pPr rtl="0">
              <a:buFont typeface="Arial" panose="020B0604020202020204" pitchFamily="34" charset="0"/>
              <a:buChar char="•"/>
            </a:pPr>
            <a:r>
              <a:rPr lang="pt-BR" sz="1400"/>
              <a:t>Aplicações de rede</a:t>
            </a:r>
          </a:p>
          <a:p>
            <a:pPr rtl="0">
              <a:buFont typeface="Arial" panose="020B0604020202020204" pitchFamily="34" charset="0"/>
              <a:buChar char="•"/>
            </a:pPr>
            <a:r>
              <a:rPr lang="pt-BR" sz="1400"/>
              <a:t>serviços da camada de aplicação</a:t>
            </a:r>
          </a:p>
          <a:p>
            <a:pPr rtl="0">
              <a:buFont typeface="Arial" panose="020B0604020202020204" pitchFamily="34" charset="0"/>
              <a:buChar char="•"/>
            </a:pPr>
            <a:r>
              <a:rPr lang="pt-BR" sz="1400"/>
              <a:t>Ping Estendido</a:t>
            </a:r>
          </a:p>
          <a:p>
            <a:pPr rtl="0">
              <a:buFont typeface="Arial" panose="020B0604020202020204" pitchFamily="34" charset="0"/>
              <a:buChar char="•"/>
            </a:pPr>
            <a:r>
              <a:rPr lang="pt-BR" sz="1400"/>
              <a:t>Traceroute estendido</a:t>
            </a:r>
          </a:p>
          <a:p>
            <a:pPr rtl="0">
              <a:buFont typeface="Arial" panose="020B0604020202020204" pitchFamily="34" charset="0"/>
              <a:buChar char="•"/>
            </a:pPr>
            <a:r>
              <a:rPr lang="pt-BR" sz="1400"/>
              <a:t>linha de base de rede</a:t>
            </a:r>
          </a:p>
          <a:p>
            <a:pPr rtl="0">
              <a:buFont typeface="Arial" panose="020B0604020202020204" pitchFamily="34" charset="0"/>
              <a:buChar char="•"/>
            </a:pPr>
            <a:r>
              <a:rPr lang="pt-BR" sz="1400" b="1"/>
              <a:t>ifconfig</a:t>
            </a:r>
          </a:p>
          <a:p>
            <a:pPr rtl="0">
              <a:buFont typeface="Arial" panose="020B0604020202020204" pitchFamily="34" charset="0"/>
              <a:buChar char="•"/>
            </a:pPr>
            <a:r>
              <a:rPr lang="pt-BR" sz="1400" b="1"/>
              <a:t>netsh interface ip delete arpcache</a:t>
            </a:r>
          </a:p>
          <a:p>
            <a:pPr rtl="0">
              <a:buFont typeface="Arial" panose="020B0604020202020204" pitchFamily="34" charset="0"/>
              <a:buChar char="•"/>
            </a:pPr>
            <a:r>
              <a:rPr lang="pt-BR" sz="1400"/>
              <a:t>método científico</a:t>
            </a:r>
          </a:p>
          <a:p>
            <a:pPr rtl="0">
              <a:buFont typeface="Arial" panose="020B0604020202020204" pitchFamily="34" charset="0"/>
              <a:buChar char="•"/>
            </a:pPr>
            <a:r>
              <a:rPr lang="pt-BR" sz="1400" b="1"/>
              <a:t>depurar</a:t>
            </a:r>
          </a:p>
          <a:p>
            <a:pPr rtl="0">
              <a:buFont typeface="Arial" panose="020B0604020202020204" pitchFamily="34" charset="0"/>
              <a:buChar char="•"/>
            </a:pPr>
            <a:r>
              <a:rPr lang="pt-BR" sz="1400" b="1"/>
              <a:t>terminal monitor</a:t>
            </a:r>
          </a:p>
          <a:p>
            <a:endParaRPr lang="en-US" sz="1400" dirty="0"/>
          </a:p>
          <a:p>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8933</TotalTime>
  <Words>7387</Words>
  <Application>Microsoft Office PowerPoint</Application>
  <PresentationFormat>Apresentação na tela (16:9)</PresentationFormat>
  <Paragraphs>589</Paragraphs>
  <Slides>61</Slides>
  <Notes>61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61</vt:i4>
      </vt:variant>
    </vt:vector>
  </HeadingPairs>
  <TitlesOfParts>
    <vt:vector size="69" baseType="lpstr">
      <vt:lpstr>ＭＳ Ｐゴシック</vt:lpstr>
      <vt:lpstr>Arial</vt:lpstr>
      <vt:lpstr>Calibri</vt:lpstr>
      <vt:lpstr>CiscoSans</vt:lpstr>
      <vt:lpstr>CiscoSans ExtraLight</vt:lpstr>
      <vt:lpstr>CiscoSans Thin</vt:lpstr>
      <vt:lpstr>Wingdings</vt:lpstr>
      <vt:lpstr>Default Theme</vt:lpstr>
      <vt:lpstr>Módulo 17: Construa uma Rede Pequena</vt:lpstr>
      <vt:lpstr>Módulo 17: Construa uma rede pequena</vt:lpstr>
      <vt:lpstr>Objetivos do módulo</vt:lpstr>
      <vt:lpstr>17.1 – Dispositivos em uma Rede Pequena</vt:lpstr>
      <vt:lpstr> Dispositivos em uma Rede Pequena Topologias de uma Rede Pequena</vt:lpstr>
      <vt:lpstr>Dispositivos em uma Rede Pequena  Seleção de Dispositivo de uma Rede Pequena</vt:lpstr>
      <vt:lpstr>Dispositivos em uma Rede Pequena  Endereçamento de uma Rede Pequena</vt:lpstr>
      <vt:lpstr>Dispositivos em uma Rede Pequena  Redundância de uma Rede Pequena</vt:lpstr>
      <vt:lpstr>Dispositivos em uma Rede Pequena  Gerenciamento de Tráfego</vt:lpstr>
      <vt:lpstr>17.2 – Aplicações e Protocolos de Redes Pequenas</vt:lpstr>
      <vt:lpstr>Aplicações e Protocolos de Rede Pequena  Aplicações Comuns</vt:lpstr>
      <vt:lpstr>Protocolos e Aplicativos de Rede Pequenas  Protocolos Comuns</vt:lpstr>
      <vt:lpstr>Protocolos e Aplicativos de Rede Pequenos  Protocolos Comuns (Cont.) </vt:lpstr>
      <vt:lpstr>Aplicações e Protocolos de Rede de Pequena  Aplicações de Voz e Vídeo</vt:lpstr>
      <vt:lpstr>17.3 – Escalar para Redes Maiores</vt:lpstr>
      <vt:lpstr>Escalar para Redes Maiores  Crescimento de Redes Pequenas</vt:lpstr>
      <vt:lpstr>Escalar para Redes Maiores  Análise de Protocolo</vt:lpstr>
      <vt:lpstr>Escalar para Redes Maiores  Utilização da Rede pelos Funcionários</vt:lpstr>
      <vt:lpstr>17.4 - Verificar a Conectividade.</vt:lpstr>
      <vt:lpstr>Verificar Conectividade Verificar Conectividade com Ping</vt:lpstr>
      <vt:lpstr>Verificar Conectividade Verificar Conectividade com Ping (Cont.) </vt:lpstr>
      <vt:lpstr>Verificação de Conectividade Ping Estendido</vt:lpstr>
      <vt:lpstr>Verificar Conectividade Verificar Conectividade com Traceroute</vt:lpstr>
      <vt:lpstr>Verificar Conectividade Verificar Conectividade com Traceroute (Cont.) </vt:lpstr>
      <vt:lpstr>Verificar Conectividade Verificar Conectividade com Ping (Cont.) </vt:lpstr>
      <vt:lpstr>Verificar a Conectividade Traceroute Estendido</vt:lpstr>
      <vt:lpstr>Verificar aConectividade Traceroute Estendido (Cont.) </vt:lpstr>
      <vt:lpstr>Verificação de Conectividade Linha de Base de Rede</vt:lpstr>
      <vt:lpstr>Verificando a Conectividade -  Laboratório - Teste de Latência da Rede com Ping e Traceroute</vt:lpstr>
      <vt:lpstr>17.5 - Host e Comandos IOS</vt:lpstr>
      <vt:lpstr>Comandos de Host e IOS  Configuração de IP em um Host do Windows</vt:lpstr>
      <vt:lpstr>Comandos de Host e IOS Configuração IP em um Host Linux</vt:lpstr>
      <vt:lpstr>Comandos de Host e IOS Configuração IP em um Host de MacOS</vt:lpstr>
      <vt:lpstr>Comandos de host e IOS O Comando arp.</vt:lpstr>
      <vt:lpstr>Comandos de host e IOS Comandos Comuns Revisitados: show </vt:lpstr>
      <vt:lpstr>Comandos de Host e IOS O Comando show cdp neighbors</vt:lpstr>
      <vt:lpstr>Comandos de Host e IOS O Comando show ip interface brief</vt:lpstr>
      <vt:lpstr>Comandos de Host e iOS Vídeo – O Comando show version </vt:lpstr>
      <vt:lpstr>Comandos de Host e IOS Packet Tracer – Interpretar a Saída do Comando show </vt:lpstr>
      <vt:lpstr>17.6 – Metodologias de Solução de Problemas</vt:lpstr>
      <vt:lpstr>Metodologias de Solução de Problemas Abordagens Básicas de Solução de Problemas</vt:lpstr>
      <vt:lpstr>Metodologias de Solução de Problemas Resolver ou Escalonar?</vt:lpstr>
      <vt:lpstr>Metodologias de Solução de Problemas O Comando debug</vt:lpstr>
      <vt:lpstr>Metodologias de Solução de Problemas O Comando terminal monitor</vt:lpstr>
      <vt:lpstr>17.7 – Cenários de Solução de Problemas</vt:lpstr>
      <vt:lpstr>Cenários de Solução de Problemas Operação Duplex e Problemas de Incompatibilidade</vt:lpstr>
      <vt:lpstr>Cenários de Solução de Problemas Problemas de Endereçamento IP em Dispositivos IOS</vt:lpstr>
      <vt:lpstr>Cenários de Solução de Problemas Problemas de Endereçamento IP em Dispositivos Finais</vt:lpstr>
      <vt:lpstr>Cenários de Solução de Problemas Problemas de Gateway Padrão</vt:lpstr>
      <vt:lpstr>Cenários de Solução de Problemas Resolução de Problemas de DNS.</vt:lpstr>
      <vt:lpstr>Cenários de Solução de Problemas Packet Tracer – Solucione Problemas de Conectividade</vt:lpstr>
      <vt:lpstr>Cenários de Solução de Problemas Packet Tracer – Solucione Problemas de Conectividade– Modo Físico Laboratório - Solucione Problemas de Conectividade </vt:lpstr>
      <vt:lpstr>17.8 - Módulo Prática e Quiz</vt:lpstr>
      <vt:lpstr>Cenários de Solução de Problemas Packet Tracer – Projeto e Desenvolvimento de uma Pequena Rede de Negócios – Modo Físico Laboratório – Projeto e Desenvolvimento de uma Pequena Rede de Negócios</vt:lpstr>
      <vt:lpstr>Solucionando problemas de cenários  Packet Tracer - Desafio de integração de habilidades</vt:lpstr>
      <vt:lpstr>Cenários de Solução de Problemas Packet Tracer – Desafio de Solução de Problemas</vt:lpstr>
      <vt:lpstr>Módulo Prático e Quiz O Que eu Aprendi Neste Módulo?</vt:lpstr>
      <vt:lpstr>Módulo Prático e Quiz O Que eu Aprendi Neste Módulo (Cont.)?</vt:lpstr>
      <vt:lpstr>Módulo Prático e Quiz O Que eu Aprendi Neste Módulo? (Cont.)?</vt:lpstr>
      <vt:lpstr>Módulo 17: Desenvolvendo uma Pequena Rede Novos Termos e Comandos</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ISMAEL MOURA PAREDE</cp:lastModifiedBy>
  <cp:revision>317</cp:revision>
  <dcterms:created xsi:type="dcterms:W3CDTF">2019-10-18T06:21:22Z</dcterms:created>
  <dcterms:modified xsi:type="dcterms:W3CDTF">2025-10-17T15:06:00Z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